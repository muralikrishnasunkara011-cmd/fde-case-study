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14f4bab33e463d" /><Relationship Type="http://schemas.openxmlformats.org/officeDocument/2006/relationships/extended-properties" Target="/docProps/app.xml" Id="R4e90adb852c4409b" /><Relationship Type="http://schemas.openxmlformats.org/officeDocument/2006/relationships/officeDocument" Target="/ppt/presentation.xml" Id="R309511414b284bac" /></Relationships>
</file>

<file path=ppt/presentation.xml><?xml version="1.0" encoding="utf-8"?>
<p:presentation xmlns:p="http://schemas.openxmlformats.org/presentationml/2006/main">
  <p:sldMasterIdLst>
    <p:sldMasterId xmlns:r="http://schemas.openxmlformats.org/officeDocument/2006/relationships" id="2147483648" r:id="Re6b3b8e6bea34543"/>
  </p:sldMasterIdLst>
  <p:notesMasterIdLst>
    <p:notesMasterId xmlns:r="http://schemas.openxmlformats.org/officeDocument/2006/relationships" r:id="R28fb08ec48f84508"/>
  </p:notesMasterIdLst>
  <p:sldIdLst>
    <p:sldId xmlns:r="http://schemas.openxmlformats.org/officeDocument/2006/relationships" id="256" r:id="R174037e66e914a7b"/>
    <p:sldId xmlns:r="http://schemas.openxmlformats.org/officeDocument/2006/relationships" id="257" r:id="Raa9c9a65e3ec4fde"/>
    <p:sldId xmlns:r="http://schemas.openxmlformats.org/officeDocument/2006/relationships" id="258" r:id="Rc423258d06cf41e1"/>
    <p:sldId xmlns:r="http://schemas.openxmlformats.org/officeDocument/2006/relationships" id="259" r:id="Rc9bae26c8a2a40fe"/>
    <p:sldId xmlns:r="http://schemas.openxmlformats.org/officeDocument/2006/relationships" id="260" r:id="R4485db5bbbcf4ad3"/>
    <p:sldId xmlns:r="http://schemas.openxmlformats.org/officeDocument/2006/relationships" id="261" r:id="R21985064eecf4071"/>
    <p:sldId xmlns:r="http://schemas.openxmlformats.org/officeDocument/2006/relationships" id="262" r:id="Rd4a3323440804c79"/>
    <p:sldId xmlns:r="http://schemas.openxmlformats.org/officeDocument/2006/relationships" id="263" r:id="Rc200ce7c0d7a4719"/>
    <p:sldId xmlns:r="http://schemas.openxmlformats.org/officeDocument/2006/relationships" id="264" r:id="Rafde77d57e6e48ac"/>
    <p:sldId xmlns:r="http://schemas.openxmlformats.org/officeDocument/2006/relationships" id="265" r:id="Rd2ff52b043f346f9"/>
    <p:sldId xmlns:r="http://schemas.openxmlformats.org/officeDocument/2006/relationships" id="266" r:id="R7543ce536d9a42c4"/>
    <p:sldId xmlns:r="http://schemas.openxmlformats.org/officeDocument/2006/relationships" id="267" r:id="R1848a2bf18534f7f"/>
    <p:sldId xmlns:r="http://schemas.openxmlformats.org/officeDocument/2006/relationships" id="268" r:id="Ra884e4a89e1c4411"/>
    <p:sldId xmlns:r="http://schemas.openxmlformats.org/officeDocument/2006/relationships" id="269" r:id="Re3227266b94540c5"/>
    <p:sldId xmlns:r="http://schemas.openxmlformats.org/officeDocument/2006/relationships" id="270" r:id="R333900bbd06e44c4"/>
    <p:sldId xmlns:r="http://schemas.openxmlformats.org/officeDocument/2006/relationships" id="271" r:id="R0fc8d09f5e9a41ee"/>
    <p:sldId xmlns:r="http://schemas.openxmlformats.org/officeDocument/2006/relationships" id="272" r:id="Rf456ac27705a42b4"/>
    <p:sldId xmlns:r="http://schemas.openxmlformats.org/officeDocument/2006/relationships" id="273" r:id="R209a0ac0c2414cc3"/>
    <p:sldId xmlns:r="http://schemas.openxmlformats.org/officeDocument/2006/relationships" id="274" r:id="Re07e4806ff7f4d13"/>
    <p:sldId xmlns:r="http://schemas.openxmlformats.org/officeDocument/2006/relationships" id="275" r:id="Rbb14168f3cf54136"/>
    <p:sldId xmlns:r="http://schemas.openxmlformats.org/officeDocument/2006/relationships" id="276" r:id="R556c590061e04172"/>
    <p:sldId xmlns:r="http://schemas.openxmlformats.org/officeDocument/2006/relationships" id="277" r:id="R4ceacc322a7e47ed"/>
    <p:sldId xmlns:r="http://schemas.openxmlformats.org/officeDocument/2006/relationships" id="278" r:id="R4129cbde3e8d4a6d"/>
    <p:sldId xmlns:r="http://schemas.openxmlformats.org/officeDocument/2006/relationships" id="279" r:id="Rad722e319c0542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5f65b7f4234ee2" /><Relationship Type="http://schemas.openxmlformats.org/officeDocument/2006/relationships/slideMaster" Target="/ppt/slideMasters/slideMaster1.xml" Id="Re6b3b8e6bea34543" /><Relationship Type="http://schemas.openxmlformats.org/officeDocument/2006/relationships/notesMaster" Target="/ppt/notesMasters/notesMaster1.xml" Id="R28fb08ec48f84508" /><Relationship Type="http://schemas.openxmlformats.org/officeDocument/2006/relationships/presProps" Target="/ppt/presProps.xml" Id="Rdd54dc0f9e6e4110" /><Relationship Type="http://schemas.openxmlformats.org/officeDocument/2006/relationships/tableStyles" Target="/ppt/tableStyles.xml" Id="Rd016d035984c4b6c" /><Relationship Type="http://schemas.openxmlformats.org/officeDocument/2006/relationships/slide" Target="/ppt/slides/slide1.xml" Id="R174037e66e914a7b" /><Relationship Type="http://schemas.openxmlformats.org/officeDocument/2006/relationships/slide" Target="/ppt/slides/slide2.xml" Id="Raa9c9a65e3ec4fde" /><Relationship Type="http://schemas.openxmlformats.org/officeDocument/2006/relationships/slide" Target="/ppt/slides/slide3.xml" Id="Rc423258d06cf41e1" /><Relationship Type="http://schemas.openxmlformats.org/officeDocument/2006/relationships/slide" Target="/ppt/slides/slide4.xml" Id="Rc9bae26c8a2a40fe" /><Relationship Type="http://schemas.openxmlformats.org/officeDocument/2006/relationships/slide" Target="/ppt/slides/slide5.xml" Id="R4485db5bbbcf4ad3" /><Relationship Type="http://schemas.openxmlformats.org/officeDocument/2006/relationships/slide" Target="/ppt/slides/slide6.xml" Id="R21985064eecf4071" /><Relationship Type="http://schemas.openxmlformats.org/officeDocument/2006/relationships/slide" Target="/ppt/slides/slide7.xml" Id="Rd4a3323440804c79" /><Relationship Type="http://schemas.openxmlformats.org/officeDocument/2006/relationships/slide" Target="/ppt/slides/slide8.xml" Id="Rc200ce7c0d7a4719" /><Relationship Type="http://schemas.openxmlformats.org/officeDocument/2006/relationships/slide" Target="/ppt/slides/slide9.xml" Id="Rafde77d57e6e48ac" /><Relationship Type="http://schemas.openxmlformats.org/officeDocument/2006/relationships/slide" Target="/ppt/slides/slide10.xml" Id="Rd2ff52b043f346f9" /><Relationship Type="http://schemas.openxmlformats.org/officeDocument/2006/relationships/slide" Target="/ppt/slides/slide11.xml" Id="R7543ce536d9a42c4" /><Relationship Type="http://schemas.openxmlformats.org/officeDocument/2006/relationships/slide" Target="/ppt/slides/slide12.xml" Id="R1848a2bf18534f7f" /><Relationship Type="http://schemas.openxmlformats.org/officeDocument/2006/relationships/slide" Target="/ppt/slides/slide13.xml" Id="Ra884e4a89e1c4411" /><Relationship Type="http://schemas.openxmlformats.org/officeDocument/2006/relationships/slide" Target="/ppt/slides/slide14.xml" Id="Re3227266b94540c5" /><Relationship Type="http://schemas.openxmlformats.org/officeDocument/2006/relationships/slide" Target="/ppt/slides/slide15.xml" Id="R333900bbd06e44c4" /><Relationship Type="http://schemas.openxmlformats.org/officeDocument/2006/relationships/slide" Target="/ppt/slides/slide16.xml" Id="R0fc8d09f5e9a41ee" /><Relationship Type="http://schemas.openxmlformats.org/officeDocument/2006/relationships/slide" Target="/ppt/slides/slide17.xml" Id="Rf456ac27705a42b4" /><Relationship Type="http://schemas.openxmlformats.org/officeDocument/2006/relationships/slide" Target="/ppt/slides/slide18.xml" Id="R209a0ac0c2414cc3" /><Relationship Type="http://schemas.openxmlformats.org/officeDocument/2006/relationships/slide" Target="/ppt/slides/slide19.xml" Id="Re07e4806ff7f4d13" /><Relationship Type="http://schemas.openxmlformats.org/officeDocument/2006/relationships/slide" Target="/ppt/slides/slide20.xml" Id="Rbb14168f3cf54136" /><Relationship Type="http://schemas.openxmlformats.org/officeDocument/2006/relationships/slide" Target="/ppt/slides/slide21.xml" Id="R556c590061e04172" /><Relationship Type="http://schemas.openxmlformats.org/officeDocument/2006/relationships/slide" Target="/ppt/slides/slide22.xml" Id="R4ceacc322a7e47ed" /><Relationship Type="http://schemas.openxmlformats.org/officeDocument/2006/relationships/slide" Target="/ppt/slides/slide23.xml" Id="R4129cbde3e8d4a6d" /><Relationship Type="http://schemas.openxmlformats.org/officeDocument/2006/relationships/slide" Target="/ppt/slides/slide24.xml" Id="Rad722e319c0542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07ea93eca648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5c204c3013484a" /><Relationship Type="http://schemas.openxmlformats.org/officeDocument/2006/relationships/notesMaster" Target="/ppt/notesMasters/notesMaster1.xml" Id="R515fac22da9143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9accb523db458c" /><Relationship Type="http://schemas.openxmlformats.org/officeDocument/2006/relationships/notesMaster" Target="/ppt/notesMasters/notesMaster1.xml" Id="R6509246d08e847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0bf9afa82d4da0" /><Relationship Type="http://schemas.openxmlformats.org/officeDocument/2006/relationships/notesMaster" Target="/ppt/notesMasters/notesMaster1.xml" Id="Re41a167c543841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41f4b93124222" /><Relationship Type="http://schemas.openxmlformats.org/officeDocument/2006/relationships/notesMaster" Target="/ppt/notesMasters/notesMaster1.xml" Id="R35b1d6702fe840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63d2d877914901" /><Relationship Type="http://schemas.openxmlformats.org/officeDocument/2006/relationships/notesMaster" Target="/ppt/notesMasters/notesMaster1.xml" Id="R99870e7d51bd46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2cfccb4d1d493c" /><Relationship Type="http://schemas.openxmlformats.org/officeDocument/2006/relationships/notesMaster" Target="/ppt/notesMasters/notesMaster1.xml" Id="R52701c5541ad4c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6f5d6d47ad4d7d" /><Relationship Type="http://schemas.openxmlformats.org/officeDocument/2006/relationships/notesMaster" Target="/ppt/notesMasters/notesMaster1.xml" Id="R66f367bd03044b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7ee8d3a8744fea" /><Relationship Type="http://schemas.openxmlformats.org/officeDocument/2006/relationships/notesMaster" Target="/ppt/notesMasters/notesMaster1.xml" Id="R5f439b8046b341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53a97fbec94cd4" /><Relationship Type="http://schemas.openxmlformats.org/officeDocument/2006/relationships/notesMaster" Target="/ppt/notesMasters/notesMaster1.xml" Id="R6828f814a4b646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9fb0bf39cc494a" /><Relationship Type="http://schemas.openxmlformats.org/officeDocument/2006/relationships/notesMaster" Target="/ppt/notesMasters/notesMaster1.xml" Id="R84020b7e4ead4b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6b6180286e499e" /><Relationship Type="http://schemas.openxmlformats.org/officeDocument/2006/relationships/notesMaster" Target="/ppt/notesMasters/notesMaster1.xml" Id="Rfeb387422ee343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32c498de5c4802" /><Relationship Type="http://schemas.openxmlformats.org/officeDocument/2006/relationships/notesMaster" Target="/ppt/notesMasters/notesMaster1.xml" Id="Rffb9de5177c040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dc03750e694b87" /><Relationship Type="http://schemas.openxmlformats.org/officeDocument/2006/relationships/notesMaster" Target="/ppt/notesMasters/notesMaster1.xml" Id="Rd22fa2e6b14247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f8e01b5256487a" /><Relationship Type="http://schemas.openxmlformats.org/officeDocument/2006/relationships/notesMaster" Target="/ppt/notesMasters/notesMaster1.xml" Id="R3fec7437221549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1072393e00411a" /><Relationship Type="http://schemas.openxmlformats.org/officeDocument/2006/relationships/notesMaster" Target="/ppt/notesMasters/notesMaster1.xml" Id="Rdad8018ca97b48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71ed10b8d34e4e" /><Relationship Type="http://schemas.openxmlformats.org/officeDocument/2006/relationships/notesMaster" Target="/ppt/notesMasters/notesMaster1.xml" Id="R00826c50a62042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287bce1a65448d" /><Relationship Type="http://schemas.openxmlformats.org/officeDocument/2006/relationships/notesMaster" Target="/ppt/notesMasters/notesMaster1.xml" Id="Rf3595251b0074e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86d175887b4aa3" /><Relationship Type="http://schemas.openxmlformats.org/officeDocument/2006/relationships/notesMaster" Target="/ppt/notesMasters/notesMaster1.xml" Id="Re3dc3763e2c544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8a78211ec94316" /><Relationship Type="http://schemas.openxmlformats.org/officeDocument/2006/relationships/notesMaster" Target="/ppt/notesMasters/notesMaster1.xml" Id="R2f5c4040c3564e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4ebfd770fe4640" /><Relationship Type="http://schemas.openxmlformats.org/officeDocument/2006/relationships/notesMaster" Target="/ppt/notesMasters/notesMaster1.xml" Id="R50cb62e2937540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fead8907b648fe" /><Relationship Type="http://schemas.openxmlformats.org/officeDocument/2006/relationships/notesMaster" Target="/ppt/notesMasters/notesMaster1.xml" Id="R11a592b2eb4b45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126b4f847c4d49" /><Relationship Type="http://schemas.openxmlformats.org/officeDocument/2006/relationships/notesMaster" Target="/ppt/notesMasters/notesMaster1.xml" Id="R73554f913f8d43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be9013a631493a" /><Relationship Type="http://schemas.openxmlformats.org/officeDocument/2006/relationships/notesMaster" Target="/ppt/notesMasters/notesMaster1.xml" Id="R59dc2460c04143a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40401d109e4ed9" /><Relationship Type="http://schemas.openxmlformats.org/officeDocument/2006/relationships/notesMaster" Target="/ppt/notesMasters/notesMaster1.xml" Id="R155f1820fe3b43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customer outcome: a producer remembers meaning, but needs an attributable passage in a particular recording. This is a local assessment proof of concept and a proposed route to production. Use approximately 35–40 minutes for slides 1–20, including six minutes for the demo. Slides 21–24 are technical backup.</a:t>
            </a:r>
          </a:p>
          <a:p xmlns:a="http://schemas.openxmlformats.org/drawingml/2006/main">
            <a:r>
              <a:t/>
            </a:r>
          </a:p>
          <a:p xmlns:a="http://schemas.openxmlformats.org/drawingml/2006/main">
            <a:r>
              <a:t>Customer solution proposal  |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controlled pilot, not archive-wide rollout. The vertical slice proves that semantic search can recover a paraphrase and preserve source identity. Fixture results justify testing, not claims about historic audio quality or production performance. Ask for a representative rights-cleared corpus, named owners and agreed acceptance criteria.</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producer request. The retreat clue is uncertain and should influence relevance rather than become a mandatory filter. The customer needs evidence, the right recording version and a permitted next action. Historical identification alone does not establish playback timing.</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century of material means uneven language, quality and catalogue practices. Physical custody remains authoritative. Transcript access can be sensitive even when no download exists. Managed services reduce infrastructure work but do not remove operational ownership.</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synthetic fixture intervals. The full quote begins at 120 seconds in the full version and 18 seconds in the edited version. These are not authentic historic recording clocks. The exact phrase interval is shorter than the contextual source window. A later reading remains a distinct recording.</a:t>
            </a:r>
          </a:p>
          <a:p xmlns:a="http://schemas.openxmlformats.org/drawingml/2006/main">
            <a:r>
              <a:t/>
            </a:r>
          </a:p>
          <a:p xmlns:a="http://schemas.openxmlformats.org/drawingml/2006/main">
            <a:r>
              <a:t>Source: captured Churchill queries; synthetic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cloud services here are proposed. Approved digital copies enter S3 and SQS. Step Functions orchestrates preparation, ASR, segmentation, embeddings and publication. The online path resolves current entitlements, searches permitted candidates and rechecks the response action. Atlas is proposed; the local implementation uses an on-disk snapshot. Physical custody stays with NHA.</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raw artifacts and processing revisions to support recovery. Transient processing errors retry within bounds; invalid metadata, rights or timing should quarantine. A staged index must be checked before activation. Locally this is validated snapshot replacement and an API restart, not cloud orchestration or hot reload.</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supports names and exact words. MiniLM embeddings recover paraphrases. Both branches filter rights before ranking. Reciprocal rank fusion combines ranked lists; overlapping evidence is grouped only within the same recording version. The local fixed producer is a policy fixture, not production identity.</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result from the captured vague query. The edited fixture returns a source_window from 18.000 to39.350 seconds. Media is offline and the next action is a simulation label only. Do not imply actual playback or that an archive request was submitted. The introduction and bridge also appear lower in the result set; precision still needs improvement.</a:t>
            </a:r>
          </a:p>
          <a:p xmlns:a="http://schemas.openxmlformats.org/drawingml/2006/main">
            <a:r>
              <a:t/>
            </a:r>
          </a:p>
          <a:p xmlns:a="http://schemas.openxmlformats.org/drawingml/2006/main">
            <a:r>
              <a:t>Source: submission/evaluation/demo-churchill.json · synthetic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positive development queries, not a holdout. Values are query-level hit rates in the top five. Both semantic and hybrid retrieve the relevant recording and passage for all ten. Semantic MRR is0.95; hybrid is0.90, so hybrid is not uniformly better. Show the customer the tradeoff and retain evaluation as the decision mechanism.</a:t>
            </a:r>
          </a:p>
          <a:p xmlns:a="http://schemas.openxmlformats.org/drawingml/2006/main">
            <a:r>
              <a:t/>
            </a:r>
          </a:p>
          <a:p xmlns:a="http://schemas.openxmlformats.org/drawingml/2006/main">
            <a:r>
              <a:t>Source: submission/evaluation/results.json · 10 positive development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Boundary metrics include every returned interval within a version that has a timing judgement. An extra English passage on a French query creates error. Six exact intervals have zero arithmetic error; synthetic clocks cannot establish acoustic accuracy. Warm latency is fourteen sequential in-process queries, not a ten-user deployment test. Proposed targets must be accepted by NHA.</a:t>
            </a:r>
          </a:p>
          <a:p xmlns:a="http://schemas.openxmlformats.org/drawingml/2006/main">
            <a:r>
              <a:t/>
            </a:r>
          </a:p>
          <a:p xmlns:a="http://schemas.openxmlformats.org/drawingml/2006/main">
            <a:r>
              <a:t>Sources: results.json; Evaluation_Results.md; pilot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Allocate six minutes. Use README commands and the captured outputs as fallback. One minute for vague search; one for exact phrase and full/edit version clocks; one for paraphrase with no lexical shared content words; one for producer versus archivist policy fixture; one for no-match and offline handling; one for measured limitations. Never imply the role fixture is real authentication.</a:t>
            </a:r>
          </a:p>
          <a:p xmlns:a="http://schemas.openxmlformats.org/drawingml/2006/main">
            <a:r>
              <a:t/>
            </a:r>
          </a:p>
          <a:p xmlns:a="http://schemas.openxmlformats.org/drawingml/2006/main">
            <a:r>
              <a:t>Source: README demo commands and captured query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uses a pretrained pinned MiniLM model and a local snapshot. Nine records become twelve segments. Forty-six tests passed, including clean-environment verification. No audio was transcribed and no cloud system deployed. Be precise about what runs.</a:t>
            </a:r>
          </a:p>
          <a:p xmlns:a="http://schemas.openxmlformats.org/drawingml/2006/main">
            <a:r>
              <a:t/>
            </a:r>
          </a:p>
          <a:p xmlns:a="http://schemas.openxmlformats.org/drawingml/2006/main">
            <a:r>
              <a:t>Source: repository modules, fixture inventory and test-output.txt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must not silently invent missing words or timestamps. Assess language and audio-quality cohorts separately. Silence gaps can split passages; incomplete words remain flagged. Entity enrichment is optional and must retain evidence references and review state.</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needs identity and current policy, prefilters in both branches, a final recheck and secure action URLs. Access to snippets matters as much as downloads. Logs must preserve auditability while avoiding unnecessary sensitive transcript capture. NHA-approved region and supplier terms remain discovery decisions.</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recommended choices, subject to customer constraints. Managed AWS processing fits small-team operation. Atlas is the proposed common text/vector store, contingent on approvals. Pretrained embeddings are a baseline, not proof of multilingual adequacy. Fine-tuning and RDF are conditional investments triggered by measured needs.</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Archive lead owns catalogue corrections and identifiers; rights owner approves policy; archive operations handles physical requests; application owner accepts relevance; platform owner runs queues, secrets and recovery. The local API requires restart after snapshot replacement. Production needs bounded retry, quarantine, monitoring and tested restore.</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fixed schedule is asserted. Discovery resolves rights, identifiers and intended user outcome. A proposed 100-recording, 50-hour pilot uses60 development and40 held-out records. Integration adds identity, search backend and delivery. Broader rollout requires cohort quality and operating acceptance.</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cost estimate requires volumes, region, retention and workload. Do not invent savings or cloud costs. Measure producer time-to-usable-excerpt and archive review effort. Distinguish one-time backfill from steady-state operating expense. Expansion depends on accepted user value and affordable quality.</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three concrete decisions. First, nominate a representative rights-cleared collection. Second, name archive, rights, application and platform owners. Third, agree measurable acceptance and stop conditions. The value promise is quicker discovery with attributable evidence and retained NHA control.</a:t>
            </a:r>
          </a:p>
          <a:p xmlns:a="http://schemas.openxmlformats.org/drawingml/2006/main">
            <a:r>
              <a:t/>
            </a:r>
          </a:p>
          <a:p xmlns:a="http://schemas.openxmlformats.org/drawingml/2006/main">
            <a:r>
              <a:t>Proposed next step · customer agreement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segment links event, asset, recording version, transcript revision and source words. Snapshot metadata captures source hash, encoder revision and index generation. A model change requires re-embedding into a separate vector space. These contracts allow the local implementation to migrate without losing evidence.</a:t>
            </a:r>
          </a:p>
          <a:p xmlns:a="http://schemas.openxmlformats.org/drawingml/2006/main">
            <a:r>
              <a:t/>
            </a:r>
          </a:p>
          <a:p xmlns:a="http://schemas.openxmlformats.org/drawingml/2006/main">
            <a:r>
              <a:t>Source: models.py; indexing.py; Technical_Decisions.md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metrics are query-level hit rates, with alternative recording versions permitted by judgements. Passage relevance checks version and interval containment. MRR uses the first relevant result among five. Boundary errors count every returned interval in a judged version, including false passages. The .28 cosine cutoff was tuned after .40 rejected a paraphrase at .297; this is development tuning, not held-out optimisation.</a:t>
            </a:r>
          </a:p>
          <a:p xmlns:a="http://schemas.openxmlformats.org/drawingml/2006/main">
            <a:r>
              <a:t/>
            </a:r>
          </a:p>
          <a:p xmlns:a="http://schemas.openxmlformats.org/drawingml/2006/main">
            <a:r>
              <a:t>Source: scripts/evaluate.py; judgements.json; Evaluation_Results.md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delivery dependencies from deliberately deferred capabilities. Release-blocking work includes real timing judgements, production identity, policy revocation, backend integration, workload testing and operational drills. Scope excludes archive-wide backfill, automatic rights adjudication, authenticity determination, universal multilingual retrieval and fine-tuning or RDF without evidence of need.</a:t>
            </a:r>
          </a:p>
          <a:p xmlns:a="http://schemas.openxmlformats.org/drawingml/2006/main">
            <a:r>
              <a:t/>
            </a:r>
          </a:p>
          <a:p xmlns:a="http://schemas.openxmlformats.org/drawingml/2006/main">
            <a:r>
              <a:t>Source: NHA case study; solution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HR assignment instructions and NHA case study are authoritative requirements. The working solution blueprint is a proposed design. The HV deck is a visual reference, not proof of implementation. Repository tests, saved queries and evaluation outputs establish the local claims. Service choices require deployment-time regional and commercial checks.</a:t>
            </a:r>
          </a:p>
          <a:p xmlns:a="http://schemas.openxmlformats.org/drawingml/2006/main">
            <a:r>
              <a:t/>
            </a:r>
          </a:p>
          <a:p xmlns:a="http://schemas.openxmlformats.org/drawingml/2006/main">
            <a:r>
              <a:t>Source register · supplied materials and local project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8ed7b1896b44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6ac2444bc84bf0" /><Relationship Type="http://schemas.openxmlformats.org/officeDocument/2006/relationships/slideLayout" Target="/ppt/slideLayouts/slideLayout1.xml" Id="Rebc958e233f6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c958e233f6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cd10688b61480c" /><Relationship Type="http://schemas.openxmlformats.org/officeDocument/2006/relationships/notesSlide" Target="/ppt/notesSlides/notesSlide1.xml" Id="R244d4927e05c4a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223f20c7264d75" /><Relationship Type="http://schemas.openxmlformats.org/officeDocument/2006/relationships/notesSlide" Target="/ppt/notesSlides/notesSlide2.xml" Id="R184eafe71fc24e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7ee0df8654ee3" /><Relationship Type="http://schemas.openxmlformats.org/officeDocument/2006/relationships/notesSlide" Target="/ppt/notesSlides/notesSlide3.xml" Id="Refb8c8ce5f9848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3fe5123c7e451f" /><Relationship Type="http://schemas.openxmlformats.org/officeDocument/2006/relationships/notesSlide" Target="/ppt/notesSlides/notesSlide4.xml" Id="R97c8a0e0d97049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4d9aff0b0a4f38" /><Relationship Type="http://schemas.openxmlformats.org/officeDocument/2006/relationships/notesSlide" Target="/ppt/notesSlides/notesSlide5.xml" Id="R9139eb37b9f447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fe69c5e71a44a6" /><Relationship Type="http://schemas.openxmlformats.org/officeDocument/2006/relationships/notesSlide" Target="/ppt/notesSlides/notesSlide6.xml" Id="Raa4b141331f145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fef153f31a421c" /><Relationship Type="http://schemas.openxmlformats.org/officeDocument/2006/relationships/notesSlide" Target="/ppt/notesSlides/notesSlide7.xml" Id="R68a42dc084144c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3277506f6941f6" /><Relationship Type="http://schemas.openxmlformats.org/officeDocument/2006/relationships/notesSlide" Target="/ppt/notesSlides/notesSlide8.xml" Id="R225374602a1144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d00c5619ca42a1" /><Relationship Type="http://schemas.openxmlformats.org/officeDocument/2006/relationships/notesSlide" Target="/ppt/notesSlides/notesSlide9.xml" Id="Rf9d1408720f244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5653f393734013" /><Relationship Type="http://schemas.openxmlformats.org/officeDocument/2006/relationships/chart" Target="/ppt/slides/charts/chart1.xml" Id="Rbe88570e86834093" /><Relationship Type="http://schemas.openxmlformats.org/officeDocument/2006/relationships/notesSlide" Target="/ppt/notesSlides/notesSlide10.xml" Id="R3699734a5953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9f91c3510f429e" /><Relationship Type="http://schemas.openxmlformats.org/officeDocument/2006/relationships/notesSlide" Target="/ppt/notesSlides/notesSlide11.xml" Id="Re800cccc6f8b43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58a5b1e73e4efc" /><Relationship Type="http://schemas.openxmlformats.org/officeDocument/2006/relationships/notesSlide" Target="/ppt/notesSlides/notesSlide12.xml" Id="R01fd06ac4beb4c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93472b8abf47f7" /><Relationship Type="http://schemas.openxmlformats.org/officeDocument/2006/relationships/notesSlide" Target="/ppt/notesSlides/notesSlide13.xml" Id="R7efc3141bc1346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c7a8205bc94dfb" /><Relationship Type="http://schemas.openxmlformats.org/officeDocument/2006/relationships/notesSlide" Target="/ppt/notesSlides/notesSlide14.xml" Id="R0713b9fb9ab745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0b00fc8f1a41b1" /><Relationship Type="http://schemas.openxmlformats.org/officeDocument/2006/relationships/notesSlide" Target="/ppt/notesSlides/notesSlide15.xml" Id="R5b667a2c23954c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8a9383d47f448a6" /><Relationship Type="http://schemas.openxmlformats.org/officeDocument/2006/relationships/notesSlide" Target="/ppt/notesSlides/notesSlide16.xml" Id="R8ed38e9573e14b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ae6e3496bb4468" /><Relationship Type="http://schemas.openxmlformats.org/officeDocument/2006/relationships/notesSlide" Target="/ppt/notesSlides/notesSlide17.xml" Id="Rfe38ffd77c1d4e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4ac9f7e9fac4a46" /><Relationship Type="http://schemas.openxmlformats.org/officeDocument/2006/relationships/notesSlide" Target="/ppt/notesSlides/notesSlide18.xml" Id="R69c9c9d753ec4c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79247bdf39f44c1" /><Relationship Type="http://schemas.openxmlformats.org/officeDocument/2006/relationships/notesSlide" Target="/ppt/notesSlides/notesSlide19.xml" Id="R5d7c6981585340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1f94d0a2208451d" /><Relationship Type="http://schemas.openxmlformats.org/officeDocument/2006/relationships/notesSlide" Target="/ppt/notesSlides/notesSlide20.xml" Id="R06ed068951a84c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20a1967f264761" /><Relationship Type="http://schemas.openxmlformats.org/officeDocument/2006/relationships/notesSlide" Target="/ppt/notesSlides/notesSlide21.xml" Id="R9cd8706e1dd34b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49185aba394745" /><Relationship Type="http://schemas.openxmlformats.org/officeDocument/2006/relationships/notesSlide" Target="/ppt/notesSlides/notesSlide22.xml" Id="R87dfced2fe5c46e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a23b6082d2f46c9" /><Relationship Type="http://schemas.openxmlformats.org/officeDocument/2006/relationships/notesSlide" Target="/ppt/notesSlides/notesSlide23.xml" Id="R5d63a5464a3f45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dded586340843ed" /><Relationship Type="http://schemas.openxmlformats.org/officeDocument/2006/relationships/notesSlide" Target="/ppt/notesSlides/notesSlide24.xml" Id="R4215b39db5504f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42238"/>
                </a:solidFill>
                <a:latin typeface="Aptos"/>
                <a:ea typeface="Aptos"/>
                <a:cs typeface="Aptos"/>
              </a:rPr>
              <a:t>Top-5 recall by retrieval mode</a:t>
            </a:r>
          </a:p>
        </c:rich>
      </c:tx>
      <c:overlay val="0"/>
      <c:txPr>
        <a:bodyPr xmlns:a="http://schemas.openxmlformats.org/drawingml/2006/main" anchorCtr="1"/>
        <a:lstStyle xmlns:a="http://schemas.openxmlformats.org/drawingml/2006/main"/>
        <a:p xmlns:a="http://schemas.openxmlformats.org/drawingml/2006/main">
          <a:pPr>
            <a:defRPr sz="1650" b="1">
              <a:solidFill>
                <a:srgbClr val="142238"/>
              </a:solidFill>
              <a:latin typeface="Aptos"/>
              <a:ea typeface="Aptos"/>
              <a:cs typeface="Aptos"/>
            </a:defRPr>
          </a:pPr>
        </a:p>
      </c:txPr>
    </c:title>
    <c:plotArea>
      <c:barChart>
        <c:barDir val="col"/>
        <c:grouping val="clustered"/>
        <c:varyColors val="0"/>
        <c:ser>
          <c:idx val="0"/>
          <c:order val="0"/>
          <c:tx>
            <c:v>Recording</c:v>
          </c:tx>
          <c:spPr>
            <a:solidFill xmlns:a="http://schemas.openxmlformats.org/drawingml/2006/main">
              <a:srgbClr val="142238"/>
            </a:solidFill>
          </c:spPr>
          <c:cat>
            <c:strRef>
              <c:f>'Chart Data'!$A$2:$A$4</c:f>
              <c:strCache>
                <c:ptCount val="3"/>
                <c:pt idx="0">
                  <c:v>Lexical</c:v>
                </c:pt>
                <c:pt idx="1">
                  <c:v>Semantic</c:v>
                </c:pt>
                <c:pt idx="2">
                  <c:v>Hybrid</c:v>
                </c:pt>
              </c:strCache>
            </c:strRef>
          </c:cat>
          <c:val>
            <c:numRef>
              <c:f>'Chart Data'!$B$2:$B$4</c:f>
              <c:numCache>
                <c:formatCode>0%</c:formatCode>
                <c:ptCount val="3"/>
                <c:pt idx="0">
                  <c:v>0.9</c:v>
                </c:pt>
                <c:pt idx="1">
                  <c:v>1</c:v>
                </c:pt>
                <c:pt idx="2">
                  <c:v>1</c:v>
                </c:pt>
              </c:numCache>
            </c:numRef>
          </c:val>
        </c:ser>
        <c:ser>
          <c:idx val="1"/>
          <c:order val="1"/>
          <c:tx>
            <c:v>Passage</c:v>
          </c:tx>
          <c:spPr>
            <a:solidFill xmlns:a="http://schemas.openxmlformats.org/drawingml/2006/main">
              <a:srgbClr val="0A887E"/>
            </a:solidFill>
          </c:spPr>
          <c:cat>
            <c:strRef>
              <c:f>'Chart Data'!$C$2:$C$4</c:f>
              <c:strCache>
                <c:ptCount val="3"/>
                <c:pt idx="0">
                  <c:v>Lexical</c:v>
                </c:pt>
                <c:pt idx="1">
                  <c:v>Semantic</c:v>
                </c:pt>
                <c:pt idx="2">
                  <c:v>Hybrid</c:v>
                </c:pt>
              </c:strCache>
            </c:strRef>
          </c:cat>
          <c:val>
            <c:numRef>
              <c:f>'Chart Data'!$D$2:$D$4</c:f>
              <c:numCache>
                <c:formatCode>0%</c:formatCode>
                <c:ptCount val="3"/>
                <c:pt idx="0">
                  <c:v>0.8</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FFFFFF"/>
                  </a:solidFill>
                  <a:latin typeface="Aptos"/>
                  <a:ea typeface="Aptos"/>
                  <a:cs typeface="Aptos"/>
                </a:defRPr>
              </a:pPr>
            </a:p>
          </c:txPr>
          <c:dLblPos val="in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238"/>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97083"/>
                </a:solidFill>
                <a:latin typeface="Aptos"/>
                <a:ea typeface="Aptos"/>
                <a:cs typeface="Aptos"/>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97083"/>
              </a:solidFill>
              <a:latin typeface="Aptos"/>
              <a:ea typeface="Aptos"/>
              <a:cs typeface="Apto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E3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1C3215-8884-48BD-A60B-FEA5AF0865D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E0462B-607F-4F20-A071-965B5071694F}"/>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F2EB"/>
                </a:solidFill>
                <a:latin typeface="Aptos"/>
                <a:ea typeface="Aptos"/>
                <a:cs typeface="Aptos"/>
              </a:defRPr>
            </a:pPr>
            <a:r>
              <a:rPr sz="1050" b="1">
                <a:solidFill>
                  <a:srgbClr val="D9F2EB"/>
                </a:solidFill>
                <a:latin typeface="Aptos"/>
                <a:ea typeface="Aptos"/>
                <a:cs typeface="Aptos"/>
              </a:rPr>
              <a:t>NATIONAL HERITAGE ARCHIVE · FDE ASSESSMENT</a:t>
            </a:r>
          </a:p>
        </p:txBody>
      </p:sp>
      <p:sp>
        <p:nvSpPr>
          <p:cNvPr id="3" name="">
            <a:extLst xmlns:a="http://schemas.openxmlformats.org/drawingml/2006/main">
              <a:ext uri="{FF2B5EF4-FFF2-40B4-BE49-F238E27FC236}">
                <a16:creationId xmlns:a16="http://schemas.microsoft.com/office/drawing/2014/main" id="{D93FC6BF-B9CD-4A25-AABF-28C5704382B9}"/>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497ACBC7-E5FA-411E-84E1-0FDFD940572A}"/>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3446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3755D1-5870-46F2-994E-5FB552E80848}"/>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9BDCD"/>
                </a:solidFill>
                <a:latin typeface="Aptos"/>
                <a:ea typeface="Aptos"/>
                <a:cs typeface="Aptos"/>
              </a:defRPr>
            </a:pPr>
            <a:r>
              <a:rPr sz="900" b="0">
                <a:solidFill>
                  <a:srgbClr val="A9BDCD"/>
                </a:solidFill>
                <a:latin typeface="Aptos"/>
                <a:ea typeface="Aptos"/>
                <a:cs typeface="Aptos"/>
              </a:rPr>
              <a:t>Customer solution proposal  |  11 October 2026</a:t>
            </a:r>
          </a:p>
        </p:txBody>
      </p:sp>
      <p:sp>
        <p:nvSpPr>
          <p:cNvPr id="6" name="">
            <a:extLst xmlns:a="http://schemas.openxmlformats.org/drawingml/2006/main">
              <a:ext uri="{FF2B5EF4-FFF2-40B4-BE49-F238E27FC236}">
                <a16:creationId xmlns:a16="http://schemas.microsoft.com/office/drawing/2014/main" id="{32044E88-3465-47C9-B140-A6D6E89D4E4D}"/>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A9BDCD"/>
                </a:solidFill>
                <a:latin typeface="Aptos"/>
                <a:ea typeface="Aptos"/>
                <a:cs typeface="Aptos"/>
              </a:defRPr>
            </a:pPr>
            <a:r>
              <a:rPr sz="750" b="0">
                <a:solidFill>
                  <a:srgbClr val="A9BDCD"/>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F647AE1D-A0F9-4737-918B-276896E14B1F}"/>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9F2EB"/>
                </a:solidFill>
                <a:latin typeface="Aptos"/>
                <a:ea typeface="Aptos"/>
                <a:cs typeface="Aptos"/>
              </a:defRPr>
            </a:pPr>
            <a:r>
              <a:rPr sz="1125" b="0">
                <a:solidFill>
                  <a:srgbClr val="D9F2EB"/>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D636853E-AD95-48E5-A5F2-1BA125C21BBC}"/>
              </a:ext>
            </a:extLst>
          </p:cNvPr>
          <p:cNvSpPr>
            <a:spLocks xmlns:a="http://schemas.openxmlformats.org/drawingml/2006/main" noGrp="1"/>
          </p:cNvSpPr>
          <p:nvPr/>
        </p:nvSpPr>
        <p:spPr>
          <a:xfrm xmlns:a="http://schemas.openxmlformats.org/drawingml/2006/main">
            <a:off x="514350" y="723900"/>
            <a:ext cx="11144250" cy="952500"/>
          </a:xfrm>
          <a:prstGeom xmlns:a="http://schemas.openxmlformats.org/drawingml/2006/main" prst="rect">
            <a:avLst/>
          </a:prstGeom>
          <a:solidFill xmlns:a="http://schemas.openxmlformats.org/drawingml/2006/main">
            <a:srgbClr val="101E3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9D92A02-F22F-423E-8926-721A234D91EC}"/>
              </a:ext>
            </a:extLst>
          </p:cNvPr>
          <p:cNvSpPr>
            <a:spLocks xmlns:a="http://schemas.openxmlformats.org/drawingml/2006/main" noGrp="1"/>
          </p:cNvSpPr>
          <p:nvPr/>
        </p:nvSpPr>
        <p:spPr>
          <a:xfrm xmlns:a="http://schemas.openxmlformats.org/drawingml/2006/main">
            <a:off x="533400" y="1952625"/>
            <a:ext cx="66675" cy="31242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AF72B4-A83D-4FE6-9FA5-694BCC07DBF7}"/>
              </a:ext>
            </a:extLst>
          </p:cNvPr>
          <p:cNvSpPr>
            <a:spLocks xmlns:a="http://schemas.openxmlformats.org/drawingml/2006/main" noGrp="1"/>
          </p:cNvSpPr>
          <p:nvPr/>
        </p:nvSpPr>
        <p:spPr>
          <a:xfrm xmlns:a="http://schemas.openxmlformats.org/drawingml/2006/main">
            <a:off x="866775" y="1943100"/>
            <a:ext cx="9810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75" b="1">
                <a:solidFill>
                  <a:srgbClr val="FFFFFF"/>
                </a:solidFill>
                <a:latin typeface="Aptos"/>
                <a:ea typeface="Aptos"/>
                <a:cs typeface="Aptos"/>
              </a:defRPr>
            </a:pPr>
            <a:r>
              <a:rPr sz="6675" b="1">
                <a:solidFill>
                  <a:srgbClr val="FFFFFF"/>
                </a:solidFill>
                <a:latin typeface="Aptos"/>
                <a:ea typeface="Aptos"/>
                <a:cs typeface="Aptos"/>
              </a:rPr>
              <a:t>Find the</a:t>
            </a:r>
          </a:p>
          <a:p xmlns:a="http://schemas.openxmlformats.org/drawingml/2006/main">
            <a:pPr>
              <a:defRPr sz="6675" b="1">
                <a:solidFill>
                  <a:srgbClr val="FFFFFF"/>
                </a:solidFill>
                <a:latin typeface="Aptos"/>
                <a:ea typeface="Aptos"/>
                <a:cs typeface="Aptos"/>
              </a:defRPr>
            </a:pPr>
            <a:r>
              <a:rPr sz="6675" b="1">
                <a:solidFill>
                  <a:srgbClr val="FFFFFF"/>
                </a:solidFill>
                <a:latin typeface="Aptos"/>
                <a:ea typeface="Aptos"/>
                <a:cs typeface="Aptos"/>
              </a:rPr>
              <a:t>Moment</a:t>
            </a:r>
          </a:p>
        </p:txBody>
      </p:sp>
      <p:sp>
        <p:nvSpPr>
          <p:cNvPr id="11" name="">
            <a:extLst xmlns:a="http://schemas.openxmlformats.org/drawingml/2006/main">
              <a:ext uri="{FF2B5EF4-FFF2-40B4-BE49-F238E27FC236}">
                <a16:creationId xmlns:a16="http://schemas.microsoft.com/office/drawing/2014/main" id="{CDAD4463-183D-4137-B4FC-052B555D339B}"/>
              </a:ext>
            </a:extLst>
          </p:cNvPr>
          <p:cNvSpPr>
            <a:spLocks xmlns:a="http://schemas.openxmlformats.org/drawingml/2006/main" noGrp="1"/>
          </p:cNvSpPr>
          <p:nvPr/>
        </p:nvSpPr>
        <p:spPr>
          <a:xfrm xmlns:a="http://schemas.openxmlformats.org/drawingml/2006/main">
            <a:off x="914400" y="4410075"/>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9F2EB"/>
                </a:solidFill>
                <a:latin typeface="Aptos"/>
                <a:ea typeface="Aptos"/>
                <a:cs typeface="Aptos"/>
              </a:defRPr>
            </a:pPr>
            <a:r>
              <a:rPr sz="2400" b="0">
                <a:solidFill>
                  <a:srgbClr val="D9F2EB"/>
                </a:solidFill>
                <a:latin typeface="Aptos"/>
                <a:ea typeface="Aptos"/>
                <a:cs typeface="Aptos"/>
              </a:rPr>
              <a:t>From remembered meaning to trusted archival evidence</a:t>
            </a:r>
          </a:p>
        </p:txBody>
      </p:sp>
      <p:sp>
        <p:nvSpPr>
          <p:cNvPr id="12" name="">
            <a:extLst xmlns:a="http://schemas.openxmlformats.org/drawingml/2006/main">
              <a:ext uri="{FF2B5EF4-FFF2-40B4-BE49-F238E27FC236}">
                <a16:creationId xmlns:a16="http://schemas.microsoft.com/office/drawing/2014/main" id="{A17AEDA3-BDB7-4981-A554-6796605B51F5}"/>
              </a:ext>
            </a:extLst>
          </p:cNvPr>
          <p:cNvSpPr>
            <a:spLocks xmlns:a="http://schemas.openxmlformats.org/drawingml/2006/main" noGrp="1"/>
          </p:cNvSpPr>
          <p:nvPr/>
        </p:nvSpPr>
        <p:spPr>
          <a:xfrm xmlns:a="http://schemas.openxmlformats.org/drawingml/2006/main">
            <a:off x="914400" y="54102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6C9D7"/>
                </a:solidFill>
                <a:latin typeface="Aptos"/>
                <a:ea typeface="Aptos"/>
                <a:cs typeface="Aptos"/>
              </a:defRPr>
            </a:pPr>
            <a:r>
              <a:rPr sz="1725" b="0">
                <a:solidFill>
                  <a:srgbClr val="B6C9D7"/>
                </a:solidFill>
                <a:latin typeface="Aptos"/>
                <a:ea typeface="Aptos"/>
                <a:cs typeface="Aptos"/>
              </a:rPr>
              <a:t>Semantic retrieval • Source-specific timing • Controlled access</a:t>
            </a:r>
          </a:p>
        </p:txBody>
      </p:sp>
    </p:spTree>
    <p:extLst>
      <p:ext uri="{BB962C8B-B14F-4D97-AF65-F5344CB8AC3E}">
        <p14:creationId xmlns:p14="http://schemas.microsoft.com/office/powerpoint/2010/main" val="9459678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2D3D975-294B-453E-9BAF-EC79B773F3F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85E93E-ABFD-4735-A73B-FF466B96F9C0}"/>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01 / EXECUTIVE RECOMMENDATION</a:t>
            </a:r>
          </a:p>
        </p:txBody>
      </p:sp>
      <p:sp>
        <p:nvSpPr>
          <p:cNvPr id="3" name="">
            <a:extLst xmlns:a="http://schemas.openxmlformats.org/drawingml/2006/main">
              <a:ext uri="{FF2B5EF4-FFF2-40B4-BE49-F238E27FC236}">
                <a16:creationId xmlns:a16="http://schemas.microsoft.com/office/drawing/2014/main" id="{2F270FE8-B08B-4F0C-9D2C-A1A0371CDA66}"/>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Advance to a controlled, rights-cleared pilot</a:t>
            </a:r>
          </a:p>
        </p:txBody>
      </p:sp>
      <p:sp>
        <p:nvSpPr>
          <p:cNvPr id="4" name="">
            <a:extLst xmlns:a="http://schemas.openxmlformats.org/drawingml/2006/main">
              <a:ext uri="{FF2B5EF4-FFF2-40B4-BE49-F238E27FC236}">
                <a16:creationId xmlns:a16="http://schemas.microsoft.com/office/drawing/2014/main" id="{C870AAEE-E652-4989-A542-2A2A648DD968}"/>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823D05-D263-4912-8DCB-EC37F61CF7D9}"/>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8FB28B3A-5AD6-4217-B331-08BB6A72D64F}"/>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8B412500-48D5-4EFE-969D-0CA06F5A35FE}"/>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BBC78C19-7E04-4A22-ABA3-33FBCB924B81}"/>
              </a:ext>
            </a:extLst>
          </p:cNvPr>
          <p:cNvSpPr>
            <a:spLocks xmlns:a="http://schemas.openxmlformats.org/drawingml/2006/main" noGrp="1"/>
          </p:cNvSpPr>
          <p:nvPr/>
        </p:nvSpPr>
        <p:spPr>
          <a:xfrm xmlns:a="http://schemas.openxmlformats.org/drawingml/2006/main">
            <a:off x="514350" y="20288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A887E"/>
                </a:solidFill>
                <a:latin typeface="Aptos"/>
                <a:ea typeface="Aptos"/>
                <a:cs typeface="Aptos"/>
              </a:defRPr>
            </a:pPr>
            <a:r>
              <a:rPr sz="2175" b="1">
                <a:solidFill>
                  <a:srgbClr val="0A887E"/>
                </a:solidFill>
                <a:latin typeface="Aptos"/>
                <a:ea typeface="Aptos"/>
                <a:cs typeface="Aptos"/>
              </a:rPr>
              <a:t>The case for action</a:t>
            </a:r>
          </a:p>
        </p:txBody>
      </p:sp>
      <p:sp>
        <p:nvSpPr>
          <p:cNvPr id="9" name="">
            <a:extLst xmlns:a="http://schemas.openxmlformats.org/drawingml/2006/main">
              <a:ext uri="{FF2B5EF4-FFF2-40B4-BE49-F238E27FC236}">
                <a16:creationId xmlns:a16="http://schemas.microsoft.com/office/drawing/2014/main" id="{9B0C0827-C3F0-42F6-9E2D-B15D7FC77E4A}"/>
              </a:ext>
            </a:extLst>
          </p:cNvPr>
          <p:cNvSpPr>
            <a:spLocks xmlns:a="http://schemas.openxmlformats.org/drawingml/2006/main" noGrp="1"/>
          </p:cNvSpPr>
          <p:nvPr/>
        </p:nvSpPr>
        <p:spPr>
          <a:xfrm xmlns:a="http://schemas.openxmlformats.org/drawingml/2006/main">
            <a:off x="514350" y="2638425"/>
            <a:ext cx="50006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238"/>
                </a:solidFill>
                <a:latin typeface="Aptos"/>
                <a:ea typeface="Aptos"/>
                <a:cs typeface="Aptos"/>
              </a:defRPr>
            </a:pPr>
            <a:r>
              <a:rPr sz="2625" b="1">
                <a:solidFill>
                  <a:srgbClr val="142238"/>
                </a:solidFill>
                <a:latin typeface="Aptos"/>
                <a:ea typeface="Aptos"/>
                <a:cs typeface="Aptos"/>
              </a:rPr>
              <a:t>Give producers a usable</a:t>
            </a:r>
          </a:p>
          <a:p xmlns:a="http://schemas.openxmlformats.org/drawingml/2006/main">
            <a:pPr>
              <a:defRPr sz="2625" b="1">
                <a:solidFill>
                  <a:srgbClr val="142238"/>
                </a:solidFill>
                <a:latin typeface="Aptos"/>
                <a:ea typeface="Aptos"/>
                <a:cs typeface="Aptos"/>
              </a:defRPr>
            </a:pPr>
            <a:r>
              <a:rPr sz="2625" b="1">
                <a:solidFill>
                  <a:srgbClr val="142238"/>
                </a:solidFill>
                <a:latin typeface="Aptos"/>
                <a:ea typeface="Aptos"/>
                <a:cs typeface="Aptos"/>
              </a:rPr>
              <a:t>starting point in the archive—</a:t>
            </a:r>
          </a:p>
          <a:p xmlns:a="http://schemas.openxmlformats.org/drawingml/2006/main">
            <a:pPr>
              <a:defRPr sz="2625" b="1">
                <a:solidFill>
                  <a:srgbClr val="142238"/>
                </a:solidFill>
                <a:latin typeface="Aptos"/>
                <a:ea typeface="Aptos"/>
                <a:cs typeface="Aptos"/>
              </a:defRPr>
            </a:pPr>
            <a:r>
              <a:rPr sz="2625" b="1">
                <a:solidFill>
                  <a:srgbClr val="142238"/>
                </a:solidFill>
                <a:latin typeface="Aptos"/>
                <a:ea typeface="Aptos"/>
                <a:cs typeface="Aptos"/>
              </a:rPr>
              <a:t>with evidence NHA can govern.</a:t>
            </a:r>
          </a:p>
        </p:txBody>
      </p:sp>
      <p:sp>
        <p:nvSpPr>
          <p:cNvPr id="10" name="">
            <a:extLst xmlns:a="http://schemas.openxmlformats.org/drawingml/2006/main">
              <a:ext uri="{FF2B5EF4-FFF2-40B4-BE49-F238E27FC236}">
                <a16:creationId xmlns:a16="http://schemas.microsoft.com/office/drawing/2014/main" id="{726F6B78-6A87-4329-BAE3-71A90AA101A7}"/>
              </a:ext>
            </a:extLst>
          </p:cNvPr>
          <p:cNvSpPr>
            <a:spLocks xmlns:a="http://schemas.openxmlformats.org/drawingml/2006/main" noGrp="1"/>
          </p:cNvSpPr>
          <p:nvPr/>
        </p:nvSpPr>
        <p:spPr>
          <a:xfrm xmlns:a="http://schemas.openxmlformats.org/drawingml/2006/main">
            <a:off x="6096000" y="2038350"/>
            <a:ext cx="5562600" cy="12573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E412A3-517A-4CD9-B8E2-D7175346EB45}"/>
              </a:ext>
            </a:extLst>
          </p:cNvPr>
          <p:cNvSpPr>
            <a:spLocks xmlns:a="http://schemas.openxmlformats.org/drawingml/2006/main" noGrp="1"/>
          </p:cNvSpPr>
          <p:nvPr/>
        </p:nvSpPr>
        <p:spPr>
          <a:xfrm xmlns:a="http://schemas.openxmlformats.org/drawingml/2006/main">
            <a:off x="6096000" y="2038350"/>
            <a:ext cx="38100" cy="12573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371EF93-E98B-4FF5-BBDA-06D07093C0E4}"/>
              </a:ext>
            </a:extLst>
          </p:cNvPr>
          <p:cNvSpPr>
            <a:spLocks xmlns:a="http://schemas.openxmlformats.org/drawingml/2006/main" noGrp="1"/>
          </p:cNvSpPr>
          <p:nvPr/>
        </p:nvSpPr>
        <p:spPr>
          <a:xfrm xmlns:a="http://schemas.openxmlformats.org/drawingml/2006/main">
            <a:off x="6286500" y="2209800"/>
            <a:ext cx="5200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PROVED LOCALLY</a:t>
            </a:r>
          </a:p>
        </p:txBody>
      </p:sp>
      <p:sp>
        <p:nvSpPr>
          <p:cNvPr id="13" name="">
            <a:extLst xmlns:a="http://schemas.openxmlformats.org/drawingml/2006/main">
              <a:ext uri="{FF2B5EF4-FFF2-40B4-BE49-F238E27FC236}">
                <a16:creationId xmlns:a16="http://schemas.microsoft.com/office/drawing/2014/main" id="{4C922E62-C3B3-437E-A4D2-A46EAAC28418}"/>
              </a:ext>
            </a:extLst>
          </p:cNvPr>
          <p:cNvSpPr>
            <a:spLocks xmlns:a="http://schemas.openxmlformats.org/drawingml/2006/main" noGrp="1"/>
          </p:cNvSpPr>
          <p:nvPr/>
        </p:nvSpPr>
        <p:spPr>
          <a:xfrm xmlns:a="http://schemas.openxmlformats.org/drawingml/2006/main">
            <a:off x="6286500" y="2667000"/>
            <a:ext cx="5200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Meaning-based retrieval, version-specific</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timing and access filtering.</a:t>
            </a:r>
          </a:p>
        </p:txBody>
      </p:sp>
      <p:sp>
        <p:nvSpPr>
          <p:cNvPr id="14" name="">
            <a:extLst xmlns:a="http://schemas.openxmlformats.org/drawingml/2006/main">
              <a:ext uri="{FF2B5EF4-FFF2-40B4-BE49-F238E27FC236}">
                <a16:creationId xmlns:a16="http://schemas.microsoft.com/office/drawing/2014/main" id="{5B8E2DBF-705F-4794-8EF1-2B3088CAEE75}"/>
              </a:ext>
            </a:extLst>
          </p:cNvPr>
          <p:cNvSpPr>
            <a:spLocks xmlns:a="http://schemas.openxmlformats.org/drawingml/2006/main" noGrp="1"/>
          </p:cNvSpPr>
          <p:nvPr/>
        </p:nvSpPr>
        <p:spPr>
          <a:xfrm xmlns:a="http://schemas.openxmlformats.org/drawingml/2006/main">
            <a:off x="6096000" y="3562350"/>
            <a:ext cx="5562600" cy="12573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AF742A-8E71-4284-AE97-D9C2411CC2BC}"/>
              </a:ext>
            </a:extLst>
          </p:cNvPr>
          <p:cNvSpPr>
            <a:spLocks xmlns:a="http://schemas.openxmlformats.org/drawingml/2006/main" noGrp="1"/>
          </p:cNvSpPr>
          <p:nvPr/>
        </p:nvSpPr>
        <p:spPr>
          <a:xfrm xmlns:a="http://schemas.openxmlformats.org/drawingml/2006/main">
            <a:off x="6096000" y="3562350"/>
            <a:ext cx="38100" cy="12573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1FAA9F0-CC04-4793-9ECB-2CFFDAB41D68}"/>
              </a:ext>
            </a:extLst>
          </p:cNvPr>
          <p:cNvSpPr>
            <a:spLocks xmlns:a="http://schemas.openxmlformats.org/drawingml/2006/main" noGrp="1"/>
          </p:cNvSpPr>
          <p:nvPr/>
        </p:nvSpPr>
        <p:spPr>
          <a:xfrm xmlns:a="http://schemas.openxmlformats.org/drawingml/2006/main">
            <a:off x="6286500" y="3733800"/>
            <a:ext cx="5200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REQUIRES PILOT EVIDENCE</a:t>
            </a:r>
          </a:p>
        </p:txBody>
      </p:sp>
      <p:sp>
        <p:nvSpPr>
          <p:cNvPr id="17" name="">
            <a:extLst xmlns:a="http://schemas.openxmlformats.org/drawingml/2006/main">
              <a:ext uri="{FF2B5EF4-FFF2-40B4-BE49-F238E27FC236}">
                <a16:creationId xmlns:a16="http://schemas.microsoft.com/office/drawing/2014/main" id="{28D6CC23-7F47-4019-ABF1-E20048726295}"/>
              </a:ext>
            </a:extLst>
          </p:cNvPr>
          <p:cNvSpPr>
            <a:spLocks xmlns:a="http://schemas.openxmlformats.org/drawingml/2006/main" noGrp="1"/>
          </p:cNvSpPr>
          <p:nvPr/>
        </p:nvSpPr>
        <p:spPr>
          <a:xfrm xmlns:a="http://schemas.openxmlformats.org/drawingml/2006/main">
            <a:off x="6286500" y="4191000"/>
            <a:ext cx="5200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Real audio quality, user value, identity</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integration and operating cost.</a:t>
            </a:r>
          </a:p>
        </p:txBody>
      </p:sp>
      <p:sp>
        <p:nvSpPr>
          <p:cNvPr id="18" name="">
            <a:extLst xmlns:a="http://schemas.openxmlformats.org/drawingml/2006/main">
              <a:ext uri="{FF2B5EF4-FFF2-40B4-BE49-F238E27FC236}">
                <a16:creationId xmlns:a16="http://schemas.microsoft.com/office/drawing/2014/main" id="{A82EF482-292D-46A5-8A88-B4744562963A}"/>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6E87E0-371B-4E3F-B6D2-6FB57C970975}"/>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Decision sought: approve the pilot corpus, accountable owners and release gates.</a:t>
            </a:r>
          </a:p>
        </p:txBody>
      </p:sp>
    </p:spTree>
    <p:extLst>
      <p:ext uri="{BB962C8B-B14F-4D97-AF65-F5344CB8AC3E}">
        <p14:creationId xmlns:p14="http://schemas.microsoft.com/office/powerpoint/2010/main" val="15488169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EF7030B-579B-4AD8-944B-E50A87F7566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0F2EFB-5E98-4B4F-9A37-0D3821FF7E58}"/>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02 / CUSTOMER VALUE</a:t>
            </a:r>
          </a:p>
        </p:txBody>
      </p:sp>
      <p:sp>
        <p:nvSpPr>
          <p:cNvPr id="3" name="">
            <a:extLst xmlns:a="http://schemas.openxmlformats.org/drawingml/2006/main">
              <a:ext uri="{FF2B5EF4-FFF2-40B4-BE49-F238E27FC236}">
                <a16:creationId xmlns:a16="http://schemas.microsoft.com/office/drawing/2014/main" id="{12B6620B-BAD1-4407-9F65-41003E24B955}"/>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The answer must be useful—and attributable</a:t>
            </a:r>
          </a:p>
        </p:txBody>
      </p:sp>
      <p:sp>
        <p:nvSpPr>
          <p:cNvPr id="4" name="">
            <a:extLst xmlns:a="http://schemas.openxmlformats.org/drawingml/2006/main">
              <a:ext uri="{FF2B5EF4-FFF2-40B4-BE49-F238E27FC236}">
                <a16:creationId xmlns:a16="http://schemas.microsoft.com/office/drawing/2014/main" id="{9F78D1B6-AB49-4B67-BBF9-E81524B69E86}"/>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4D91E1-7523-4236-92D0-74FA5287CC1A}"/>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D4F6B40D-446F-4023-B840-47D22410B9F9}"/>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E4BF50AA-5E57-40E3-B821-9B7AA46D09E0}"/>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E4BC1607-1CC7-4373-AFB0-FB4090F3E27E}"/>
              </a:ext>
            </a:extLst>
          </p:cNvPr>
          <p:cNvSpPr>
            <a:spLocks xmlns:a="http://schemas.openxmlformats.org/drawingml/2006/main" noGrp="1"/>
          </p:cNvSpPr>
          <p:nvPr/>
        </p:nvSpPr>
        <p:spPr>
          <a:xfrm xmlns:a="http://schemas.openxmlformats.org/drawingml/2006/main">
            <a:off x="514350" y="2019300"/>
            <a:ext cx="11144250" cy="1352550"/>
          </a:xfrm>
          <a:prstGeom xmlns:a="http://schemas.openxmlformats.org/drawingml/2006/main" prst="rect">
            <a:avLst/>
          </a:prstGeom>
          <a:solidFill xmlns:a="http://schemas.openxmlformats.org/drawingml/2006/main">
            <a:srgbClr val="1422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789725-1171-466E-8DF9-B4F93FA2309F}"/>
              </a:ext>
            </a:extLst>
          </p:cNvPr>
          <p:cNvSpPr>
            <a:spLocks xmlns:a="http://schemas.openxmlformats.org/drawingml/2006/main" noGrp="1"/>
          </p:cNvSpPr>
          <p:nvPr/>
        </p:nvSpPr>
        <p:spPr>
          <a:xfrm xmlns:a="http://schemas.openxmlformats.org/drawingml/2006/main">
            <a:off x="781050" y="22764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ptos"/>
                <a:ea typeface="Aptos"/>
                <a:cs typeface="Aptos"/>
              </a:defRPr>
            </a:pPr>
            <a:r>
              <a:rPr sz="2475" b="1">
                <a:solidFill>
                  <a:srgbClr val="FFFFFF"/>
                </a:solidFill>
                <a:latin typeface="Aptos"/>
                <a:ea typeface="Aptos"/>
                <a:cs typeface="Aptos"/>
              </a:rPr>
              <a:t>“He talks about fighting everywhere…</a:t>
            </a:r>
          </a:p>
          <a:p xmlns:a="http://schemas.openxmlformats.org/drawingml/2006/main">
            <a:pPr>
              <a:defRPr sz="2475" b="1">
                <a:solidFill>
                  <a:srgbClr val="FFFFFF"/>
                </a:solidFill>
                <a:latin typeface="Aptos"/>
                <a:ea typeface="Aptos"/>
                <a:cs typeface="Aptos"/>
              </a:defRPr>
            </a:pPr>
            <a:r>
              <a:rPr sz="2475" b="1">
                <a:solidFill>
                  <a:srgbClr val="FFFFFF"/>
                </a:solidFill>
                <a:latin typeface="Aptos"/>
                <a:ea typeface="Aptos"/>
                <a:cs typeface="Aptos"/>
              </a:rPr>
              <a:t>maybe after a retreat? They’ll never surrender.”</a:t>
            </a:r>
          </a:p>
        </p:txBody>
      </p:sp>
      <p:sp>
        <p:nvSpPr>
          <p:cNvPr id="10" name="">
            <a:extLst xmlns:a="http://schemas.openxmlformats.org/drawingml/2006/main">
              <a:ext uri="{FF2B5EF4-FFF2-40B4-BE49-F238E27FC236}">
                <a16:creationId xmlns:a16="http://schemas.microsoft.com/office/drawing/2014/main" id="{7F9571F3-1CBF-4073-BD82-913EEBED4892}"/>
              </a:ext>
            </a:extLst>
          </p:cNvPr>
          <p:cNvSpPr>
            <a:spLocks xmlns:a="http://schemas.openxmlformats.org/drawingml/2006/main" noGrp="1"/>
          </p:cNvSpPr>
          <p:nvPr/>
        </p:nvSpPr>
        <p:spPr>
          <a:xfrm xmlns:a="http://schemas.openxmlformats.org/drawingml/2006/main">
            <a:off x="514350" y="3695700"/>
            <a:ext cx="3476625" cy="158115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D14E4ED-6107-47EE-97A7-900622DA66E3}"/>
              </a:ext>
            </a:extLst>
          </p:cNvPr>
          <p:cNvSpPr>
            <a:spLocks xmlns:a="http://schemas.openxmlformats.org/drawingml/2006/main" noGrp="1"/>
          </p:cNvSpPr>
          <p:nvPr/>
        </p:nvSpPr>
        <p:spPr>
          <a:xfrm xmlns:a="http://schemas.openxmlformats.org/drawingml/2006/main">
            <a:off x="514350" y="3695700"/>
            <a:ext cx="38100" cy="158115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07EA87E-DB09-43FB-959A-B9AD5CF78702}"/>
              </a:ext>
            </a:extLst>
          </p:cNvPr>
          <p:cNvSpPr>
            <a:spLocks xmlns:a="http://schemas.openxmlformats.org/drawingml/2006/main" noGrp="1"/>
          </p:cNvSpPr>
          <p:nvPr/>
        </p:nvSpPr>
        <p:spPr>
          <a:xfrm xmlns:a="http://schemas.openxmlformats.org/drawingml/2006/main">
            <a:off x="704850" y="3867150"/>
            <a:ext cx="3114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01  UNDERSTAND</a:t>
            </a:r>
          </a:p>
        </p:txBody>
      </p:sp>
      <p:sp>
        <p:nvSpPr>
          <p:cNvPr id="13" name="">
            <a:extLst xmlns:a="http://schemas.openxmlformats.org/drawingml/2006/main">
              <a:ext uri="{FF2B5EF4-FFF2-40B4-BE49-F238E27FC236}">
                <a16:creationId xmlns:a16="http://schemas.microsoft.com/office/drawing/2014/main" id="{F59D8D46-6422-4DA9-BE1B-395000DEF928}"/>
              </a:ext>
            </a:extLst>
          </p:cNvPr>
          <p:cNvSpPr>
            <a:spLocks xmlns:a="http://schemas.openxmlformats.org/drawingml/2006/main" noGrp="1"/>
          </p:cNvSpPr>
          <p:nvPr/>
        </p:nvSpPr>
        <p:spPr>
          <a:xfrm xmlns:a="http://schemas.openxmlformats.org/drawingml/2006/main">
            <a:off x="704850" y="4324350"/>
            <a:ext cx="3114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Recover meaning when the</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user lacks exact words.</a:t>
            </a:r>
          </a:p>
        </p:txBody>
      </p:sp>
      <p:sp>
        <p:nvSpPr>
          <p:cNvPr id="14" name="">
            <a:extLst xmlns:a="http://schemas.openxmlformats.org/drawingml/2006/main">
              <a:ext uri="{FF2B5EF4-FFF2-40B4-BE49-F238E27FC236}">
                <a16:creationId xmlns:a16="http://schemas.microsoft.com/office/drawing/2014/main" id="{F923F9EB-80D1-42EA-B676-FCC6283642A0}"/>
              </a:ext>
            </a:extLst>
          </p:cNvPr>
          <p:cNvSpPr>
            <a:spLocks xmlns:a="http://schemas.openxmlformats.org/drawingml/2006/main" noGrp="1"/>
          </p:cNvSpPr>
          <p:nvPr/>
        </p:nvSpPr>
        <p:spPr>
          <a:xfrm xmlns:a="http://schemas.openxmlformats.org/drawingml/2006/main">
            <a:off x="4352925" y="3695700"/>
            <a:ext cx="3476625" cy="158115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905689-498B-4660-BCFB-37E92E959783}"/>
              </a:ext>
            </a:extLst>
          </p:cNvPr>
          <p:cNvSpPr>
            <a:spLocks xmlns:a="http://schemas.openxmlformats.org/drawingml/2006/main" noGrp="1"/>
          </p:cNvSpPr>
          <p:nvPr/>
        </p:nvSpPr>
        <p:spPr>
          <a:xfrm xmlns:a="http://schemas.openxmlformats.org/drawingml/2006/main">
            <a:off x="4352925" y="3695700"/>
            <a:ext cx="38100" cy="158115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DD818FB-D9E1-4EC2-B063-B064B5F62C74}"/>
              </a:ext>
            </a:extLst>
          </p:cNvPr>
          <p:cNvSpPr>
            <a:spLocks xmlns:a="http://schemas.openxmlformats.org/drawingml/2006/main" noGrp="1"/>
          </p:cNvSpPr>
          <p:nvPr/>
        </p:nvSpPr>
        <p:spPr>
          <a:xfrm xmlns:a="http://schemas.openxmlformats.org/drawingml/2006/main">
            <a:off x="4543425" y="3867150"/>
            <a:ext cx="3114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02  VERIFY</a:t>
            </a:r>
          </a:p>
        </p:txBody>
      </p:sp>
      <p:sp>
        <p:nvSpPr>
          <p:cNvPr id="17" name="">
            <a:extLst xmlns:a="http://schemas.openxmlformats.org/drawingml/2006/main">
              <a:ext uri="{FF2B5EF4-FFF2-40B4-BE49-F238E27FC236}">
                <a16:creationId xmlns:a16="http://schemas.microsoft.com/office/drawing/2014/main" id="{A95FC566-1B85-4EC7-81F9-57958BFB30FC}"/>
              </a:ext>
            </a:extLst>
          </p:cNvPr>
          <p:cNvSpPr>
            <a:spLocks xmlns:a="http://schemas.openxmlformats.org/drawingml/2006/main" noGrp="1"/>
          </p:cNvSpPr>
          <p:nvPr/>
        </p:nvSpPr>
        <p:spPr>
          <a:xfrm xmlns:a="http://schemas.openxmlformats.org/drawingml/2006/main">
            <a:off x="4543425" y="4324350"/>
            <a:ext cx="3114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Show the passage, version</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and source-word interval.</a:t>
            </a:r>
          </a:p>
        </p:txBody>
      </p:sp>
      <p:sp>
        <p:nvSpPr>
          <p:cNvPr id="18" name="">
            <a:extLst xmlns:a="http://schemas.openxmlformats.org/drawingml/2006/main">
              <a:ext uri="{FF2B5EF4-FFF2-40B4-BE49-F238E27FC236}">
                <a16:creationId xmlns:a16="http://schemas.microsoft.com/office/drawing/2014/main" id="{7409B3A9-3837-4F25-BDFB-84E0AE001412}"/>
              </a:ext>
            </a:extLst>
          </p:cNvPr>
          <p:cNvSpPr>
            <a:spLocks xmlns:a="http://schemas.openxmlformats.org/drawingml/2006/main" noGrp="1"/>
          </p:cNvSpPr>
          <p:nvPr/>
        </p:nvSpPr>
        <p:spPr>
          <a:xfrm xmlns:a="http://schemas.openxmlformats.org/drawingml/2006/main">
            <a:off x="8191500" y="3695700"/>
            <a:ext cx="3467100" cy="158115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FB91062-2FF3-47F1-A123-D25474B4F1EE}"/>
              </a:ext>
            </a:extLst>
          </p:cNvPr>
          <p:cNvSpPr>
            <a:spLocks xmlns:a="http://schemas.openxmlformats.org/drawingml/2006/main" noGrp="1"/>
          </p:cNvSpPr>
          <p:nvPr/>
        </p:nvSpPr>
        <p:spPr>
          <a:xfrm xmlns:a="http://schemas.openxmlformats.org/drawingml/2006/main">
            <a:off x="8191500" y="3695700"/>
            <a:ext cx="38100" cy="158115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E853319-5DC3-409A-AD93-1ECB29B8218F}"/>
              </a:ext>
            </a:extLst>
          </p:cNvPr>
          <p:cNvSpPr>
            <a:spLocks xmlns:a="http://schemas.openxmlformats.org/drawingml/2006/main" noGrp="1"/>
          </p:cNvSpPr>
          <p:nvPr/>
        </p:nvSpPr>
        <p:spPr>
          <a:xfrm xmlns:a="http://schemas.openxmlformats.org/drawingml/2006/main">
            <a:off x="8382000" y="3867150"/>
            <a:ext cx="310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03  ACT</a:t>
            </a:r>
          </a:p>
        </p:txBody>
      </p:sp>
      <p:sp>
        <p:nvSpPr>
          <p:cNvPr id="21" name="">
            <a:extLst xmlns:a="http://schemas.openxmlformats.org/drawingml/2006/main">
              <a:ext uri="{FF2B5EF4-FFF2-40B4-BE49-F238E27FC236}">
                <a16:creationId xmlns:a16="http://schemas.microsoft.com/office/drawing/2014/main" id="{D8CADC0C-5BEF-453C-A31C-16C2DA877193}"/>
              </a:ext>
            </a:extLst>
          </p:cNvPr>
          <p:cNvSpPr>
            <a:spLocks xmlns:a="http://schemas.openxmlformats.org/drawingml/2006/main" noGrp="1"/>
          </p:cNvSpPr>
          <p:nvPr/>
        </p:nvSpPr>
        <p:spPr>
          <a:xfrm xmlns:a="http://schemas.openxmlformats.org/drawingml/2006/main">
            <a:off x="8382000" y="4324350"/>
            <a:ext cx="3105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Offer the next action allowed</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by rights and availability.</a:t>
            </a:r>
          </a:p>
        </p:txBody>
      </p:sp>
      <p:sp>
        <p:nvSpPr>
          <p:cNvPr id="22" name="">
            <a:extLst xmlns:a="http://schemas.openxmlformats.org/drawingml/2006/main">
              <a:ext uri="{FF2B5EF4-FFF2-40B4-BE49-F238E27FC236}">
                <a16:creationId xmlns:a16="http://schemas.microsoft.com/office/drawing/2014/main" id="{0A57A01A-3EF9-400E-8753-3BCFE3D98ECD}"/>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56D2C4F-7E9C-43BB-8E06-F57F986C06EB}"/>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Customer measure: time to a usable excerpt, supported by trusted evidence.</a:t>
            </a:r>
          </a:p>
        </p:txBody>
      </p:sp>
    </p:spTree>
    <p:extLst>
      <p:ext uri="{BB962C8B-B14F-4D97-AF65-F5344CB8AC3E}">
        <p14:creationId xmlns:p14="http://schemas.microsoft.com/office/powerpoint/2010/main" val="19408384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90FCAD3-5EC2-4ECB-84AD-CDA4C61BF7E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250140-D81B-4622-9B29-D4AE4A4A724F}"/>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03 / OPERATING CONTEXT</a:t>
            </a:r>
          </a:p>
        </p:txBody>
      </p:sp>
      <p:sp>
        <p:nvSpPr>
          <p:cNvPr id="3" name="">
            <a:extLst xmlns:a="http://schemas.openxmlformats.org/drawingml/2006/main">
              <a:ext uri="{FF2B5EF4-FFF2-40B4-BE49-F238E27FC236}">
                <a16:creationId xmlns:a16="http://schemas.microsoft.com/office/drawing/2014/main" id="{45F41B0F-CACA-4B0E-BF92-B759D0970922}"/>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Design around the archive’s constraints</a:t>
            </a:r>
          </a:p>
        </p:txBody>
      </p:sp>
      <p:sp>
        <p:nvSpPr>
          <p:cNvPr id="4" name="">
            <a:extLst xmlns:a="http://schemas.openxmlformats.org/drawingml/2006/main">
              <a:ext uri="{FF2B5EF4-FFF2-40B4-BE49-F238E27FC236}">
                <a16:creationId xmlns:a16="http://schemas.microsoft.com/office/drawing/2014/main" id="{393F00BB-D209-4016-AF76-9254F930CF90}"/>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B7D7E7-1BE5-4D1E-B934-9CD585E2BBF4}"/>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B8592497-31DB-4C5B-BF08-3E0A141BD0E8}"/>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5146BAE8-C9AE-4A17-8D68-7405E1D64D3C}"/>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04</a:t>
            </a:r>
          </a:p>
        </p:txBody>
      </p:sp>
      <p:graphicFrame>
        <p:nvGraphicFramePr>
          <p:cNvPr id="18" name=""/>
          <p:cNvGraphicFramePr/>
          <p:nvPr/>
        </p:nvGraphicFramePr>
        <p:xfrm>
          <a:off xmlns:a="http://schemas.openxmlformats.org/drawingml/2006/main" x="514350" y="2047875"/>
          <a:ext xmlns:a="http://schemas.openxmlformats.org/drawingml/2006/main" cx="11144250" cy="3238500"/>
        </p:xfrm>
        <a:graphic xmlns:a="http://schemas.openxmlformats.org/drawingml/2006/main">
          <a:graphicData uri="http://schemas.openxmlformats.org/drawingml/2006/table">
            <a:tbl>
              <a:tblPr/>
              <a:tblGrid>
                <a:gridCol w="2857500"/>
                <a:gridCol w="4210050"/>
                <a:gridCol w="4076700"/>
              </a:tblGrid>
              <a:tr h="647700">
                <a:tc>
                  <a:txBody>
                    <a:bodyPr/>
                    <a:lstStyle/>
                    <a:p>
                      <a:r>
                        <a:rPr sz="1650" b="1">
                          <a:solidFill>
                            <a:srgbClr val="FFFFFF"/>
                          </a:solidFill>
                          <a:latin typeface="Aptos"/>
                          <a:ea typeface="Aptos"/>
                          <a:cs typeface="Aptos"/>
                        </a:rPr>
                        <a:t>NHA reality</a:t>
                      </a:r>
                    </a:p>
                  </a:txBody>
                  <a:tcPr marL="91440" marR="91440" marT="45720" marB="45720">
                    <a:solidFill>
                      <a:srgbClr val="142238"/>
                    </a:solidFill>
                  </a:tcPr>
                </a:tc>
                <a:tc>
                  <a:txBody>
                    <a:bodyPr/>
                    <a:lstStyle/>
                    <a:p>
                      <a:r>
                        <a:rPr sz="1650" b="1">
                          <a:solidFill>
                            <a:srgbClr val="FFFFFF"/>
                          </a:solidFill>
                          <a:latin typeface="Aptos"/>
                          <a:ea typeface="Aptos"/>
                          <a:cs typeface="Aptos"/>
                        </a:rPr>
                        <a:t>Design response</a:t>
                      </a:r>
                    </a:p>
                  </a:txBody>
                  <a:tcPr marL="91440" marR="91440" marT="45720" marB="45720">
                    <a:solidFill>
                      <a:srgbClr val="142238"/>
                    </a:solidFill>
                  </a:tcPr>
                </a:tc>
                <a:tc>
                  <a:txBody>
                    <a:bodyPr/>
                    <a:lstStyle/>
                    <a:p>
                      <a:r>
                        <a:rPr sz="1650" b="1">
                          <a:solidFill>
                            <a:srgbClr val="FFFFFF"/>
                          </a:solidFill>
                          <a:latin typeface="Aptos"/>
                          <a:ea typeface="Aptos"/>
                          <a:cs typeface="Aptos"/>
                        </a:rPr>
                        <a:t>Customer implication</a:t>
                      </a:r>
                    </a:p>
                  </a:txBody>
                  <a:tcPr marL="91440" marR="91440" marT="45720" marB="45720">
                    <a:solidFill>
                      <a:srgbClr val="142238"/>
                    </a:solidFill>
                  </a:tcPr>
                </a:tc>
              </a:tr>
              <a:tr h="647700">
                <a:tc>
                  <a:txBody>
                    <a:bodyPr/>
                    <a:lstStyle/>
                    <a:p>
                      <a:r>
                        <a:rPr sz="1650" b="1">
                          <a:solidFill>
                            <a:srgbClr val="142238"/>
                          </a:solidFill>
                          <a:latin typeface="Aptos"/>
                          <a:ea typeface="Aptos"/>
                          <a:cs typeface="Aptos"/>
                        </a:rPr>
                        <a:t>A century of mixed material</a:t>
                      </a:r>
                    </a:p>
                  </a:txBody>
                  <a:tcPr marL="91440" marR="91440" marT="45720" marB="45720">
                    <a:solidFill>
                      <a:srgbClr val="F3F7F9"/>
                    </a:solidFill>
                  </a:tcPr>
                </a:tc>
                <a:tc>
                  <a:txBody>
                    <a:bodyPr/>
                    <a:lstStyle/>
                    <a:p>
                      <a:r>
                        <a:rPr sz="1650" b="0">
                          <a:solidFill>
                            <a:srgbClr val="142238"/>
                          </a:solidFill>
                          <a:latin typeface="Aptos"/>
                          <a:ea typeface="Aptos"/>
                          <a:cs typeface="Aptos"/>
                        </a:rPr>
                        <a:t>Preserve raw evidence; assess quality cohorts</a:t>
                      </a:r>
                    </a:p>
                  </a:txBody>
                  <a:tcPr marL="91440" marR="91440" marT="45720" marB="45720">
                    <a:solidFill>
                      <a:srgbClr val="F3F7F9"/>
                    </a:solidFill>
                  </a:tcPr>
                </a:tc>
                <a:tc>
                  <a:txBody>
                    <a:bodyPr/>
                    <a:lstStyle/>
                    <a:p>
                      <a:r>
                        <a:rPr sz="1650" b="0">
                          <a:solidFill>
                            <a:srgbClr val="142238"/>
                          </a:solidFill>
                          <a:latin typeface="Aptos"/>
                          <a:ea typeface="Aptos"/>
                          <a:cs typeface="Aptos"/>
                        </a:rPr>
                        <a:t>Avoid one accuracy claim for all content</a:t>
                      </a:r>
                    </a:p>
                  </a:txBody>
                  <a:tcPr marL="91440" marR="91440" marT="45720" marB="45720">
                    <a:solidFill>
                      <a:srgbClr val="F3F7F9"/>
                    </a:solidFill>
                  </a:tcPr>
                </a:tc>
              </a:tr>
              <a:tr h="647700">
                <a:tc>
                  <a:txBody>
                    <a:bodyPr/>
                    <a:lstStyle/>
                    <a:p>
                      <a:r>
                        <a:rPr sz="1650" b="1">
                          <a:solidFill>
                            <a:srgbClr val="142238"/>
                          </a:solidFill>
                          <a:latin typeface="Aptos"/>
                          <a:ea typeface="Aptos"/>
                          <a:cs typeface="Aptos"/>
                        </a:rPr>
                        <a:t>Multiple copies and edits</a:t>
                      </a:r>
                    </a:p>
                  </a:txBody>
                  <a:tcPr marL="91440" marR="91440" marT="45720" marB="45720">
                    <a:solidFill>
                      <a:srgbClr val="FFFFFF"/>
                    </a:solidFill>
                  </a:tcPr>
                </a:tc>
                <a:tc>
                  <a:txBody>
                    <a:bodyPr/>
                    <a:lstStyle/>
                    <a:p>
                      <a:r>
                        <a:rPr sz="1650" b="0">
                          <a:solidFill>
                            <a:srgbClr val="142238"/>
                          </a:solidFill>
                          <a:latin typeface="Aptos"/>
                          <a:ea typeface="Aptos"/>
                          <a:cs typeface="Aptos"/>
                        </a:rPr>
                        <a:t>Separate recording versions and clocks</a:t>
                      </a:r>
                    </a:p>
                  </a:txBody>
                  <a:tcPr marL="91440" marR="91440" marT="45720" marB="45720">
                    <a:solidFill>
                      <a:srgbClr val="FFFFFF"/>
                    </a:solidFill>
                  </a:tcPr>
                </a:tc>
                <a:tc>
                  <a:txBody>
                    <a:bodyPr/>
                    <a:lstStyle/>
                    <a:p>
                      <a:r>
                        <a:rPr sz="1650" b="0">
                          <a:solidFill>
                            <a:srgbClr val="142238"/>
                          </a:solidFill>
                          <a:latin typeface="Aptos"/>
                          <a:ea typeface="Aptos"/>
                          <a:cs typeface="Aptos"/>
                        </a:rPr>
                        <a:t>Do not transfer timestamps across copies</a:t>
                      </a:r>
                    </a:p>
                  </a:txBody>
                  <a:tcPr marL="91440" marR="91440" marT="45720" marB="45720">
                    <a:solidFill>
                      <a:srgbClr val="FFFFFF"/>
                    </a:solidFill>
                  </a:tcPr>
                </a:tc>
              </a:tr>
              <a:tr h="647700">
                <a:tc>
                  <a:txBody>
                    <a:bodyPr/>
                    <a:lstStyle/>
                    <a:p>
                      <a:r>
                        <a:rPr sz="1650" b="1">
                          <a:solidFill>
                            <a:srgbClr val="142238"/>
                          </a:solidFill>
                          <a:latin typeface="Aptos"/>
                          <a:ea typeface="Aptos"/>
                          <a:cs typeface="Aptos"/>
                        </a:rPr>
                        <a:t>Sensitive content and rights</a:t>
                      </a:r>
                    </a:p>
                  </a:txBody>
                  <a:tcPr marL="91440" marR="91440" marT="45720" marB="45720">
                    <a:solidFill>
                      <a:srgbClr val="F3F7F9"/>
                    </a:solidFill>
                  </a:tcPr>
                </a:tc>
                <a:tc>
                  <a:txBody>
                    <a:bodyPr/>
                    <a:lstStyle/>
                    <a:p>
                      <a:r>
                        <a:rPr sz="1650" b="0">
                          <a:solidFill>
                            <a:srgbClr val="142238"/>
                          </a:solidFill>
                          <a:latin typeface="Aptos"/>
                          <a:ea typeface="Aptos"/>
                          <a:cs typeface="Aptos"/>
                        </a:rPr>
                        <a:t>Filter both retrieval branches; recheck delivery</a:t>
                      </a:r>
                    </a:p>
                  </a:txBody>
                  <a:tcPr marL="91440" marR="91440" marT="45720" marB="45720">
                    <a:solidFill>
                      <a:srgbClr val="F3F7F9"/>
                    </a:solidFill>
                  </a:tcPr>
                </a:tc>
                <a:tc>
                  <a:txBody>
                    <a:bodyPr/>
                    <a:lstStyle/>
                    <a:p>
                      <a:r>
                        <a:rPr sz="1650" b="0">
                          <a:solidFill>
                            <a:srgbClr val="142238"/>
                          </a:solidFill>
                          <a:latin typeface="Aptos"/>
                          <a:ea typeface="Aptos"/>
                          <a:cs typeface="Aptos"/>
                        </a:rPr>
                        <a:t>Search relevance does not grant permission</a:t>
                      </a:r>
                    </a:p>
                  </a:txBody>
                  <a:tcPr marL="91440" marR="91440" marT="45720" marB="45720">
                    <a:solidFill>
                      <a:srgbClr val="F3F7F9"/>
                    </a:solidFill>
                  </a:tcPr>
                </a:tc>
              </a:tr>
              <a:tr h="647700">
                <a:tc>
                  <a:txBody>
                    <a:bodyPr/>
                    <a:lstStyle/>
                    <a:p>
                      <a:r>
                        <a:rPr sz="1650" b="1">
                          <a:solidFill>
                            <a:srgbClr val="142238"/>
                          </a:solidFill>
                          <a:latin typeface="Aptos"/>
                          <a:ea typeface="Aptos"/>
                          <a:cs typeface="Aptos"/>
                        </a:rPr>
                        <a:t>Small team and budget cycles</a:t>
                      </a:r>
                    </a:p>
                  </a:txBody>
                  <a:tcPr marL="91440" marR="91440" marT="45720" marB="45720">
                    <a:solidFill>
                      <a:srgbClr val="FFFFFF"/>
                    </a:solidFill>
                  </a:tcPr>
                </a:tc>
                <a:tc>
                  <a:txBody>
                    <a:bodyPr/>
                    <a:lstStyle/>
                    <a:p>
                      <a:r>
                        <a:rPr sz="1650" b="0">
                          <a:solidFill>
                            <a:srgbClr val="142238"/>
                          </a:solidFill>
                          <a:latin typeface="Aptos"/>
                          <a:ea typeface="Aptos"/>
                          <a:cs typeface="Aptos"/>
                        </a:rPr>
                        <a:t>Managed processing; phased backfill</a:t>
                      </a:r>
                    </a:p>
                  </a:txBody>
                  <a:tcPr marL="91440" marR="91440" marT="45720" marB="45720">
                    <a:solidFill>
                      <a:srgbClr val="FFFFFF"/>
                    </a:solidFill>
                  </a:tcPr>
                </a:tc>
                <a:tc>
                  <a:txBody>
                    <a:bodyPr/>
                    <a:lstStyle/>
                    <a:p>
                      <a:r>
                        <a:rPr sz="1650" b="0">
                          <a:solidFill>
                            <a:srgbClr val="142238"/>
                          </a:solidFill>
                          <a:latin typeface="Aptos"/>
                          <a:ea typeface="Aptos"/>
                          <a:cs typeface="Aptos"/>
                        </a:rPr>
                        <a:t>Measure review effort before expansion</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544A8C7-9F3B-4A1E-A72D-94240B7BDDD8}"/>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4488E89-5021-46A5-AC9E-333F0A9D6848}"/>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NHA retains authority over catalogue corrections, rights and physical custody.</a:t>
            </a:r>
          </a:p>
        </p:txBody>
      </p:sp>
    </p:spTree>
    <p:extLst>
      <p:ext uri="{BB962C8B-B14F-4D97-AF65-F5344CB8AC3E}">
        <p14:creationId xmlns:p14="http://schemas.microsoft.com/office/powerpoint/2010/main" val="3207269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C35BD99-3EC9-45CD-B869-5A781CF7856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5B8824-FED2-4747-A724-ED6A4835CBFC}"/>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04 / EVIDENCE INTEGRITY</a:t>
            </a:r>
          </a:p>
        </p:txBody>
      </p:sp>
      <p:sp>
        <p:nvSpPr>
          <p:cNvPr id="3" name="">
            <a:extLst xmlns:a="http://schemas.openxmlformats.org/drawingml/2006/main">
              <a:ext uri="{FF2B5EF4-FFF2-40B4-BE49-F238E27FC236}">
                <a16:creationId xmlns:a16="http://schemas.microsoft.com/office/drawing/2014/main" id="{72CCFE49-58A7-4134-ACED-863B7220D763}"/>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The same words can sit on different clocks</a:t>
            </a:r>
          </a:p>
        </p:txBody>
      </p:sp>
      <p:sp>
        <p:nvSpPr>
          <p:cNvPr id="4" name="">
            <a:extLst xmlns:a="http://schemas.openxmlformats.org/drawingml/2006/main">
              <a:ext uri="{FF2B5EF4-FFF2-40B4-BE49-F238E27FC236}">
                <a16:creationId xmlns:a16="http://schemas.microsoft.com/office/drawing/2014/main" id="{D1B69ABE-0198-4DDC-8E7E-E8B4EA952300}"/>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488D1F-1D50-4AEB-9EEC-22D9415D52CA}"/>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captured Churchill queries; synthetic fixtures</a:t>
            </a:r>
          </a:p>
        </p:txBody>
      </p:sp>
      <p:sp>
        <p:nvSpPr>
          <p:cNvPr id="6" name="">
            <a:extLst xmlns:a="http://schemas.openxmlformats.org/drawingml/2006/main">
              <a:ext uri="{FF2B5EF4-FFF2-40B4-BE49-F238E27FC236}">
                <a16:creationId xmlns:a16="http://schemas.microsoft.com/office/drawing/2014/main" id="{06C51907-F328-478F-8C72-74AEF969728D}"/>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962D31FF-E147-4630-BFC1-03020D5BBD76}"/>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723B80AC-912A-406C-80DA-95ACDFC6D921}"/>
              </a:ext>
            </a:extLst>
          </p:cNvPr>
          <p:cNvSpPr>
            <a:spLocks xmlns:a="http://schemas.openxmlformats.org/drawingml/2006/main" noGrp="1"/>
          </p:cNvSpPr>
          <p:nvPr/>
        </p:nvSpPr>
        <p:spPr>
          <a:xfrm xmlns:a="http://schemas.openxmlformats.org/drawingml/2006/main">
            <a:off x="4429125" y="2009775"/>
            <a:ext cx="3333750" cy="790575"/>
          </a:xfrm>
          <a:prstGeom xmlns:a="http://schemas.openxmlformats.org/drawingml/2006/main" prst="rect">
            <a:avLst/>
          </a:prstGeom>
          <a:solidFill xmlns:a="http://schemas.openxmlformats.org/drawingml/2006/main">
            <a:srgbClr val="D9F2E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Historical event</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4 June 1940</a:t>
            </a:r>
          </a:p>
        </p:txBody>
      </p:sp>
      <p:sp>
        <p:nvSpPr>
          <p:cNvPr id="9" name="">
            <a:extLst xmlns:a="http://schemas.openxmlformats.org/drawingml/2006/main">
              <a:ext uri="{FF2B5EF4-FFF2-40B4-BE49-F238E27FC236}">
                <a16:creationId xmlns:a16="http://schemas.microsoft.com/office/drawing/2014/main" id="{68FB7411-9CF6-4BAB-8E19-AB67ED7EA02A}"/>
              </a:ext>
            </a:extLst>
          </p:cNvPr>
          <p:cNvSpPr>
            <a:spLocks xmlns:a="http://schemas.openxmlformats.org/drawingml/2006/main" noGrp="1"/>
          </p:cNvSpPr>
          <p:nvPr/>
        </p:nvSpPr>
        <p:spPr>
          <a:xfrm xmlns:a="http://schemas.openxmlformats.org/drawingml/2006/main">
            <a:off x="952500" y="3352800"/>
            <a:ext cx="4286250" cy="72390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Full recording version</a:t>
            </a:r>
          </a:p>
        </p:txBody>
      </p:sp>
      <p:sp>
        <p:nvSpPr>
          <p:cNvPr id="10" name="">
            <a:extLst xmlns:a="http://schemas.openxmlformats.org/drawingml/2006/main">
              <a:ext uri="{FF2B5EF4-FFF2-40B4-BE49-F238E27FC236}">
                <a16:creationId xmlns:a16="http://schemas.microsoft.com/office/drawing/2014/main" id="{F2D29219-1428-470D-A728-68B975AC790A}"/>
              </a:ext>
            </a:extLst>
          </p:cNvPr>
          <p:cNvSpPr>
            <a:spLocks xmlns:a="http://schemas.openxmlformats.org/drawingml/2006/main" noGrp="1"/>
          </p:cNvSpPr>
          <p:nvPr/>
        </p:nvSpPr>
        <p:spPr>
          <a:xfrm xmlns:a="http://schemas.openxmlformats.org/drawingml/2006/main">
            <a:off x="6953250" y="3352800"/>
            <a:ext cx="4286250" cy="72390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Edited recording version</a:t>
            </a:r>
          </a:p>
        </p:txBody>
      </p:sp>
      <p:cxnSp>
        <p:nvCxnSpPr>
          <p:cNvPr id="28" name=""/>
          <p:cNvCxnSpPr>
            <a:stCxn xmlns:a="http://schemas.openxmlformats.org/drawingml/2006/main" id="8" idx="2"/>
            <a:endCxn xmlns:a="http://schemas.openxmlformats.org/drawingml/2006/main" id="9" idx="0"/>
          </p:cNvCxnSpPr>
          <p:nvPr/>
        </p:nvCxnSpPr>
        <p:spPr>
          <a:xfrm xmlns:a="http://schemas.openxmlformats.org/drawingml/2006/main" flipH="1">
            <a:off x="3095625" y="2800350"/>
            <a:ext cx="3000375" cy="55245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29" name=""/>
          <p:cNvCxnSpPr>
            <a:stCxn xmlns:a="http://schemas.openxmlformats.org/drawingml/2006/main" id="8" idx="2"/>
            <a:endCxn xmlns:a="http://schemas.openxmlformats.org/drawingml/2006/main" id="10" idx="0"/>
          </p:cNvCxnSpPr>
          <p:nvPr/>
        </p:nvCxnSpPr>
        <p:spPr>
          <a:xfrm xmlns:a="http://schemas.openxmlformats.org/drawingml/2006/main">
            <a:off x="6096000" y="2800350"/>
            <a:ext cx="3000375" cy="552450"/>
          </a:xfrm>
          <a:prstGeom xmlns:a="http://schemas.openxmlformats.org/drawingml/2006/main" prst="straightConnector1">
            <a:avLst/>
          </a:prstGeom>
          <a:ln xmlns:a="http://schemas.openxmlformats.org/drawingml/2006/main" w="19050">
            <a:solidFill>
              <a:srgbClr val="0A887E"/>
            </a:solidFill>
            <a:tailEnd type="triangle" w="med" len="med"/>
          </a:ln>
        </p:spPr>
      </p:cxnSp>
      <p:sp>
        <p:nvSpPr>
          <p:cNvPr id="13" name="">
            <a:extLst xmlns:a="http://schemas.openxmlformats.org/drawingml/2006/main">
              <a:ext uri="{FF2B5EF4-FFF2-40B4-BE49-F238E27FC236}">
                <a16:creationId xmlns:a16="http://schemas.microsoft.com/office/drawing/2014/main" id="{A2675739-88EA-437F-BB67-61D4E1240E15}"/>
              </a:ext>
            </a:extLst>
          </p:cNvPr>
          <p:cNvSpPr>
            <a:spLocks xmlns:a="http://schemas.openxmlformats.org/drawingml/2006/main" noGrp="1"/>
          </p:cNvSpPr>
          <p:nvPr/>
        </p:nvSpPr>
        <p:spPr>
          <a:xfrm xmlns:a="http://schemas.openxmlformats.org/drawingml/2006/main">
            <a:off x="1143000" y="433387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A887E"/>
                </a:solidFill>
                <a:latin typeface="Aptos"/>
                <a:ea typeface="Aptos"/>
                <a:cs typeface="Aptos"/>
              </a:defRPr>
            </a:pPr>
            <a:r>
              <a:rPr sz="2850" b="1">
                <a:solidFill>
                  <a:srgbClr val="0A887E"/>
                </a:solidFill>
                <a:latin typeface="Aptos"/>
                <a:ea typeface="Aptos"/>
                <a:cs typeface="Aptos"/>
              </a:rPr>
              <a:t>120.000–141.350 s</a:t>
            </a:r>
          </a:p>
        </p:txBody>
      </p:sp>
      <p:sp>
        <p:nvSpPr>
          <p:cNvPr id="14" name="">
            <a:extLst xmlns:a="http://schemas.openxmlformats.org/drawingml/2006/main">
              <a:ext uri="{FF2B5EF4-FFF2-40B4-BE49-F238E27FC236}">
                <a16:creationId xmlns:a16="http://schemas.microsoft.com/office/drawing/2014/main" id="{347460F5-A278-4A10-82A4-A30A5FC6C2D0}"/>
              </a:ext>
            </a:extLst>
          </p:cNvPr>
          <p:cNvSpPr>
            <a:spLocks xmlns:a="http://schemas.openxmlformats.org/drawingml/2006/main" noGrp="1"/>
          </p:cNvSpPr>
          <p:nvPr/>
        </p:nvSpPr>
        <p:spPr>
          <a:xfrm xmlns:a="http://schemas.openxmlformats.org/drawingml/2006/main">
            <a:off x="7143750" y="433387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A887E"/>
                </a:solidFill>
                <a:latin typeface="Aptos"/>
                <a:ea typeface="Aptos"/>
                <a:cs typeface="Aptos"/>
              </a:defRPr>
            </a:pPr>
            <a:r>
              <a:rPr sz="2850" b="1">
                <a:solidFill>
                  <a:srgbClr val="0A887E"/>
                </a:solidFill>
                <a:latin typeface="Aptos"/>
                <a:ea typeface="Aptos"/>
                <a:cs typeface="Aptos"/>
              </a:rPr>
              <a:t>18.000–39.350 s</a:t>
            </a:r>
          </a:p>
        </p:txBody>
      </p:sp>
      <p:sp>
        <p:nvSpPr>
          <p:cNvPr id="15" name="">
            <a:extLst xmlns:a="http://schemas.openxmlformats.org/drawingml/2006/main">
              <a:ext uri="{FF2B5EF4-FFF2-40B4-BE49-F238E27FC236}">
                <a16:creationId xmlns:a16="http://schemas.microsoft.com/office/drawing/2014/main" id="{159A0F10-3A2A-4216-AA3B-DE3E91F29FF9}"/>
              </a:ext>
            </a:extLst>
          </p:cNvPr>
          <p:cNvSpPr>
            <a:spLocks xmlns:a="http://schemas.openxmlformats.org/drawingml/2006/main" noGrp="1"/>
          </p:cNvSpPr>
          <p:nvPr/>
        </p:nvSpPr>
        <p:spPr>
          <a:xfrm xmlns:a="http://schemas.openxmlformats.org/drawingml/2006/main">
            <a:off x="2809875" y="5114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7083"/>
                </a:solidFill>
                <a:latin typeface="Aptos"/>
                <a:ea typeface="Aptos"/>
                <a:cs typeface="Aptos"/>
              </a:defRPr>
            </a:pPr>
            <a:r>
              <a:rPr sz="1950" b="0">
                <a:solidFill>
                  <a:srgbClr val="597083"/>
                </a:solidFill>
                <a:latin typeface="Aptos"/>
                <a:ea typeface="Aptos"/>
                <a:cs typeface="Aptos"/>
              </a:rPr>
              <a:t>Same quotation • independent source timeline</a:t>
            </a:r>
          </a:p>
        </p:txBody>
      </p:sp>
      <p:sp>
        <p:nvSpPr>
          <p:cNvPr id="16" name="">
            <a:extLst xmlns:a="http://schemas.openxmlformats.org/drawingml/2006/main">
              <a:ext uri="{FF2B5EF4-FFF2-40B4-BE49-F238E27FC236}">
                <a16:creationId xmlns:a16="http://schemas.microsoft.com/office/drawing/2014/main" id="{52808937-92B5-4283-ACC0-68099FC3F9E9}"/>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AAC669C-22A9-4C38-85AB-DCDD3AB89221}"/>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The unit of retrieval is a source-backed passage in a specific recording version.</a:t>
            </a:r>
          </a:p>
        </p:txBody>
      </p:sp>
    </p:spTree>
    <p:extLst>
      <p:ext uri="{BB962C8B-B14F-4D97-AF65-F5344CB8AC3E}">
        <p14:creationId xmlns:p14="http://schemas.microsoft.com/office/powerpoint/2010/main" val="14663192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CC40933-15EB-4E56-B2D5-0300215A02E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4C0E89-D5E6-41E1-B240-62F9B6B4E2A7}"/>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05 / SOLUTION ARCHITECTURE</a:t>
            </a:r>
          </a:p>
        </p:txBody>
      </p:sp>
      <p:sp>
        <p:nvSpPr>
          <p:cNvPr id="3" name="">
            <a:extLst xmlns:a="http://schemas.openxmlformats.org/drawingml/2006/main">
              <a:ext uri="{FF2B5EF4-FFF2-40B4-BE49-F238E27FC236}">
                <a16:creationId xmlns:a16="http://schemas.microsoft.com/office/drawing/2014/main" id="{67FA11F4-096D-4886-935B-9A84C01EB515}"/>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Separate durable processing from interactive search</a:t>
            </a:r>
          </a:p>
        </p:txBody>
      </p:sp>
      <p:sp>
        <p:nvSpPr>
          <p:cNvPr id="4" name="">
            <a:extLst xmlns:a="http://schemas.openxmlformats.org/drawingml/2006/main">
              <a:ext uri="{FF2B5EF4-FFF2-40B4-BE49-F238E27FC236}">
                <a16:creationId xmlns:a16="http://schemas.microsoft.com/office/drawing/2014/main" id="{7EDDE75B-B272-484E-B9A4-34A5FFB0FE85}"/>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776477-DD9E-4D5B-AA86-C28D50020F26}"/>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6A587E62-A856-4747-BFAB-46514E04985D}"/>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32A17BA2-78FE-4DF8-BE4C-F31B9C0CB78C}"/>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3D0FEFE9-E5CB-485E-8932-F01416BBD54C}"/>
              </a:ext>
            </a:extLst>
          </p:cNvPr>
          <p:cNvSpPr>
            <a:spLocks xmlns:a="http://schemas.openxmlformats.org/drawingml/2006/main" noGrp="1"/>
          </p:cNvSpPr>
          <p:nvPr/>
        </p:nvSpPr>
        <p:spPr>
          <a:xfrm xmlns:a="http://schemas.openxmlformats.org/drawingml/2006/main">
            <a:off x="514350" y="19431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A887E"/>
                </a:solidFill>
                <a:latin typeface="Aptos"/>
                <a:ea typeface="Aptos"/>
                <a:cs typeface="Aptos"/>
              </a:defRPr>
            </a:pPr>
            <a:r>
              <a:rPr sz="1200" b="1">
                <a:solidFill>
                  <a:srgbClr val="0A887E"/>
                </a:solidFill>
                <a:latin typeface="Aptos"/>
                <a:ea typeface="Aptos"/>
                <a:cs typeface="Aptos"/>
              </a:rPr>
              <a:t>ASYNCHRONOUS INGESTION</a:t>
            </a:r>
          </a:p>
        </p:txBody>
      </p:sp>
      <p:sp>
        <p:nvSpPr>
          <p:cNvPr id="9" name="">
            <a:extLst xmlns:a="http://schemas.openxmlformats.org/drawingml/2006/main">
              <a:ext uri="{FF2B5EF4-FFF2-40B4-BE49-F238E27FC236}">
                <a16:creationId xmlns:a16="http://schemas.microsoft.com/office/drawing/2014/main" id="{7B35A650-ED30-48C4-B3D0-D722EB36FC8F}"/>
              </a:ext>
            </a:extLst>
          </p:cNvPr>
          <p:cNvSpPr>
            <a:spLocks xmlns:a="http://schemas.openxmlformats.org/drawingml/2006/main" noGrp="1"/>
          </p:cNvSpPr>
          <p:nvPr/>
        </p:nvSpPr>
        <p:spPr>
          <a:xfrm xmlns:a="http://schemas.openxmlformats.org/drawingml/2006/main">
            <a:off x="514350" y="2390775"/>
            <a:ext cx="2038350" cy="89535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Approved copies</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S3 + SQS</a:t>
            </a:r>
          </a:p>
        </p:txBody>
      </p:sp>
      <p:sp>
        <p:nvSpPr>
          <p:cNvPr id="10" name="">
            <a:extLst xmlns:a="http://schemas.openxmlformats.org/drawingml/2006/main">
              <a:ext uri="{FF2B5EF4-FFF2-40B4-BE49-F238E27FC236}">
                <a16:creationId xmlns:a16="http://schemas.microsoft.com/office/drawing/2014/main" id="{8019F5CE-B84C-40A5-9484-CEE321DB0446}"/>
              </a:ext>
            </a:extLst>
          </p:cNvPr>
          <p:cNvSpPr>
            <a:spLocks xmlns:a="http://schemas.openxmlformats.org/drawingml/2006/main" noGrp="1"/>
          </p:cNvSpPr>
          <p:nvPr/>
        </p:nvSpPr>
        <p:spPr>
          <a:xfrm xmlns:a="http://schemas.openxmlformats.org/drawingml/2006/main">
            <a:off x="2790825" y="2390775"/>
            <a:ext cx="2038350" cy="89535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Orchestrate</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Step Functions</a:t>
            </a:r>
          </a:p>
        </p:txBody>
      </p:sp>
      <p:sp>
        <p:nvSpPr>
          <p:cNvPr id="11" name="">
            <a:extLst xmlns:a="http://schemas.openxmlformats.org/drawingml/2006/main">
              <a:ext uri="{FF2B5EF4-FFF2-40B4-BE49-F238E27FC236}">
                <a16:creationId xmlns:a16="http://schemas.microsoft.com/office/drawing/2014/main" id="{2424F25E-8B3F-4F37-B95E-3AB1F37ADB07}"/>
              </a:ext>
            </a:extLst>
          </p:cNvPr>
          <p:cNvSpPr>
            <a:spLocks xmlns:a="http://schemas.openxmlformats.org/drawingml/2006/main" noGrp="1"/>
          </p:cNvSpPr>
          <p:nvPr/>
        </p:nvSpPr>
        <p:spPr>
          <a:xfrm xmlns:a="http://schemas.openxmlformats.org/drawingml/2006/main">
            <a:off x="5067300" y="2390775"/>
            <a:ext cx="2038350" cy="89535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Prepare + ASR</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Fargate /</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Transcribe</a:t>
            </a:r>
          </a:p>
        </p:txBody>
      </p:sp>
      <p:sp>
        <p:nvSpPr>
          <p:cNvPr id="12" name="">
            <a:extLst xmlns:a="http://schemas.openxmlformats.org/drawingml/2006/main">
              <a:ext uri="{FF2B5EF4-FFF2-40B4-BE49-F238E27FC236}">
                <a16:creationId xmlns:a16="http://schemas.microsoft.com/office/drawing/2014/main" id="{96393D5C-3095-4D60-9F86-B147ADD1C5D1}"/>
              </a:ext>
            </a:extLst>
          </p:cNvPr>
          <p:cNvSpPr>
            <a:spLocks xmlns:a="http://schemas.openxmlformats.org/drawingml/2006/main" noGrp="1"/>
          </p:cNvSpPr>
          <p:nvPr/>
        </p:nvSpPr>
        <p:spPr>
          <a:xfrm xmlns:a="http://schemas.openxmlformats.org/drawingml/2006/main">
            <a:off x="7343775" y="2390775"/>
            <a:ext cx="2038350" cy="89535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Segment + embed</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Bedrock</a:t>
            </a:r>
          </a:p>
        </p:txBody>
      </p:sp>
      <p:sp>
        <p:nvSpPr>
          <p:cNvPr id="13" name="">
            <a:extLst xmlns:a="http://schemas.openxmlformats.org/drawingml/2006/main">
              <a:ext uri="{FF2B5EF4-FFF2-40B4-BE49-F238E27FC236}">
                <a16:creationId xmlns:a16="http://schemas.microsoft.com/office/drawing/2014/main" id="{CED1321B-AAAF-456E-85A8-1BE19BB2B581}"/>
              </a:ext>
            </a:extLst>
          </p:cNvPr>
          <p:cNvSpPr>
            <a:spLocks xmlns:a="http://schemas.openxmlformats.org/drawingml/2006/main" noGrp="1"/>
          </p:cNvSpPr>
          <p:nvPr/>
        </p:nvSpPr>
        <p:spPr>
          <a:xfrm xmlns:a="http://schemas.openxmlformats.org/drawingml/2006/main">
            <a:off x="9620250" y="2390775"/>
            <a:ext cx="2038350" cy="89535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Publish search</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Atlas</a:t>
            </a:r>
          </a:p>
        </p:txBody>
      </p:sp>
      <p:cxnSp>
        <p:nvCxnSpPr>
          <p:cNvPr id="43" name=""/>
          <p:cNvCxnSpPr>
            <a:stCxn xmlns:a="http://schemas.openxmlformats.org/drawingml/2006/main" id="9" idx="3"/>
            <a:endCxn xmlns:a="http://schemas.openxmlformats.org/drawingml/2006/main" id="10" idx="1"/>
          </p:cNvCxnSpPr>
          <p:nvPr/>
        </p:nvCxnSpPr>
        <p:spPr>
          <a:xfrm xmlns:a="http://schemas.openxmlformats.org/drawingml/2006/main">
            <a:off x="2552700" y="283845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44" name=""/>
          <p:cNvCxnSpPr>
            <a:stCxn xmlns:a="http://schemas.openxmlformats.org/drawingml/2006/main" id="10" idx="3"/>
            <a:endCxn xmlns:a="http://schemas.openxmlformats.org/drawingml/2006/main" id="11" idx="1"/>
          </p:cNvCxnSpPr>
          <p:nvPr/>
        </p:nvCxnSpPr>
        <p:spPr>
          <a:xfrm xmlns:a="http://schemas.openxmlformats.org/drawingml/2006/main">
            <a:off x="4829175" y="283845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45" name=""/>
          <p:cNvCxnSpPr>
            <a:stCxn xmlns:a="http://schemas.openxmlformats.org/drawingml/2006/main" id="11" idx="3"/>
            <a:endCxn xmlns:a="http://schemas.openxmlformats.org/drawingml/2006/main" id="12" idx="1"/>
          </p:cNvCxnSpPr>
          <p:nvPr/>
        </p:nvCxnSpPr>
        <p:spPr>
          <a:xfrm xmlns:a="http://schemas.openxmlformats.org/drawingml/2006/main">
            <a:off x="7105650" y="283845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46" name=""/>
          <p:cNvCxnSpPr>
            <a:stCxn xmlns:a="http://schemas.openxmlformats.org/drawingml/2006/main" id="12" idx="3"/>
            <a:endCxn xmlns:a="http://schemas.openxmlformats.org/drawingml/2006/main" id="13" idx="1"/>
          </p:cNvCxnSpPr>
          <p:nvPr/>
        </p:nvCxnSpPr>
        <p:spPr>
          <a:xfrm xmlns:a="http://schemas.openxmlformats.org/drawingml/2006/main">
            <a:off x="9382125" y="283845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sp>
        <p:nvSpPr>
          <p:cNvPr id="18" name="">
            <a:extLst xmlns:a="http://schemas.openxmlformats.org/drawingml/2006/main">
              <a:ext uri="{FF2B5EF4-FFF2-40B4-BE49-F238E27FC236}">
                <a16:creationId xmlns:a16="http://schemas.microsoft.com/office/drawing/2014/main" id="{9AC278C8-CB1E-42B4-A88D-7A3B367A72DB}"/>
              </a:ext>
            </a:extLst>
          </p:cNvPr>
          <p:cNvSpPr>
            <a:spLocks xmlns:a="http://schemas.openxmlformats.org/drawingml/2006/main" noGrp="1"/>
          </p:cNvSpPr>
          <p:nvPr/>
        </p:nvSpPr>
        <p:spPr>
          <a:xfrm xmlns:a="http://schemas.openxmlformats.org/drawingml/2006/main">
            <a:off x="514350" y="36576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A887E"/>
                </a:solidFill>
                <a:latin typeface="Aptos"/>
                <a:ea typeface="Aptos"/>
                <a:cs typeface="Aptos"/>
              </a:defRPr>
            </a:pPr>
            <a:r>
              <a:rPr sz="1200" b="1">
                <a:solidFill>
                  <a:srgbClr val="0A887E"/>
                </a:solidFill>
                <a:latin typeface="Aptos"/>
                <a:ea typeface="Aptos"/>
                <a:cs typeface="Aptos"/>
              </a:rPr>
              <a:t>INTERACTIVE RETRIEVAL</a:t>
            </a:r>
          </a:p>
        </p:txBody>
      </p:sp>
      <p:sp>
        <p:nvSpPr>
          <p:cNvPr id="19" name="">
            <a:extLst xmlns:a="http://schemas.openxmlformats.org/drawingml/2006/main">
              <a:ext uri="{FF2B5EF4-FFF2-40B4-BE49-F238E27FC236}">
                <a16:creationId xmlns:a16="http://schemas.microsoft.com/office/drawing/2014/main" id="{F1D91326-A381-4553-BF22-F907957B198A}"/>
              </a:ext>
            </a:extLst>
          </p:cNvPr>
          <p:cNvSpPr>
            <a:spLocks xmlns:a="http://schemas.openxmlformats.org/drawingml/2006/main" noGrp="1"/>
          </p:cNvSpPr>
          <p:nvPr/>
        </p:nvSpPr>
        <p:spPr>
          <a:xfrm xmlns:a="http://schemas.openxmlformats.org/drawingml/2006/main">
            <a:off x="514350" y="4086225"/>
            <a:ext cx="2038350" cy="895350"/>
          </a:xfrm>
          <a:prstGeom xmlns:a="http://schemas.openxmlformats.org/drawingml/2006/main" prst="rect">
            <a:avLst/>
          </a:prstGeom>
          <a:solidFill xmlns:a="http://schemas.openxmlformats.org/drawingml/2006/main">
            <a:srgbClr val="DDEB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User identity</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NHA IdP / Cognito</a:t>
            </a:r>
          </a:p>
        </p:txBody>
      </p:sp>
      <p:sp>
        <p:nvSpPr>
          <p:cNvPr id="20" name="">
            <a:extLst xmlns:a="http://schemas.openxmlformats.org/drawingml/2006/main">
              <a:ext uri="{FF2B5EF4-FFF2-40B4-BE49-F238E27FC236}">
                <a16:creationId xmlns:a16="http://schemas.microsoft.com/office/drawing/2014/main" id="{AD30B771-DC81-4CD4-B6AF-B20D9DF64E21}"/>
              </a:ext>
            </a:extLst>
          </p:cNvPr>
          <p:cNvSpPr>
            <a:spLocks xmlns:a="http://schemas.openxmlformats.org/drawingml/2006/main" noGrp="1"/>
          </p:cNvSpPr>
          <p:nvPr/>
        </p:nvSpPr>
        <p:spPr>
          <a:xfrm xmlns:a="http://schemas.openxmlformats.org/drawingml/2006/main">
            <a:off x="2790825" y="4086225"/>
            <a:ext cx="2038350" cy="895350"/>
          </a:xfrm>
          <a:prstGeom xmlns:a="http://schemas.openxmlformats.org/drawingml/2006/main" prst="rect">
            <a:avLst/>
          </a:prstGeom>
          <a:solidFill xmlns:a="http://schemas.openxmlformats.org/drawingml/2006/main">
            <a:srgbClr val="DDEB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Search API</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API Gateway</a:t>
            </a:r>
          </a:p>
        </p:txBody>
      </p:sp>
      <p:sp>
        <p:nvSpPr>
          <p:cNvPr id="21" name="">
            <a:extLst xmlns:a="http://schemas.openxmlformats.org/drawingml/2006/main">
              <a:ext uri="{FF2B5EF4-FFF2-40B4-BE49-F238E27FC236}">
                <a16:creationId xmlns:a16="http://schemas.microsoft.com/office/drawing/2014/main" id="{72F09C81-990F-4CFD-9613-A2B03859E85A}"/>
              </a:ext>
            </a:extLst>
          </p:cNvPr>
          <p:cNvSpPr>
            <a:spLocks xmlns:a="http://schemas.openxmlformats.org/drawingml/2006/main" noGrp="1"/>
          </p:cNvSpPr>
          <p:nvPr/>
        </p:nvSpPr>
        <p:spPr>
          <a:xfrm xmlns:a="http://schemas.openxmlformats.org/drawingml/2006/main">
            <a:off x="5067300" y="4086225"/>
            <a:ext cx="2038350" cy="895350"/>
          </a:xfrm>
          <a:prstGeom xmlns:a="http://schemas.openxmlformats.org/drawingml/2006/main" prst="rect">
            <a:avLst/>
          </a:prstGeom>
          <a:solidFill xmlns:a="http://schemas.openxmlformats.org/drawingml/2006/main">
            <a:srgbClr val="DDEB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Permitted retrieval</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Lexical + vector</a:t>
            </a:r>
          </a:p>
        </p:txBody>
      </p:sp>
      <p:sp>
        <p:nvSpPr>
          <p:cNvPr id="22" name="">
            <a:extLst xmlns:a="http://schemas.openxmlformats.org/drawingml/2006/main">
              <a:ext uri="{FF2B5EF4-FFF2-40B4-BE49-F238E27FC236}">
                <a16:creationId xmlns:a16="http://schemas.microsoft.com/office/drawing/2014/main" id="{F3C30FE6-9309-4B8B-AEF4-DB3925380758}"/>
              </a:ext>
            </a:extLst>
          </p:cNvPr>
          <p:cNvSpPr>
            <a:spLocks xmlns:a="http://schemas.openxmlformats.org/drawingml/2006/main" noGrp="1"/>
          </p:cNvSpPr>
          <p:nvPr/>
        </p:nvSpPr>
        <p:spPr>
          <a:xfrm xmlns:a="http://schemas.openxmlformats.org/drawingml/2006/main">
            <a:off x="7343775" y="4086225"/>
            <a:ext cx="2038350" cy="895350"/>
          </a:xfrm>
          <a:prstGeom xmlns:a="http://schemas.openxmlformats.org/drawingml/2006/main" prst="rect">
            <a:avLst/>
          </a:prstGeom>
          <a:solidFill xmlns:a="http://schemas.openxmlformats.org/drawingml/2006/main">
            <a:srgbClr val="DDEB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Resolve evidence</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Version + timing</a:t>
            </a:r>
          </a:p>
        </p:txBody>
      </p:sp>
      <p:sp>
        <p:nvSpPr>
          <p:cNvPr id="23" name="">
            <a:extLst xmlns:a="http://schemas.openxmlformats.org/drawingml/2006/main">
              <a:ext uri="{FF2B5EF4-FFF2-40B4-BE49-F238E27FC236}">
                <a16:creationId xmlns:a16="http://schemas.microsoft.com/office/drawing/2014/main" id="{8BEA0C8F-181F-4638-B8A9-715CFEEE8706}"/>
              </a:ext>
            </a:extLst>
          </p:cNvPr>
          <p:cNvSpPr>
            <a:spLocks xmlns:a="http://schemas.openxmlformats.org/drawingml/2006/main" noGrp="1"/>
          </p:cNvSpPr>
          <p:nvPr/>
        </p:nvSpPr>
        <p:spPr>
          <a:xfrm xmlns:a="http://schemas.openxmlformats.org/drawingml/2006/main">
            <a:off x="9620250" y="4086225"/>
            <a:ext cx="2038350" cy="895350"/>
          </a:xfrm>
          <a:prstGeom xmlns:a="http://schemas.openxmlformats.org/drawingml/2006/main" prst="rect">
            <a:avLst/>
          </a:prstGeom>
          <a:solidFill xmlns:a="http://schemas.openxmlformats.org/drawingml/2006/main">
            <a:srgbClr val="DDEB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Recheck action</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Preview / request</a:t>
            </a:r>
          </a:p>
        </p:txBody>
      </p:sp>
      <p:cxnSp>
        <p:nvCxnSpPr>
          <p:cNvPr id="53" name=""/>
          <p:cNvCxnSpPr>
            <a:stCxn xmlns:a="http://schemas.openxmlformats.org/drawingml/2006/main" id="19" idx="3"/>
            <a:endCxn xmlns:a="http://schemas.openxmlformats.org/drawingml/2006/main" id="20" idx="1"/>
          </p:cNvCxnSpPr>
          <p:nvPr/>
        </p:nvCxnSpPr>
        <p:spPr>
          <a:xfrm xmlns:a="http://schemas.openxmlformats.org/drawingml/2006/main">
            <a:off x="2552700" y="453390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54" name=""/>
          <p:cNvCxnSpPr>
            <a:stCxn xmlns:a="http://schemas.openxmlformats.org/drawingml/2006/main" id="20" idx="3"/>
            <a:endCxn xmlns:a="http://schemas.openxmlformats.org/drawingml/2006/main" id="21" idx="1"/>
          </p:cNvCxnSpPr>
          <p:nvPr/>
        </p:nvCxnSpPr>
        <p:spPr>
          <a:xfrm xmlns:a="http://schemas.openxmlformats.org/drawingml/2006/main">
            <a:off x="4829175" y="453390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55" name=""/>
          <p:cNvCxnSpPr>
            <a:stCxn xmlns:a="http://schemas.openxmlformats.org/drawingml/2006/main" id="21" idx="3"/>
            <a:endCxn xmlns:a="http://schemas.openxmlformats.org/drawingml/2006/main" id="22" idx="1"/>
          </p:cNvCxnSpPr>
          <p:nvPr/>
        </p:nvCxnSpPr>
        <p:spPr>
          <a:xfrm xmlns:a="http://schemas.openxmlformats.org/drawingml/2006/main">
            <a:off x="7105650" y="453390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56" name=""/>
          <p:cNvCxnSpPr>
            <a:stCxn xmlns:a="http://schemas.openxmlformats.org/drawingml/2006/main" id="22" idx="3"/>
            <a:endCxn xmlns:a="http://schemas.openxmlformats.org/drawingml/2006/main" id="23" idx="1"/>
          </p:cNvCxnSpPr>
          <p:nvPr/>
        </p:nvCxnSpPr>
        <p:spPr>
          <a:xfrm xmlns:a="http://schemas.openxmlformats.org/drawingml/2006/main">
            <a:off x="9382125" y="4533900"/>
            <a:ext cx="238125" cy="0"/>
          </a:xfrm>
          <a:prstGeom xmlns:a="http://schemas.openxmlformats.org/drawingml/2006/main" prst="straightConnector1">
            <a:avLst/>
          </a:prstGeom>
          <a:ln xmlns:a="http://schemas.openxmlformats.org/drawingml/2006/main" w="19050">
            <a:solidFill>
              <a:srgbClr val="0A887E"/>
            </a:solidFill>
            <a:tailEnd type="triangle" w="med" len="med"/>
          </a:ln>
        </p:spPr>
      </p:cxnSp>
      <p:sp>
        <p:nvSpPr>
          <p:cNvPr id="28" name="">
            <a:extLst xmlns:a="http://schemas.openxmlformats.org/drawingml/2006/main">
              <a:ext uri="{FF2B5EF4-FFF2-40B4-BE49-F238E27FC236}">
                <a16:creationId xmlns:a16="http://schemas.microsoft.com/office/drawing/2014/main" id="{401EFCDB-DA37-48C3-85C9-738F94A58673}"/>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BFBACBE-CC3E-4236-8FA8-D7941524783D}"/>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Across both paths: IAM · KMS · secrets · audit · monitoring · NHA-approved region</a:t>
            </a:r>
          </a:p>
        </p:txBody>
      </p:sp>
    </p:spTree>
    <p:extLst>
      <p:ext uri="{BB962C8B-B14F-4D97-AF65-F5344CB8AC3E}">
        <p14:creationId xmlns:p14="http://schemas.microsoft.com/office/powerpoint/2010/main" val="14852646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FBA058B-D216-4F8D-97E2-BFADB559DEA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649125-5047-4D66-98DA-3D51F4BFB163}"/>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06 / INGESTION DISCIPLINE</a:t>
            </a:r>
          </a:p>
        </p:txBody>
      </p:sp>
      <p:sp>
        <p:nvSpPr>
          <p:cNvPr id="3" name="">
            <a:extLst xmlns:a="http://schemas.openxmlformats.org/drawingml/2006/main">
              <a:ext uri="{FF2B5EF4-FFF2-40B4-BE49-F238E27FC236}">
                <a16:creationId xmlns:a16="http://schemas.microsoft.com/office/drawing/2014/main" id="{F251FEA7-F5C1-4084-8CC1-E703807FDBBB}"/>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Publish only when evidence and policy are valid</a:t>
            </a:r>
          </a:p>
        </p:txBody>
      </p:sp>
      <p:sp>
        <p:nvSpPr>
          <p:cNvPr id="4" name="">
            <a:extLst xmlns:a="http://schemas.openxmlformats.org/drawingml/2006/main">
              <a:ext uri="{FF2B5EF4-FFF2-40B4-BE49-F238E27FC236}">
                <a16:creationId xmlns:a16="http://schemas.microsoft.com/office/drawing/2014/main" id="{128F8DD3-6463-476F-9669-CF43892C0397}"/>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CFFCD6-E3F4-44C5-B64C-2B6DFE5D81BE}"/>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07137D00-70F5-4756-9FDE-73F8DE3EF1BD}"/>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22412794-3FE3-4B51-81EC-EAC07647E73C}"/>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1E7A5C00-1118-4060-A0D6-39850AF1BFAF}"/>
              </a:ext>
            </a:extLst>
          </p:cNvPr>
          <p:cNvSpPr>
            <a:spLocks xmlns:a="http://schemas.openxmlformats.org/drawingml/2006/main" noGrp="1"/>
          </p:cNvSpPr>
          <p:nvPr/>
        </p:nvSpPr>
        <p:spPr>
          <a:xfrm xmlns:a="http://schemas.openxmlformats.org/drawingml/2006/main">
            <a:off x="514350" y="20764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A887E"/>
                </a:solidFill>
                <a:latin typeface="Aptos"/>
                <a:ea typeface="Aptos"/>
                <a:cs typeface="Aptos"/>
              </a:defRPr>
            </a:pPr>
            <a:r>
              <a:rPr sz="3900" b="1">
                <a:solidFill>
                  <a:srgbClr val="0A887E"/>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E4EA12DC-0586-428F-9EC1-870203F3532D}"/>
              </a:ext>
            </a:extLst>
          </p:cNvPr>
          <p:cNvSpPr>
            <a:spLocks xmlns:a="http://schemas.openxmlformats.org/drawingml/2006/main" noGrp="1"/>
          </p:cNvSpPr>
          <p:nvPr/>
        </p:nvSpPr>
        <p:spPr>
          <a:xfrm xmlns:a="http://schemas.openxmlformats.org/drawingml/2006/main">
            <a:off x="514350" y="2857500"/>
            <a:ext cx="25336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F7840D5-7292-4070-9257-9418B3E469A5}"/>
              </a:ext>
            </a:extLst>
          </p:cNvPr>
          <p:cNvSpPr>
            <a:spLocks xmlns:a="http://schemas.openxmlformats.org/drawingml/2006/main" noGrp="1"/>
          </p:cNvSpPr>
          <p:nvPr/>
        </p:nvSpPr>
        <p:spPr>
          <a:xfrm xmlns:a="http://schemas.openxmlformats.org/drawingml/2006/main">
            <a:off x="514350"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REGISTER</a:t>
            </a:r>
          </a:p>
        </p:txBody>
      </p:sp>
      <p:sp>
        <p:nvSpPr>
          <p:cNvPr id="11" name="">
            <a:extLst xmlns:a="http://schemas.openxmlformats.org/drawingml/2006/main">
              <a:ext uri="{FF2B5EF4-FFF2-40B4-BE49-F238E27FC236}">
                <a16:creationId xmlns:a16="http://schemas.microsoft.com/office/drawing/2014/main" id="{606B1E68-B320-41FE-84B4-3297E84C242D}"/>
              </a:ext>
            </a:extLst>
          </p:cNvPr>
          <p:cNvSpPr>
            <a:spLocks xmlns:a="http://schemas.openxmlformats.org/drawingml/2006/main" noGrp="1"/>
          </p:cNvSpPr>
          <p:nvPr/>
        </p:nvSpPr>
        <p:spPr>
          <a:xfrm xmlns:a="http://schemas.openxmlformats.org/drawingml/2006/main">
            <a:off x="514350" y="3648075"/>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Identity, custody</a:t>
            </a:r>
          </a:p>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and permitted use</a:t>
            </a:r>
          </a:p>
        </p:txBody>
      </p:sp>
      <p:sp>
        <p:nvSpPr>
          <p:cNvPr id="12" name="">
            <a:extLst xmlns:a="http://schemas.openxmlformats.org/drawingml/2006/main">
              <a:ext uri="{FF2B5EF4-FFF2-40B4-BE49-F238E27FC236}">
                <a16:creationId xmlns:a16="http://schemas.microsoft.com/office/drawing/2014/main" id="{0708A53B-4A9A-427D-88B7-747A1FBADB7D}"/>
              </a:ext>
            </a:extLst>
          </p:cNvPr>
          <p:cNvSpPr>
            <a:spLocks xmlns:a="http://schemas.openxmlformats.org/drawingml/2006/main" noGrp="1"/>
          </p:cNvSpPr>
          <p:nvPr/>
        </p:nvSpPr>
        <p:spPr>
          <a:xfrm xmlns:a="http://schemas.openxmlformats.org/drawingml/2006/main">
            <a:off x="3352800" y="20764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A887E"/>
                </a:solidFill>
                <a:latin typeface="Aptos"/>
                <a:ea typeface="Aptos"/>
                <a:cs typeface="Aptos"/>
              </a:defRPr>
            </a:pPr>
            <a:r>
              <a:rPr sz="3900" b="1">
                <a:solidFill>
                  <a:srgbClr val="0A887E"/>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DC51F2E4-250E-4FA5-9497-306B8FDE62E4}"/>
              </a:ext>
            </a:extLst>
          </p:cNvPr>
          <p:cNvSpPr>
            <a:spLocks xmlns:a="http://schemas.openxmlformats.org/drawingml/2006/main" noGrp="1"/>
          </p:cNvSpPr>
          <p:nvPr/>
        </p:nvSpPr>
        <p:spPr>
          <a:xfrm xmlns:a="http://schemas.openxmlformats.org/drawingml/2006/main">
            <a:off x="3352800" y="2857500"/>
            <a:ext cx="25336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80B590-5514-4EB9-ACC4-9D6BFC8C21A0}"/>
              </a:ext>
            </a:extLst>
          </p:cNvPr>
          <p:cNvSpPr>
            <a:spLocks xmlns:a="http://schemas.openxmlformats.org/drawingml/2006/main" noGrp="1"/>
          </p:cNvSpPr>
          <p:nvPr/>
        </p:nvSpPr>
        <p:spPr>
          <a:xfrm xmlns:a="http://schemas.openxmlformats.org/drawingml/2006/main">
            <a:off x="3352800"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PROCESS</a:t>
            </a:r>
          </a:p>
        </p:txBody>
      </p:sp>
      <p:sp>
        <p:nvSpPr>
          <p:cNvPr id="15" name="">
            <a:extLst xmlns:a="http://schemas.openxmlformats.org/drawingml/2006/main">
              <a:ext uri="{FF2B5EF4-FFF2-40B4-BE49-F238E27FC236}">
                <a16:creationId xmlns:a16="http://schemas.microsoft.com/office/drawing/2014/main" id="{69CAE477-EF3B-410F-B254-22E9AB30C84F}"/>
              </a:ext>
            </a:extLst>
          </p:cNvPr>
          <p:cNvSpPr>
            <a:spLocks xmlns:a="http://schemas.openxmlformats.org/drawingml/2006/main" noGrp="1"/>
          </p:cNvSpPr>
          <p:nvPr/>
        </p:nvSpPr>
        <p:spPr>
          <a:xfrm xmlns:a="http://schemas.openxmlformats.org/drawingml/2006/main">
            <a:off x="3352800" y="3648075"/>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Prepare media;</a:t>
            </a:r>
          </a:p>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preserve timed words</a:t>
            </a:r>
          </a:p>
        </p:txBody>
      </p:sp>
      <p:sp>
        <p:nvSpPr>
          <p:cNvPr id="16" name="">
            <a:extLst xmlns:a="http://schemas.openxmlformats.org/drawingml/2006/main">
              <a:ext uri="{FF2B5EF4-FFF2-40B4-BE49-F238E27FC236}">
                <a16:creationId xmlns:a16="http://schemas.microsoft.com/office/drawing/2014/main" id="{65BA7499-2FDD-4D44-8451-D49898FC1703}"/>
              </a:ext>
            </a:extLst>
          </p:cNvPr>
          <p:cNvSpPr>
            <a:spLocks xmlns:a="http://schemas.openxmlformats.org/drawingml/2006/main" noGrp="1"/>
          </p:cNvSpPr>
          <p:nvPr/>
        </p:nvSpPr>
        <p:spPr>
          <a:xfrm xmlns:a="http://schemas.openxmlformats.org/drawingml/2006/main">
            <a:off x="6191250" y="20764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A887E"/>
                </a:solidFill>
                <a:latin typeface="Aptos"/>
                <a:ea typeface="Aptos"/>
                <a:cs typeface="Aptos"/>
              </a:defRPr>
            </a:pPr>
            <a:r>
              <a:rPr sz="3900" b="1">
                <a:solidFill>
                  <a:srgbClr val="0A887E"/>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F7BC07E9-4E82-458C-9BC7-F2AE4FEDF116}"/>
              </a:ext>
            </a:extLst>
          </p:cNvPr>
          <p:cNvSpPr>
            <a:spLocks xmlns:a="http://schemas.openxmlformats.org/drawingml/2006/main" noGrp="1"/>
          </p:cNvSpPr>
          <p:nvPr/>
        </p:nvSpPr>
        <p:spPr>
          <a:xfrm xmlns:a="http://schemas.openxmlformats.org/drawingml/2006/main">
            <a:off x="6191250" y="2857500"/>
            <a:ext cx="25336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DAD7E2F-3844-4A4D-841A-C1407BB71CF3}"/>
              </a:ext>
            </a:extLst>
          </p:cNvPr>
          <p:cNvSpPr>
            <a:spLocks xmlns:a="http://schemas.openxmlformats.org/drawingml/2006/main" noGrp="1"/>
          </p:cNvSpPr>
          <p:nvPr/>
        </p:nvSpPr>
        <p:spPr>
          <a:xfrm xmlns:a="http://schemas.openxmlformats.org/drawingml/2006/main">
            <a:off x="6191250"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VALIDATE</a:t>
            </a:r>
          </a:p>
        </p:txBody>
      </p:sp>
      <p:sp>
        <p:nvSpPr>
          <p:cNvPr id="19" name="">
            <a:extLst xmlns:a="http://schemas.openxmlformats.org/drawingml/2006/main">
              <a:ext uri="{FF2B5EF4-FFF2-40B4-BE49-F238E27FC236}">
                <a16:creationId xmlns:a16="http://schemas.microsoft.com/office/drawing/2014/main" id="{EB2D6135-CEE1-4D3A-8EE8-5C93BBB99433}"/>
              </a:ext>
            </a:extLst>
          </p:cNvPr>
          <p:cNvSpPr>
            <a:spLocks xmlns:a="http://schemas.openxmlformats.org/drawingml/2006/main" noGrp="1"/>
          </p:cNvSpPr>
          <p:nvPr/>
        </p:nvSpPr>
        <p:spPr>
          <a:xfrm xmlns:a="http://schemas.openxmlformats.org/drawingml/2006/main">
            <a:off x="6191250" y="3648075"/>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Check clocks, gaps,</a:t>
            </a:r>
          </a:p>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quality and lineage</a:t>
            </a:r>
          </a:p>
        </p:txBody>
      </p:sp>
      <p:sp>
        <p:nvSpPr>
          <p:cNvPr id="20" name="">
            <a:extLst xmlns:a="http://schemas.openxmlformats.org/drawingml/2006/main">
              <a:ext uri="{FF2B5EF4-FFF2-40B4-BE49-F238E27FC236}">
                <a16:creationId xmlns:a16="http://schemas.microsoft.com/office/drawing/2014/main" id="{0FE0EA25-AA8E-48A1-82A8-11C65DA4705A}"/>
              </a:ext>
            </a:extLst>
          </p:cNvPr>
          <p:cNvSpPr>
            <a:spLocks xmlns:a="http://schemas.openxmlformats.org/drawingml/2006/main" noGrp="1"/>
          </p:cNvSpPr>
          <p:nvPr/>
        </p:nvSpPr>
        <p:spPr>
          <a:xfrm xmlns:a="http://schemas.openxmlformats.org/drawingml/2006/main">
            <a:off x="9029700" y="20764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A887E"/>
                </a:solidFill>
                <a:latin typeface="Aptos"/>
                <a:ea typeface="Aptos"/>
                <a:cs typeface="Aptos"/>
              </a:defRPr>
            </a:pPr>
            <a:r>
              <a:rPr sz="3900" b="1">
                <a:solidFill>
                  <a:srgbClr val="0A887E"/>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423D1F41-55BE-4A15-9CD7-D17DEC3AA960}"/>
              </a:ext>
            </a:extLst>
          </p:cNvPr>
          <p:cNvSpPr>
            <a:spLocks xmlns:a="http://schemas.openxmlformats.org/drawingml/2006/main" noGrp="1"/>
          </p:cNvSpPr>
          <p:nvPr/>
        </p:nvSpPr>
        <p:spPr>
          <a:xfrm xmlns:a="http://schemas.openxmlformats.org/drawingml/2006/main">
            <a:off x="9029700" y="2857500"/>
            <a:ext cx="25336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B990BD-CAE3-4DF9-80BF-07E91CD32A1A}"/>
              </a:ext>
            </a:extLst>
          </p:cNvPr>
          <p:cNvSpPr>
            <a:spLocks xmlns:a="http://schemas.openxmlformats.org/drawingml/2006/main" noGrp="1"/>
          </p:cNvSpPr>
          <p:nvPr/>
        </p:nvSpPr>
        <p:spPr>
          <a:xfrm xmlns:a="http://schemas.openxmlformats.org/drawingml/2006/main">
            <a:off x="9029700"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PUBLISH</a:t>
            </a:r>
          </a:p>
        </p:txBody>
      </p:sp>
      <p:sp>
        <p:nvSpPr>
          <p:cNvPr id="23" name="">
            <a:extLst xmlns:a="http://schemas.openxmlformats.org/drawingml/2006/main">
              <a:ext uri="{FF2B5EF4-FFF2-40B4-BE49-F238E27FC236}">
                <a16:creationId xmlns:a16="http://schemas.microsoft.com/office/drawing/2014/main" id="{5915F5FD-0561-4FEB-9391-5DB559FEDDB1}"/>
              </a:ext>
            </a:extLst>
          </p:cNvPr>
          <p:cNvSpPr>
            <a:spLocks xmlns:a="http://schemas.openxmlformats.org/drawingml/2006/main" noGrp="1"/>
          </p:cNvSpPr>
          <p:nvPr/>
        </p:nvSpPr>
        <p:spPr>
          <a:xfrm xmlns:a="http://schemas.openxmlformats.org/drawingml/2006/main">
            <a:off x="9029700" y="3648075"/>
            <a:ext cx="247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Stage, verify,</a:t>
            </a:r>
          </a:p>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activate revision</a:t>
            </a:r>
          </a:p>
        </p:txBody>
      </p:sp>
      <p:sp>
        <p:nvSpPr>
          <p:cNvPr id="24" name="">
            <a:extLst xmlns:a="http://schemas.openxmlformats.org/drawingml/2006/main">
              <a:ext uri="{FF2B5EF4-FFF2-40B4-BE49-F238E27FC236}">
                <a16:creationId xmlns:a16="http://schemas.microsoft.com/office/drawing/2014/main" id="{16C00EB9-88C5-4014-A1B6-6FB80A5AA3CA}"/>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AB7A876-F9B8-44E0-BC16-99F3F2D45EE4}"/>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Recovery principle: preserve source evidence, quarantine bad inputs, retain rollback.</a:t>
            </a:r>
          </a:p>
        </p:txBody>
      </p:sp>
    </p:spTree>
    <p:extLst>
      <p:ext uri="{BB962C8B-B14F-4D97-AF65-F5344CB8AC3E}">
        <p14:creationId xmlns:p14="http://schemas.microsoft.com/office/powerpoint/2010/main" val="1767941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E3F654-C373-40C4-8209-65077B9C09C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0F6921-7270-49EE-B584-69E364310620}"/>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07 / RETRIEVAL DESIGN</a:t>
            </a:r>
          </a:p>
        </p:txBody>
      </p:sp>
      <p:sp>
        <p:nvSpPr>
          <p:cNvPr id="3" name="">
            <a:extLst xmlns:a="http://schemas.openxmlformats.org/drawingml/2006/main">
              <a:ext uri="{FF2B5EF4-FFF2-40B4-BE49-F238E27FC236}">
                <a16:creationId xmlns:a16="http://schemas.microsoft.com/office/drawing/2014/main" id="{F9E2C62E-ADDA-401B-AB11-E678E50AF0BE}"/>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Combine exact wording with semantic meaning</a:t>
            </a:r>
          </a:p>
        </p:txBody>
      </p:sp>
      <p:sp>
        <p:nvSpPr>
          <p:cNvPr id="4" name="">
            <a:extLst xmlns:a="http://schemas.openxmlformats.org/drawingml/2006/main">
              <a:ext uri="{FF2B5EF4-FFF2-40B4-BE49-F238E27FC236}">
                <a16:creationId xmlns:a16="http://schemas.microsoft.com/office/drawing/2014/main" id="{C6F0A58F-614D-4062-AC11-FA80801D4500}"/>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E29A94-A776-4212-B541-51C4B6106A5C}"/>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060CCC60-2129-4C19-AD15-9C1DD2B277BF}"/>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07989D63-74C7-49D3-8852-BC100C21DCE1}"/>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7177B352-1D13-407E-8B14-2A865C784BAE}"/>
              </a:ext>
            </a:extLst>
          </p:cNvPr>
          <p:cNvSpPr>
            <a:spLocks xmlns:a="http://schemas.openxmlformats.org/drawingml/2006/main" noGrp="1"/>
          </p:cNvSpPr>
          <p:nvPr/>
        </p:nvSpPr>
        <p:spPr>
          <a:xfrm xmlns:a="http://schemas.openxmlformats.org/drawingml/2006/main">
            <a:off x="514350" y="3219450"/>
            <a:ext cx="2333625" cy="952500"/>
          </a:xfrm>
          <a:prstGeom xmlns:a="http://schemas.openxmlformats.org/drawingml/2006/main" prst="rect">
            <a:avLst/>
          </a:prstGeom>
          <a:solidFill xmlns:a="http://schemas.openxmlformats.org/drawingml/2006/main">
            <a:srgbClr val="D9F2E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Query +</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current rights</a:t>
            </a:r>
          </a:p>
        </p:txBody>
      </p:sp>
      <p:sp>
        <p:nvSpPr>
          <p:cNvPr id="9" name="">
            <a:extLst xmlns:a="http://schemas.openxmlformats.org/drawingml/2006/main">
              <a:ext uri="{FF2B5EF4-FFF2-40B4-BE49-F238E27FC236}">
                <a16:creationId xmlns:a16="http://schemas.microsoft.com/office/drawing/2014/main" id="{52F22CD5-E0E1-4157-BF26-EAE3DAA030E2}"/>
              </a:ext>
            </a:extLst>
          </p:cNvPr>
          <p:cNvSpPr>
            <a:spLocks xmlns:a="http://schemas.openxmlformats.org/drawingml/2006/main" noGrp="1"/>
          </p:cNvSpPr>
          <p:nvPr/>
        </p:nvSpPr>
        <p:spPr>
          <a:xfrm xmlns:a="http://schemas.openxmlformats.org/drawingml/2006/main">
            <a:off x="3829050" y="2305050"/>
            <a:ext cx="3105150" cy="847725"/>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Lexical candidates</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BM25</a:t>
            </a:r>
          </a:p>
        </p:txBody>
      </p:sp>
      <p:sp>
        <p:nvSpPr>
          <p:cNvPr id="10" name="">
            <a:extLst xmlns:a="http://schemas.openxmlformats.org/drawingml/2006/main">
              <a:ext uri="{FF2B5EF4-FFF2-40B4-BE49-F238E27FC236}">
                <a16:creationId xmlns:a16="http://schemas.microsoft.com/office/drawing/2014/main" id="{815E9566-E764-4CAB-A0B3-7328D80BACDB}"/>
              </a:ext>
            </a:extLst>
          </p:cNvPr>
          <p:cNvSpPr>
            <a:spLocks xmlns:a="http://schemas.openxmlformats.org/drawingml/2006/main" noGrp="1"/>
          </p:cNvSpPr>
          <p:nvPr/>
        </p:nvSpPr>
        <p:spPr>
          <a:xfrm xmlns:a="http://schemas.openxmlformats.org/drawingml/2006/main">
            <a:off x="3829050" y="4038600"/>
            <a:ext cx="3105150" cy="847725"/>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Semantic candidates</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MiniLM vectors</a:t>
            </a:r>
          </a:p>
        </p:txBody>
      </p:sp>
      <p:sp>
        <p:nvSpPr>
          <p:cNvPr id="11" name="">
            <a:extLst xmlns:a="http://schemas.openxmlformats.org/drawingml/2006/main">
              <a:ext uri="{FF2B5EF4-FFF2-40B4-BE49-F238E27FC236}">
                <a16:creationId xmlns:a16="http://schemas.microsoft.com/office/drawing/2014/main" id="{B5F6CA63-7D0F-451C-BBCE-1B35588C5ABA}"/>
              </a:ext>
            </a:extLst>
          </p:cNvPr>
          <p:cNvSpPr>
            <a:spLocks xmlns:a="http://schemas.openxmlformats.org/drawingml/2006/main" noGrp="1"/>
          </p:cNvSpPr>
          <p:nvPr/>
        </p:nvSpPr>
        <p:spPr>
          <a:xfrm xmlns:a="http://schemas.openxmlformats.org/drawingml/2006/main">
            <a:off x="7810500" y="3219450"/>
            <a:ext cx="1714500" cy="952500"/>
          </a:xfrm>
          <a:prstGeom xmlns:a="http://schemas.openxmlformats.org/drawingml/2006/main" prst="rect">
            <a:avLst/>
          </a:prstGeom>
          <a:solidFill xmlns:a="http://schemas.openxmlformats.org/drawingml/2006/main">
            <a:srgbClr val="F3F7F9"/>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Rank fusion</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RRF</a:t>
            </a:r>
          </a:p>
        </p:txBody>
      </p:sp>
      <p:sp>
        <p:nvSpPr>
          <p:cNvPr id="12" name="">
            <a:extLst xmlns:a="http://schemas.openxmlformats.org/drawingml/2006/main">
              <a:ext uri="{FF2B5EF4-FFF2-40B4-BE49-F238E27FC236}">
                <a16:creationId xmlns:a16="http://schemas.microsoft.com/office/drawing/2014/main" id="{36587E94-4588-4EC5-9196-6CEF8AF8AEE7}"/>
              </a:ext>
            </a:extLst>
          </p:cNvPr>
          <p:cNvSpPr>
            <a:spLocks xmlns:a="http://schemas.openxmlformats.org/drawingml/2006/main" noGrp="1"/>
          </p:cNvSpPr>
          <p:nvPr/>
        </p:nvSpPr>
        <p:spPr>
          <a:xfrm xmlns:a="http://schemas.openxmlformats.org/drawingml/2006/main">
            <a:off x="10096500" y="3219450"/>
            <a:ext cx="1562100" cy="952500"/>
          </a:xfrm>
          <a:prstGeom xmlns:a="http://schemas.openxmlformats.org/drawingml/2006/main" prst="rect">
            <a:avLst/>
          </a:prstGeom>
          <a:solidFill xmlns:a="http://schemas.openxmlformats.org/drawingml/2006/main">
            <a:srgbClr val="D9F2EB"/>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Source</a:t>
            </a:r>
          </a:p>
          <a:p xmlns:a="http://schemas.openxmlformats.org/drawingml/2006/main">
            <a:pPr algn="ctr">
              <a:defRPr sz="1650" b="1">
                <a:solidFill>
                  <a:srgbClr val="142238"/>
                </a:solidFill>
                <a:latin typeface="Aptos"/>
                <a:ea typeface="Aptos"/>
                <a:cs typeface="Aptos"/>
              </a:defRPr>
            </a:pPr>
            <a:r>
              <a:rPr sz="1650" b="1">
                <a:solidFill>
                  <a:srgbClr val="142238"/>
                </a:solidFill>
                <a:latin typeface="Aptos"/>
                <a:ea typeface="Aptos"/>
                <a:cs typeface="Aptos"/>
              </a:rPr>
              <a:t>evidence</a:t>
            </a:r>
          </a:p>
        </p:txBody>
      </p: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flipV="1">
            <a:off x="2847975" y="2728913"/>
            <a:ext cx="981075" cy="966788"/>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2847975" y="3695700"/>
            <a:ext cx="981075" cy="766763"/>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34" name=""/>
          <p:cNvCxnSpPr>
            <a:stCxn xmlns:a="http://schemas.openxmlformats.org/drawingml/2006/main" id="9" idx="3"/>
            <a:endCxn xmlns:a="http://schemas.openxmlformats.org/drawingml/2006/main" id="11" idx="1"/>
          </p:cNvCxnSpPr>
          <p:nvPr/>
        </p:nvCxnSpPr>
        <p:spPr>
          <a:xfrm xmlns:a="http://schemas.openxmlformats.org/drawingml/2006/main">
            <a:off x="6934200" y="2728913"/>
            <a:ext cx="876300" cy="966788"/>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35" name=""/>
          <p:cNvCxnSpPr>
            <a:stCxn xmlns:a="http://schemas.openxmlformats.org/drawingml/2006/main" id="10" idx="3"/>
            <a:endCxn xmlns:a="http://schemas.openxmlformats.org/drawingml/2006/main" id="11" idx="1"/>
          </p:cNvCxnSpPr>
          <p:nvPr/>
        </p:nvCxnSpPr>
        <p:spPr>
          <a:xfrm xmlns:a="http://schemas.openxmlformats.org/drawingml/2006/main" flipV="1">
            <a:off x="6934200" y="3695700"/>
            <a:ext cx="876300" cy="766763"/>
          </a:xfrm>
          <a:prstGeom xmlns:a="http://schemas.openxmlformats.org/drawingml/2006/main" prst="straightConnector1">
            <a:avLst/>
          </a:prstGeom>
          <a:ln xmlns:a="http://schemas.openxmlformats.org/drawingml/2006/main" w="19050">
            <a:solidFill>
              <a:srgbClr val="0A887E"/>
            </a:solidFill>
            <a:tailEnd type="triangle" w="med" len="med"/>
          </a:ln>
        </p:spPr>
      </p:cxnSp>
      <p:cxnSp>
        <p:nvCxnSpPr>
          <p:cNvPr id="36" name=""/>
          <p:cNvCxnSpPr>
            <a:stCxn xmlns:a="http://schemas.openxmlformats.org/drawingml/2006/main" id="11" idx="3"/>
            <a:endCxn xmlns:a="http://schemas.openxmlformats.org/drawingml/2006/main" id="12" idx="1"/>
          </p:cNvCxnSpPr>
          <p:nvPr/>
        </p:nvCxnSpPr>
        <p:spPr>
          <a:xfrm xmlns:a="http://schemas.openxmlformats.org/drawingml/2006/main">
            <a:off x="9525000" y="3695700"/>
            <a:ext cx="571500" cy="0"/>
          </a:xfrm>
          <a:prstGeom xmlns:a="http://schemas.openxmlformats.org/drawingml/2006/main" prst="straightConnector1">
            <a:avLst/>
          </a:prstGeom>
          <a:ln xmlns:a="http://schemas.openxmlformats.org/drawingml/2006/main" w="19050">
            <a:solidFill>
              <a:srgbClr val="0A887E"/>
            </a:solidFill>
            <a:tailEnd type="triangle" w="med" len="med"/>
          </a:ln>
        </p:spPr>
      </p:cxnSp>
      <p:sp>
        <p:nvSpPr>
          <p:cNvPr id="18" name="">
            <a:extLst xmlns:a="http://schemas.openxmlformats.org/drawingml/2006/main">
              <a:ext uri="{FF2B5EF4-FFF2-40B4-BE49-F238E27FC236}">
                <a16:creationId xmlns:a16="http://schemas.microsoft.com/office/drawing/2014/main" id="{0297AFAE-4FB7-496F-84BC-A67A24D06892}"/>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5B07AD7-A71F-499F-BC44-541542AE645A}"/>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Return source text and timing; keep generated interpretation separate from evidence.</a:t>
            </a:r>
          </a:p>
        </p:txBody>
      </p:sp>
    </p:spTree>
    <p:extLst>
      <p:ext uri="{BB962C8B-B14F-4D97-AF65-F5344CB8AC3E}">
        <p14:creationId xmlns:p14="http://schemas.microsoft.com/office/powerpoint/2010/main" val="17964903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04F2F95-F748-49A6-86C5-93B9FF65B7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D38F1D-8C31-400C-A886-8E7C34DB7D31}"/>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08 / DEMONSTRATED RESULT</a:t>
            </a:r>
          </a:p>
        </p:txBody>
      </p:sp>
      <p:sp>
        <p:nvSpPr>
          <p:cNvPr id="3" name="">
            <a:extLst xmlns:a="http://schemas.openxmlformats.org/drawingml/2006/main">
              <a:ext uri="{FF2B5EF4-FFF2-40B4-BE49-F238E27FC236}">
                <a16:creationId xmlns:a16="http://schemas.microsoft.com/office/drawing/2014/main" id="{1E5DB718-9D27-4726-94CF-B1F64A66F81E}"/>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The prototype returns a specific, inspectable passage</a:t>
            </a:r>
          </a:p>
        </p:txBody>
      </p:sp>
      <p:sp>
        <p:nvSpPr>
          <p:cNvPr id="4" name="">
            <a:extLst xmlns:a="http://schemas.openxmlformats.org/drawingml/2006/main">
              <a:ext uri="{FF2B5EF4-FFF2-40B4-BE49-F238E27FC236}">
                <a16:creationId xmlns:a16="http://schemas.microsoft.com/office/drawing/2014/main" id="{004507C9-A8B3-4EF3-9806-E8C0EAA063DC}"/>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AFCBB4-C347-42EE-8571-E413360E7C87}"/>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submission/evaluation/demo-churchill.json · synthetic evidence</a:t>
            </a:r>
          </a:p>
        </p:txBody>
      </p:sp>
      <p:sp>
        <p:nvSpPr>
          <p:cNvPr id="6" name="">
            <a:extLst xmlns:a="http://schemas.openxmlformats.org/drawingml/2006/main">
              <a:ext uri="{FF2B5EF4-FFF2-40B4-BE49-F238E27FC236}">
                <a16:creationId xmlns:a16="http://schemas.microsoft.com/office/drawing/2014/main" id="{6332F9C8-E660-4E4E-8162-A448E68BB485}"/>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AF23A6D2-D3CC-410A-ADBF-DB2DE2B57B6E}"/>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4DD7BEF3-86D2-4664-ABE8-8BB0720F13D0}"/>
              </a:ext>
            </a:extLst>
          </p:cNvPr>
          <p:cNvSpPr>
            <a:spLocks xmlns:a="http://schemas.openxmlformats.org/drawingml/2006/main" noGrp="1"/>
          </p:cNvSpPr>
          <p:nvPr/>
        </p:nvSpPr>
        <p:spPr>
          <a:xfrm xmlns:a="http://schemas.openxmlformats.org/drawingml/2006/main">
            <a:off x="514350" y="2038350"/>
            <a:ext cx="7124700" cy="3305175"/>
          </a:xfrm>
          <a:prstGeom xmlns:a="http://schemas.openxmlformats.org/drawingml/2006/main" prst="rect">
            <a:avLst/>
          </a:prstGeom>
          <a:solidFill xmlns:a="http://schemas.openxmlformats.org/drawingml/2006/main">
            <a:srgbClr val="14223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E34B4C-6C9A-4E47-860F-9E53FC861986}"/>
              </a:ext>
            </a:extLst>
          </p:cNvPr>
          <p:cNvSpPr>
            <a:spLocks xmlns:a="http://schemas.openxmlformats.org/drawingml/2006/main" noGrp="1"/>
          </p:cNvSpPr>
          <p:nvPr/>
        </p:nvSpPr>
        <p:spPr>
          <a:xfrm xmlns:a="http://schemas.openxmlformats.org/drawingml/2006/main">
            <a:off x="762000" y="2286000"/>
            <a:ext cx="659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F2EB"/>
                </a:solidFill>
                <a:latin typeface="Aptos"/>
                <a:ea typeface="Aptos"/>
                <a:cs typeface="Aptos"/>
              </a:defRPr>
            </a:pPr>
            <a:r>
              <a:rPr sz="1575" b="1">
                <a:solidFill>
                  <a:srgbClr val="D9F2EB"/>
                </a:solidFill>
                <a:latin typeface="Aptos"/>
                <a:ea typeface="Aptos"/>
                <a:cs typeface="Aptos"/>
              </a:rPr>
              <a:t>WE SHALL FIGHT ON THE BEACHES</a:t>
            </a:r>
          </a:p>
        </p:txBody>
      </p:sp>
      <p:sp>
        <p:nvSpPr>
          <p:cNvPr id="10" name="">
            <a:extLst xmlns:a="http://schemas.openxmlformats.org/drawingml/2006/main">
              <a:ext uri="{FF2B5EF4-FFF2-40B4-BE49-F238E27FC236}">
                <a16:creationId xmlns:a16="http://schemas.microsoft.com/office/drawing/2014/main" id="{C5F29479-66CA-48EA-BE66-F6E10BAD0778}"/>
              </a:ext>
            </a:extLst>
          </p:cNvPr>
          <p:cNvSpPr>
            <a:spLocks xmlns:a="http://schemas.openxmlformats.org/drawingml/2006/main" noGrp="1"/>
          </p:cNvSpPr>
          <p:nvPr/>
        </p:nvSpPr>
        <p:spPr>
          <a:xfrm xmlns:a="http://schemas.openxmlformats.org/drawingml/2006/main">
            <a:off x="762000" y="2933700"/>
            <a:ext cx="6429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Aptos"/>
                <a:ea typeface="Aptos"/>
                <a:cs typeface="Aptos"/>
              </a:defRPr>
            </a:pPr>
            <a:r>
              <a:rPr sz="2625" b="1">
                <a:solidFill>
                  <a:srgbClr val="FFFFFF"/>
                </a:solidFill>
                <a:latin typeface="Aptos"/>
                <a:ea typeface="Aptos"/>
                <a:cs typeface="Aptos"/>
              </a:rPr>
              <a:t>“…we shall fight on the beaches…</a:t>
            </a:r>
          </a:p>
          <a:p xmlns:a="http://schemas.openxmlformats.org/drawingml/2006/main">
            <a:pPr>
              <a:defRPr sz="2625" b="1">
                <a:solidFill>
                  <a:srgbClr val="FFFFFF"/>
                </a:solidFill>
                <a:latin typeface="Aptos"/>
                <a:ea typeface="Aptos"/>
                <a:cs typeface="Aptos"/>
              </a:defRPr>
            </a:pPr>
            <a:r>
              <a:rPr sz="2625" b="1">
                <a:solidFill>
                  <a:srgbClr val="FFFFFF"/>
                </a:solidFill>
                <a:latin typeface="Aptos"/>
                <a:ea typeface="Aptos"/>
                <a:cs typeface="Aptos"/>
              </a:rPr>
              <a:t>we shall never surrender.”</a:t>
            </a:r>
          </a:p>
        </p:txBody>
      </p:sp>
      <p:sp>
        <p:nvSpPr>
          <p:cNvPr id="11" name="">
            <a:extLst xmlns:a="http://schemas.openxmlformats.org/drawingml/2006/main">
              <a:ext uri="{FF2B5EF4-FFF2-40B4-BE49-F238E27FC236}">
                <a16:creationId xmlns:a16="http://schemas.microsoft.com/office/drawing/2014/main" id="{143697EC-521A-4A57-99B0-3BFB48BC386B}"/>
              </a:ext>
            </a:extLst>
          </p:cNvPr>
          <p:cNvSpPr>
            <a:spLocks xmlns:a="http://schemas.openxmlformats.org/drawingml/2006/main" noGrp="1"/>
          </p:cNvSpPr>
          <p:nvPr/>
        </p:nvSpPr>
        <p:spPr>
          <a:xfrm xmlns:a="http://schemas.openxmlformats.org/drawingml/2006/main">
            <a:off x="762000" y="458152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6C9D7"/>
                </a:solidFill>
                <a:latin typeface="Aptos"/>
                <a:ea typeface="Aptos"/>
                <a:cs typeface="Aptos"/>
              </a:defRPr>
            </a:pPr>
            <a:r>
              <a:rPr sz="1575" b="0">
                <a:solidFill>
                  <a:srgbClr val="B6C9D7"/>
                </a:solidFill>
                <a:latin typeface="Aptos"/>
                <a:ea typeface="Aptos"/>
                <a:cs typeface="Aptos"/>
              </a:rPr>
              <a:t>Contextual evidence window • 4 June 1940</a:t>
            </a:r>
          </a:p>
        </p:txBody>
      </p:sp>
      <p:sp>
        <p:nvSpPr>
          <p:cNvPr id="12" name="">
            <a:extLst xmlns:a="http://schemas.openxmlformats.org/drawingml/2006/main">
              <a:ext uri="{FF2B5EF4-FFF2-40B4-BE49-F238E27FC236}">
                <a16:creationId xmlns:a16="http://schemas.microsoft.com/office/drawing/2014/main" id="{45E1362F-F80C-4D25-A072-5E880303A935}"/>
              </a:ext>
            </a:extLst>
          </p:cNvPr>
          <p:cNvSpPr>
            <a:spLocks xmlns:a="http://schemas.openxmlformats.org/drawingml/2006/main" noGrp="1"/>
          </p:cNvSpPr>
          <p:nvPr/>
        </p:nvSpPr>
        <p:spPr>
          <a:xfrm xmlns:a="http://schemas.openxmlformats.org/drawingml/2006/main">
            <a:off x="8039100" y="2190750"/>
            <a:ext cx="357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A887E"/>
                </a:solidFill>
                <a:latin typeface="Aptos"/>
                <a:ea typeface="Aptos"/>
                <a:cs typeface="Aptos"/>
              </a:defRPr>
            </a:pPr>
            <a:r>
              <a:rPr sz="2850" b="1">
                <a:solidFill>
                  <a:srgbClr val="0A887E"/>
                </a:solidFill>
                <a:latin typeface="Aptos"/>
                <a:ea typeface="Aptos"/>
                <a:cs typeface="Aptos"/>
              </a:rPr>
              <a:t>18.000–39.350 s</a:t>
            </a:r>
          </a:p>
        </p:txBody>
      </p:sp>
      <p:sp>
        <p:nvSpPr>
          <p:cNvPr id="13" name="">
            <a:extLst xmlns:a="http://schemas.openxmlformats.org/drawingml/2006/main">
              <a:ext uri="{FF2B5EF4-FFF2-40B4-BE49-F238E27FC236}">
                <a16:creationId xmlns:a16="http://schemas.microsoft.com/office/drawing/2014/main" id="{6A38E1DD-BB9F-4A32-AA64-E328B08B7FB2}"/>
              </a:ext>
            </a:extLst>
          </p:cNvPr>
          <p:cNvSpPr>
            <a:spLocks xmlns:a="http://schemas.openxmlformats.org/drawingml/2006/main" noGrp="1"/>
          </p:cNvSpPr>
          <p:nvPr/>
        </p:nvSpPr>
        <p:spPr>
          <a:xfrm xmlns:a="http://schemas.openxmlformats.org/drawingml/2006/main">
            <a:off x="8058150" y="31146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7083"/>
                </a:solidFill>
                <a:latin typeface="Aptos"/>
                <a:ea typeface="Aptos"/>
                <a:cs typeface="Aptos"/>
              </a:defRPr>
            </a:pPr>
            <a:r>
              <a:rPr sz="1275" b="0">
                <a:solidFill>
                  <a:srgbClr val="597083"/>
                </a:solidFill>
                <a:latin typeface="Aptos"/>
                <a:ea typeface="Aptos"/>
                <a:cs typeface="Aptos"/>
              </a:rPr>
              <a:t>Recording</a:t>
            </a:r>
          </a:p>
        </p:txBody>
      </p:sp>
      <p:sp>
        <p:nvSpPr>
          <p:cNvPr id="14" name="">
            <a:extLst xmlns:a="http://schemas.openxmlformats.org/drawingml/2006/main">
              <a:ext uri="{FF2B5EF4-FFF2-40B4-BE49-F238E27FC236}">
                <a16:creationId xmlns:a16="http://schemas.microsoft.com/office/drawing/2014/main" id="{855A5C08-D7E2-4B9E-8554-6FBBAE4AE3FF}"/>
              </a:ext>
            </a:extLst>
          </p:cNvPr>
          <p:cNvSpPr>
            <a:spLocks xmlns:a="http://schemas.openxmlformats.org/drawingml/2006/main" noGrp="1"/>
          </p:cNvSpPr>
          <p:nvPr/>
        </p:nvSpPr>
        <p:spPr>
          <a:xfrm xmlns:a="http://schemas.openxmlformats.org/drawingml/2006/main">
            <a:off x="8058150" y="34766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238"/>
                </a:solidFill>
                <a:latin typeface="Aptos"/>
                <a:ea typeface="Aptos"/>
                <a:cs typeface="Aptos"/>
              </a:defRPr>
            </a:pPr>
            <a:r>
              <a:rPr sz="2100" b="1">
                <a:solidFill>
                  <a:srgbClr val="142238"/>
                </a:solidFill>
                <a:latin typeface="Aptos"/>
                <a:ea typeface="Aptos"/>
                <a:cs typeface="Aptos"/>
              </a:rPr>
              <a:t>churchill-edit</a:t>
            </a:r>
          </a:p>
        </p:txBody>
      </p:sp>
      <p:sp>
        <p:nvSpPr>
          <p:cNvPr id="15" name="">
            <a:extLst xmlns:a="http://schemas.openxmlformats.org/drawingml/2006/main">
              <a:ext uri="{FF2B5EF4-FFF2-40B4-BE49-F238E27FC236}">
                <a16:creationId xmlns:a16="http://schemas.microsoft.com/office/drawing/2014/main" id="{108A425F-B007-4DE8-8F1F-0FBFDC316FC6}"/>
              </a:ext>
            </a:extLst>
          </p:cNvPr>
          <p:cNvSpPr>
            <a:spLocks xmlns:a="http://schemas.openxmlformats.org/drawingml/2006/main" noGrp="1"/>
          </p:cNvSpPr>
          <p:nvPr/>
        </p:nvSpPr>
        <p:spPr>
          <a:xfrm xmlns:a="http://schemas.openxmlformats.org/drawingml/2006/main">
            <a:off x="8058150" y="416242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7083"/>
                </a:solidFill>
                <a:latin typeface="Aptos"/>
                <a:ea typeface="Aptos"/>
                <a:cs typeface="Aptos"/>
              </a:defRPr>
            </a:pPr>
            <a:r>
              <a:rPr sz="1275" b="0">
                <a:solidFill>
                  <a:srgbClr val="597083"/>
                </a:solidFill>
                <a:latin typeface="Aptos"/>
                <a:ea typeface="Aptos"/>
                <a:cs typeface="Aptos"/>
              </a:rPr>
              <a:t>Availability / next action</a:t>
            </a:r>
          </a:p>
        </p:txBody>
      </p:sp>
      <p:sp>
        <p:nvSpPr>
          <p:cNvPr id="16" name="">
            <a:extLst xmlns:a="http://schemas.openxmlformats.org/drawingml/2006/main">
              <a:ext uri="{FF2B5EF4-FFF2-40B4-BE49-F238E27FC236}">
                <a16:creationId xmlns:a16="http://schemas.microsoft.com/office/drawing/2014/main" id="{6720E0B9-9834-47DD-8A45-9B3AEA4A77C3}"/>
              </a:ext>
            </a:extLst>
          </p:cNvPr>
          <p:cNvSpPr>
            <a:spLocks xmlns:a="http://schemas.openxmlformats.org/drawingml/2006/main" noGrp="1"/>
          </p:cNvSpPr>
          <p:nvPr/>
        </p:nvSpPr>
        <p:spPr>
          <a:xfrm xmlns:a="http://schemas.openxmlformats.org/drawingml/2006/main">
            <a:off x="8058150" y="4524375"/>
            <a:ext cx="342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238"/>
                </a:solidFill>
                <a:latin typeface="Aptos"/>
                <a:ea typeface="Aptos"/>
                <a:cs typeface="Aptos"/>
              </a:defRPr>
            </a:pPr>
            <a:r>
              <a:rPr sz="1800" b="1">
                <a:solidFill>
                  <a:srgbClr val="142238"/>
                </a:solidFill>
                <a:latin typeface="Aptos"/>
                <a:ea typeface="Aptos"/>
                <a:cs typeface="Aptos"/>
              </a:rPr>
              <a:t>Offline / simulated request</a:t>
            </a:r>
          </a:p>
        </p:txBody>
      </p:sp>
      <p:sp>
        <p:nvSpPr>
          <p:cNvPr id="17" name="">
            <a:extLst xmlns:a="http://schemas.openxmlformats.org/drawingml/2006/main">
              <a:ext uri="{FF2B5EF4-FFF2-40B4-BE49-F238E27FC236}">
                <a16:creationId xmlns:a16="http://schemas.microsoft.com/office/drawing/2014/main" id="{41674B4A-3FDB-4E33-A04D-C653A7EF4BE3}"/>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50DA03A-CF26-4630-8F29-A66498C310C9}"/>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Synthetic source clocks demonstrate traceability; they do not validate historical audio.</a:t>
            </a:r>
          </a:p>
        </p:txBody>
      </p:sp>
    </p:spTree>
    <p:extLst>
      <p:ext uri="{BB962C8B-B14F-4D97-AF65-F5344CB8AC3E}">
        <p14:creationId xmlns:p14="http://schemas.microsoft.com/office/powerpoint/2010/main" val="3757155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FF637A-7659-4259-AD11-85FD094EB62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95C9EF-E5A7-4F48-B0C3-A61B5DB6AE15}"/>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09 / LOCAL EVIDENCE</a:t>
            </a:r>
          </a:p>
        </p:txBody>
      </p:sp>
      <p:sp>
        <p:nvSpPr>
          <p:cNvPr id="3" name="">
            <a:extLst xmlns:a="http://schemas.openxmlformats.org/drawingml/2006/main">
              <a:ext uri="{FF2B5EF4-FFF2-40B4-BE49-F238E27FC236}">
                <a16:creationId xmlns:a16="http://schemas.microsoft.com/office/drawing/2014/main" id="{21B5128E-83F9-41BB-BEB3-2C190CA823E1}"/>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Semantic retrieval closes the fixture recall gap</a:t>
            </a:r>
          </a:p>
        </p:txBody>
      </p:sp>
      <p:sp>
        <p:nvSpPr>
          <p:cNvPr id="4" name="">
            <a:extLst xmlns:a="http://schemas.openxmlformats.org/drawingml/2006/main">
              <a:ext uri="{FF2B5EF4-FFF2-40B4-BE49-F238E27FC236}">
                <a16:creationId xmlns:a16="http://schemas.microsoft.com/office/drawing/2014/main" id="{E72C2FD5-1268-4721-A1F7-81504EFDDAB8}"/>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F0A66B-F02D-4D65-996C-22ED2597ED33}"/>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submission/evaluation/results.json · 10 positive development queries</a:t>
            </a:r>
          </a:p>
        </p:txBody>
      </p:sp>
      <p:sp>
        <p:nvSpPr>
          <p:cNvPr id="6" name="">
            <a:extLst xmlns:a="http://schemas.openxmlformats.org/drawingml/2006/main">
              <a:ext uri="{FF2B5EF4-FFF2-40B4-BE49-F238E27FC236}">
                <a16:creationId xmlns:a16="http://schemas.microsoft.com/office/drawing/2014/main" id="{159016E0-0EAD-4B38-B437-C7A7C5763271}"/>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5C14C1DE-252F-474E-B7B2-D3727132D5D8}"/>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10</a:t>
            </a:r>
          </a:p>
        </p:txBody>
      </p:sp>
      <p:graphicFrame>
        <p:nvGraphicFramePr>
          <p:cNvPr id="23" name="Chart"/>
          <p:cNvGraphicFramePr/>
          <p:nvPr/>
        </p:nvGraphicFramePr>
        <p:xfrm>
          <a:off xmlns:a="http://schemas.openxmlformats.org/drawingml/2006/main" x="514350" y="1952625"/>
          <a:ext xmlns:a="http://schemas.openxmlformats.org/drawingml/2006/main" cx="7524750" cy="3419475"/>
        </p:xfrm>
        <a:graphic xmlns:a="http://schemas.openxmlformats.org/drawingml/2006/main">
          <a:graphicData uri="http://schemas.openxmlformats.org/drawingml/2006/chart">
            <c:chart xmlns:r="http://schemas.openxmlformats.org/officeDocument/2006/relationships" xmlns:c="http://schemas.openxmlformats.org/drawingml/2006/chart" r:id="Rbe88570e86834093"/>
          </a:graphicData>
        </a:graphic>
      </p:graphicFrame>
      <p:sp>
        <p:nvSpPr>
          <p:cNvPr id="9" name="">
            <a:extLst xmlns:a="http://schemas.openxmlformats.org/drawingml/2006/main">
              <a:ext uri="{FF2B5EF4-FFF2-40B4-BE49-F238E27FC236}">
                <a16:creationId xmlns:a16="http://schemas.microsoft.com/office/drawing/2014/main" id="{E09B2096-688D-4313-B76B-26B5547ABD00}"/>
              </a:ext>
            </a:extLst>
          </p:cNvPr>
          <p:cNvSpPr>
            <a:spLocks xmlns:a="http://schemas.openxmlformats.org/drawingml/2006/main" noGrp="1"/>
          </p:cNvSpPr>
          <p:nvPr/>
        </p:nvSpPr>
        <p:spPr>
          <a:xfrm xmlns:a="http://schemas.openxmlformats.org/drawingml/2006/main">
            <a:off x="8362950" y="2019300"/>
            <a:ext cx="3295650" cy="334327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FD0F0E-835C-46BB-831B-E71F5968FA2F}"/>
              </a:ext>
            </a:extLst>
          </p:cNvPr>
          <p:cNvSpPr>
            <a:spLocks xmlns:a="http://schemas.openxmlformats.org/drawingml/2006/main" noGrp="1"/>
          </p:cNvSpPr>
          <p:nvPr/>
        </p:nvSpPr>
        <p:spPr>
          <a:xfrm xmlns:a="http://schemas.openxmlformats.org/drawingml/2006/main">
            <a:off x="8572500" y="22098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A887E"/>
                </a:solidFill>
                <a:latin typeface="Aptos"/>
                <a:ea typeface="Aptos"/>
                <a:cs typeface="Aptos"/>
              </a:defRPr>
            </a:pPr>
            <a:r>
              <a:rPr sz="1275" b="1">
                <a:solidFill>
                  <a:srgbClr val="0A887E"/>
                </a:solidFill>
                <a:latin typeface="Aptos"/>
                <a:ea typeface="Aptos"/>
                <a:cs typeface="Aptos"/>
              </a:rPr>
              <a:t>RANK QUALITY</a:t>
            </a:r>
          </a:p>
        </p:txBody>
      </p:sp>
      <p:sp>
        <p:nvSpPr>
          <p:cNvPr id="11" name="">
            <a:extLst xmlns:a="http://schemas.openxmlformats.org/drawingml/2006/main">
              <a:ext uri="{FF2B5EF4-FFF2-40B4-BE49-F238E27FC236}">
                <a16:creationId xmlns:a16="http://schemas.microsoft.com/office/drawing/2014/main" id="{90A6FE2C-E829-4343-8BBE-297069EE0277}"/>
              </a:ext>
            </a:extLst>
          </p:cNvPr>
          <p:cNvSpPr>
            <a:spLocks xmlns:a="http://schemas.openxmlformats.org/drawingml/2006/main" noGrp="1"/>
          </p:cNvSpPr>
          <p:nvPr/>
        </p:nvSpPr>
        <p:spPr>
          <a:xfrm xmlns:a="http://schemas.openxmlformats.org/drawingml/2006/main">
            <a:off x="8572500" y="2781300"/>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42238"/>
                </a:solidFill>
                <a:latin typeface="Aptos"/>
                <a:ea typeface="Aptos"/>
                <a:cs typeface="Aptos"/>
              </a:defRPr>
            </a:pPr>
            <a:r>
              <a:rPr sz="4125" b="1">
                <a:solidFill>
                  <a:srgbClr val="142238"/>
                </a:solidFill>
                <a:latin typeface="Aptos"/>
                <a:ea typeface="Aptos"/>
                <a:cs typeface="Aptos"/>
              </a:rPr>
              <a:t>0.95</a:t>
            </a:r>
          </a:p>
        </p:txBody>
      </p:sp>
      <p:sp>
        <p:nvSpPr>
          <p:cNvPr id="12" name="">
            <a:extLst xmlns:a="http://schemas.openxmlformats.org/drawingml/2006/main">
              <a:ext uri="{FF2B5EF4-FFF2-40B4-BE49-F238E27FC236}">
                <a16:creationId xmlns:a16="http://schemas.microsoft.com/office/drawing/2014/main" id="{D051B82D-DE15-4E29-B48E-1B4F6ACCB0B5}"/>
              </a:ext>
            </a:extLst>
          </p:cNvPr>
          <p:cNvSpPr>
            <a:spLocks xmlns:a="http://schemas.openxmlformats.org/drawingml/2006/main" noGrp="1"/>
          </p:cNvSpPr>
          <p:nvPr/>
        </p:nvSpPr>
        <p:spPr>
          <a:xfrm xmlns:a="http://schemas.openxmlformats.org/drawingml/2006/main">
            <a:off x="8591550" y="345757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7083"/>
                </a:solidFill>
                <a:latin typeface="Aptos"/>
                <a:ea typeface="Aptos"/>
                <a:cs typeface="Aptos"/>
              </a:defRPr>
            </a:pPr>
            <a:r>
              <a:rPr sz="1725" b="0">
                <a:solidFill>
                  <a:srgbClr val="597083"/>
                </a:solidFill>
                <a:latin typeface="Aptos"/>
                <a:ea typeface="Aptos"/>
                <a:cs typeface="Aptos"/>
              </a:rPr>
              <a:t>Semantic MRR@5</a:t>
            </a:r>
          </a:p>
        </p:txBody>
      </p:sp>
      <p:sp>
        <p:nvSpPr>
          <p:cNvPr id="13" name="">
            <a:extLst xmlns:a="http://schemas.openxmlformats.org/drawingml/2006/main">
              <a:ext uri="{FF2B5EF4-FFF2-40B4-BE49-F238E27FC236}">
                <a16:creationId xmlns:a16="http://schemas.microsoft.com/office/drawing/2014/main" id="{5AAFBEB5-57A4-4D47-8160-5EA2959EBB66}"/>
              </a:ext>
            </a:extLst>
          </p:cNvPr>
          <p:cNvSpPr>
            <a:spLocks xmlns:a="http://schemas.openxmlformats.org/drawingml/2006/main" noGrp="1"/>
          </p:cNvSpPr>
          <p:nvPr/>
        </p:nvSpPr>
        <p:spPr>
          <a:xfrm xmlns:a="http://schemas.openxmlformats.org/drawingml/2006/main">
            <a:off x="8591550" y="4171950"/>
            <a:ext cx="2809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238"/>
                </a:solidFill>
                <a:latin typeface="Aptos"/>
                <a:ea typeface="Aptos"/>
                <a:cs typeface="Aptos"/>
              </a:defRPr>
            </a:pPr>
            <a:r>
              <a:rPr sz="1950" b="0">
                <a:solidFill>
                  <a:srgbClr val="142238"/>
                </a:solidFill>
                <a:latin typeface="Aptos"/>
                <a:ea typeface="Aptos"/>
                <a:cs typeface="Aptos"/>
              </a:rPr>
              <a:t>Hybrid 0.90</a:t>
            </a:r>
          </a:p>
          <a:p xmlns:a="http://schemas.openxmlformats.org/drawingml/2006/main">
            <a:pPr>
              <a:defRPr sz="1950" b="0">
                <a:solidFill>
                  <a:srgbClr val="142238"/>
                </a:solidFill>
                <a:latin typeface="Aptos"/>
                <a:ea typeface="Aptos"/>
                <a:cs typeface="Aptos"/>
              </a:defRPr>
            </a:pPr>
            <a:r>
              <a:rPr sz="1950" b="0">
                <a:solidFill>
                  <a:srgbClr val="142238"/>
                </a:solidFill>
                <a:latin typeface="Aptos"/>
                <a:ea typeface="Aptos"/>
                <a:cs typeface="Aptos"/>
              </a:rPr>
              <a:t>Lexical 0.75</a:t>
            </a:r>
          </a:p>
        </p:txBody>
      </p:sp>
      <p:sp>
        <p:nvSpPr>
          <p:cNvPr id="14" name="">
            <a:extLst xmlns:a="http://schemas.openxmlformats.org/drawingml/2006/main">
              <a:ext uri="{FF2B5EF4-FFF2-40B4-BE49-F238E27FC236}">
                <a16:creationId xmlns:a16="http://schemas.microsoft.com/office/drawing/2014/main" id="{350E43F0-E41D-4C85-9774-F26C514EA662}"/>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F95FE5-FB2D-446E-AE35-F60AA37BFDB3}"/>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Interpretation: promising retrieval coverage; ranking still needs real-user judgements.</a:t>
            </a:r>
          </a:p>
        </p:txBody>
      </p:sp>
    </p:spTree>
    <p:extLst>
      <p:ext uri="{BB962C8B-B14F-4D97-AF65-F5344CB8AC3E}">
        <p14:creationId xmlns:p14="http://schemas.microsoft.com/office/powerpoint/2010/main" val="585080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DFA4CE-9708-4309-98AC-67BEEE74E74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663DCA-4020-498F-89DD-02E1937F4972}"/>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10 / LIMITS AND ACCEPTANCE</a:t>
            </a:r>
          </a:p>
        </p:txBody>
      </p:sp>
      <p:sp>
        <p:nvSpPr>
          <p:cNvPr id="3" name="">
            <a:extLst xmlns:a="http://schemas.openxmlformats.org/drawingml/2006/main">
              <a:ext uri="{FF2B5EF4-FFF2-40B4-BE49-F238E27FC236}">
                <a16:creationId xmlns:a16="http://schemas.microsoft.com/office/drawing/2014/main" id="{A4A16BF7-64DB-4E39-B02C-13B4824CE00D}"/>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The next gate is real-media validation</a:t>
            </a:r>
          </a:p>
        </p:txBody>
      </p:sp>
      <p:sp>
        <p:nvSpPr>
          <p:cNvPr id="4" name="">
            <a:extLst xmlns:a="http://schemas.openxmlformats.org/drawingml/2006/main">
              <a:ext uri="{FF2B5EF4-FFF2-40B4-BE49-F238E27FC236}">
                <a16:creationId xmlns:a16="http://schemas.microsoft.com/office/drawing/2014/main" id="{2851FC72-86A0-447B-8375-0DDFB1F4EB86}"/>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FD6E82-FC7D-42F4-86D0-7CB6F03ACEA5}"/>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Sources: results.json; Evaluation_Results.md; pilot assumptions</a:t>
            </a:r>
          </a:p>
        </p:txBody>
      </p:sp>
      <p:sp>
        <p:nvSpPr>
          <p:cNvPr id="6" name="">
            <a:extLst xmlns:a="http://schemas.openxmlformats.org/drawingml/2006/main">
              <a:ext uri="{FF2B5EF4-FFF2-40B4-BE49-F238E27FC236}">
                <a16:creationId xmlns:a16="http://schemas.microsoft.com/office/drawing/2014/main" id="{2822B5A9-35F9-434B-A6E9-3261927AE53C}"/>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2AAFBBB3-BA21-4397-9B3C-45809B081C7A}"/>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11</a:t>
            </a:r>
          </a:p>
        </p:txBody>
      </p:sp>
      <p:graphicFrame>
        <p:nvGraphicFramePr>
          <p:cNvPr id="18" name=""/>
          <p:cNvGraphicFramePr/>
          <p:nvPr/>
        </p:nvGraphicFramePr>
        <p:xfrm>
          <a:off xmlns:a="http://schemas.openxmlformats.org/drawingml/2006/main" x="514350" y="2038350"/>
          <a:ext xmlns:a="http://schemas.openxmlformats.org/drawingml/2006/main" cx="11144250" cy="3371850"/>
        </p:xfrm>
        <a:graphic xmlns:a="http://schemas.openxmlformats.org/drawingml/2006/main">
          <a:graphicData uri="http://schemas.openxmlformats.org/drawingml/2006/table">
            <a:tbl>
              <a:tblPr/>
              <a:tblGrid>
                <a:gridCol w="2714625"/>
                <a:gridCol w="4524375"/>
                <a:gridCol w="3905250"/>
              </a:tblGrid>
              <a:tr h="674370">
                <a:tc>
                  <a:txBody>
                    <a:bodyPr/>
                    <a:lstStyle/>
                    <a:p>
                      <a:r>
                        <a:rPr sz="1575" b="1">
                          <a:solidFill>
                            <a:srgbClr val="FFFFFF"/>
                          </a:solidFill>
                          <a:latin typeface="Aptos"/>
                          <a:ea typeface="Aptos"/>
                          <a:cs typeface="Aptos"/>
                        </a:rPr>
                        <a:t>Measure</a:t>
                      </a:r>
                    </a:p>
                  </a:txBody>
                  <a:tcPr marL="91440" marR="91440" marT="45720" marB="45720">
                    <a:solidFill>
                      <a:srgbClr val="142238"/>
                    </a:solidFill>
                  </a:tcPr>
                </a:tc>
                <a:tc>
                  <a:txBody>
                    <a:bodyPr/>
                    <a:lstStyle/>
                    <a:p>
                      <a:r>
                        <a:rPr sz="1575" b="1">
                          <a:solidFill>
                            <a:srgbClr val="FFFFFF"/>
                          </a:solidFill>
                          <a:latin typeface="Aptos"/>
                          <a:ea typeface="Aptos"/>
                          <a:cs typeface="Aptos"/>
                        </a:rPr>
                        <a:t>Observed in local fixtures</a:t>
                      </a:r>
                    </a:p>
                  </a:txBody>
                  <a:tcPr marL="91440" marR="91440" marT="45720" marB="45720">
                    <a:solidFill>
                      <a:srgbClr val="142238"/>
                    </a:solidFill>
                  </a:tcPr>
                </a:tc>
                <a:tc>
                  <a:txBody>
                    <a:bodyPr/>
                    <a:lstStyle/>
                    <a:p>
                      <a:r>
                        <a:rPr sz="1575" b="1">
                          <a:solidFill>
                            <a:srgbClr val="FFFFFF"/>
                          </a:solidFill>
                          <a:latin typeface="Aptos"/>
                          <a:ea typeface="Aptos"/>
                          <a:cs typeface="Aptos"/>
                        </a:rPr>
                        <a:t>Proposed pilot gate</a:t>
                      </a:r>
                    </a:p>
                  </a:txBody>
                  <a:tcPr marL="91440" marR="91440" marT="45720" marB="45720">
                    <a:solidFill>
                      <a:srgbClr val="142238"/>
                    </a:solidFill>
                  </a:tcPr>
                </a:tc>
              </a:tr>
              <a:tr h="674370">
                <a:tc>
                  <a:txBody>
                    <a:bodyPr/>
                    <a:lstStyle/>
                    <a:p>
                      <a:r>
                        <a:rPr sz="1575" b="1">
                          <a:solidFill>
                            <a:srgbClr val="142238"/>
                          </a:solidFill>
                          <a:latin typeface="Aptos"/>
                          <a:ea typeface="Aptos"/>
                          <a:cs typeface="Aptos"/>
                        </a:rPr>
                        <a:t>Recording / passage recall@5</a:t>
                      </a:r>
                    </a:p>
                  </a:txBody>
                  <a:tcPr marL="91440" marR="91440" marT="45720" marB="45720">
                    <a:solidFill>
                      <a:srgbClr val="F3F7F9"/>
                    </a:solidFill>
                  </a:tcPr>
                </a:tc>
                <a:tc>
                  <a:txBody>
                    <a:bodyPr/>
                    <a:lstStyle/>
                    <a:p>
                      <a:r>
                        <a:rPr sz="1575" b="0">
                          <a:solidFill>
                            <a:srgbClr val="142238"/>
                          </a:solidFill>
                          <a:latin typeface="Aptos"/>
                          <a:ea typeface="Aptos"/>
                          <a:cs typeface="Aptos"/>
                        </a:rPr>
                        <a:t>Hybrid: 100% / 100% · 10 queries</a:t>
                      </a:r>
                    </a:p>
                  </a:txBody>
                  <a:tcPr marL="91440" marR="91440" marT="45720" marB="45720">
                    <a:solidFill>
                      <a:srgbClr val="F3F7F9"/>
                    </a:solidFill>
                  </a:tcPr>
                </a:tc>
                <a:tc>
                  <a:txBody>
                    <a:bodyPr/>
                    <a:lstStyle/>
                    <a:p>
                      <a:r>
                        <a:rPr sz="1575" b="0">
                          <a:solidFill>
                            <a:srgbClr val="142238"/>
                          </a:solidFill>
                          <a:latin typeface="Aptos"/>
                          <a:ea typeface="Aptos"/>
                          <a:cs typeface="Aptos"/>
                        </a:rPr>
                        <a:t>≥90% / ≥80% on held-out judgements</a:t>
                      </a:r>
                    </a:p>
                  </a:txBody>
                  <a:tcPr marL="91440" marR="91440" marT="45720" marB="45720">
                    <a:solidFill>
                      <a:srgbClr val="F3F7F9"/>
                    </a:solidFill>
                  </a:tcPr>
                </a:tc>
              </a:tr>
              <a:tr h="674370">
                <a:tc>
                  <a:txBody>
                    <a:bodyPr/>
                    <a:lstStyle/>
                    <a:p>
                      <a:r>
                        <a:rPr sz="1575" b="1">
                          <a:solidFill>
                            <a:srgbClr val="142238"/>
                          </a:solidFill>
                          <a:latin typeface="Aptos"/>
                          <a:ea typeface="Aptos"/>
                          <a:cs typeface="Aptos"/>
                        </a:rPr>
                        <a:t>Boundaries within ±2 seconds</a:t>
                      </a:r>
                    </a:p>
                  </a:txBody>
                  <a:tcPr marL="91440" marR="91440" marT="45720" marB="45720">
                    <a:solidFill>
                      <a:srgbClr val="FFFFFF"/>
                    </a:solidFill>
                  </a:tcPr>
                </a:tc>
                <a:tc>
                  <a:txBody>
                    <a:bodyPr/>
                    <a:lstStyle/>
                    <a:p>
                      <a:r>
                        <a:rPr sz="1575" b="0">
                          <a:solidFill>
                            <a:srgbClr val="142238"/>
                          </a:solidFill>
                          <a:latin typeface="Aptos"/>
                          <a:ea typeface="Aptos"/>
                          <a:cs typeface="Aptos"/>
                        </a:rPr>
                        <a:t>85.7% · 14 synthetic boundaries</a:t>
                      </a:r>
                    </a:p>
                  </a:txBody>
                  <a:tcPr marL="91440" marR="91440" marT="45720" marB="45720">
                    <a:solidFill>
                      <a:srgbClr val="FFFFFF"/>
                    </a:solidFill>
                  </a:tcPr>
                </a:tc>
                <a:tc>
                  <a:txBody>
                    <a:bodyPr/>
                    <a:lstStyle/>
                    <a:p>
                      <a:r>
                        <a:rPr sz="1575" b="0">
                          <a:solidFill>
                            <a:srgbClr val="142238"/>
                          </a:solidFill>
                          <a:latin typeface="Aptos"/>
                          <a:ea typeface="Aptos"/>
                          <a:cs typeface="Aptos"/>
                        </a:rPr>
                        <a:t>≥90% against real-media timings</a:t>
                      </a:r>
                    </a:p>
                  </a:txBody>
                  <a:tcPr marL="91440" marR="91440" marT="45720" marB="45720">
                    <a:solidFill>
                      <a:srgbClr val="FFFFFF"/>
                    </a:solidFill>
                  </a:tcPr>
                </a:tc>
              </a:tr>
              <a:tr h="674370">
                <a:tc>
                  <a:txBody>
                    <a:bodyPr/>
                    <a:lstStyle/>
                    <a:p>
                      <a:r>
                        <a:rPr sz="1575" b="1">
                          <a:solidFill>
                            <a:srgbClr val="142238"/>
                          </a:solidFill>
                          <a:latin typeface="Aptos"/>
                          <a:ea typeface="Aptos"/>
                          <a:cs typeface="Aptos"/>
                        </a:rPr>
                        <a:t>Search p95</a:t>
                      </a:r>
                    </a:p>
                  </a:txBody>
                  <a:tcPr marL="91440" marR="91440" marT="45720" marB="45720">
                    <a:solidFill>
                      <a:srgbClr val="F3F7F9"/>
                    </a:solidFill>
                  </a:tcPr>
                </a:tc>
                <a:tc>
                  <a:txBody>
                    <a:bodyPr/>
                    <a:lstStyle/>
                    <a:p>
                      <a:r>
                        <a:rPr sz="1575" b="0">
                          <a:solidFill>
                            <a:srgbClr val="142238"/>
                          </a:solidFill>
                          <a:latin typeface="Aptos"/>
                          <a:ea typeface="Aptos"/>
                          <a:cs typeface="Aptos"/>
                        </a:rPr>
                        <a:t>11.9 ms · warm, sequential, in-process</a:t>
                      </a:r>
                    </a:p>
                  </a:txBody>
                  <a:tcPr marL="91440" marR="91440" marT="45720" marB="45720">
                    <a:solidFill>
                      <a:srgbClr val="F3F7F9"/>
                    </a:solidFill>
                  </a:tcPr>
                </a:tc>
                <a:tc>
                  <a:txBody>
                    <a:bodyPr/>
                    <a:lstStyle/>
                    <a:p>
                      <a:r>
                        <a:rPr sz="1575" b="0">
                          <a:solidFill>
                            <a:srgbClr val="142238"/>
                          </a:solidFill>
                          <a:latin typeface="Aptos"/>
                          <a:ea typeface="Aptos"/>
                          <a:cs typeface="Aptos"/>
                        </a:rPr>
                        <a:t>≤5 seconds with 10 concurrent users</a:t>
                      </a:r>
                    </a:p>
                  </a:txBody>
                  <a:tcPr marL="91440" marR="91440" marT="45720" marB="45720">
                    <a:solidFill>
                      <a:srgbClr val="F3F7F9"/>
                    </a:solidFill>
                  </a:tcPr>
                </a:tc>
              </a:tr>
              <a:tr h="674370">
                <a:tc>
                  <a:txBody>
                    <a:bodyPr/>
                    <a:lstStyle/>
                    <a:p>
                      <a:r>
                        <a:rPr sz="1575" b="1">
                          <a:solidFill>
                            <a:srgbClr val="142238"/>
                          </a:solidFill>
                          <a:latin typeface="Aptos"/>
                          <a:ea typeface="Aptos"/>
                          <a:cs typeface="Aptos"/>
                        </a:rPr>
                        <a:t>Access / negative cases</a:t>
                      </a:r>
                    </a:p>
                  </a:txBody>
                  <a:tcPr marL="91440" marR="91440" marT="45720" marB="45720">
                    <a:solidFill>
                      <a:srgbClr val="FFFFFF"/>
                    </a:solidFill>
                  </a:tcPr>
                </a:tc>
                <a:tc>
                  <a:txBody>
                    <a:bodyPr/>
                    <a:lstStyle/>
                    <a:p>
                      <a:r>
                        <a:rPr sz="1575" b="0">
                          <a:solidFill>
                            <a:srgbClr val="142238"/>
                          </a:solidFill>
                          <a:latin typeface="Aptos"/>
                          <a:ea typeface="Aptos"/>
                          <a:cs typeface="Aptos"/>
                        </a:rPr>
                        <a:t>4 of 4 judged cases correct</a:t>
                      </a:r>
                    </a:p>
                  </a:txBody>
                  <a:tcPr marL="91440" marR="91440" marT="45720" marB="45720">
                    <a:solidFill>
                      <a:srgbClr val="FFFFFF"/>
                    </a:solidFill>
                  </a:tcPr>
                </a:tc>
                <a:tc>
                  <a:txBody>
                    <a:bodyPr/>
                    <a:lstStyle/>
                    <a:p>
                      <a:r>
                        <a:rPr sz="1575" b="0">
                          <a:solidFill>
                            <a:srgbClr val="142238"/>
                          </a:solidFill>
                          <a:latin typeface="Aptos"/>
                          <a:ea typeface="Aptos"/>
                          <a:cs typeface="Aptos"/>
                        </a:rPr>
                        <a:t>Independent identity and revocation tests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BD5007B-D00E-4855-A407-E2B04FF005F9}"/>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26F6EF-45F2-4F01-8C78-D79A0CF2A35F}"/>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None of the local fixture results establishes production readiness.</a:t>
            </a:r>
          </a:p>
        </p:txBody>
      </p:sp>
    </p:spTree>
    <p:extLst>
      <p:ext uri="{BB962C8B-B14F-4D97-AF65-F5344CB8AC3E}">
        <p14:creationId xmlns:p14="http://schemas.microsoft.com/office/powerpoint/2010/main" val="16025455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824A3C0-A9AE-4AE6-BD54-72D2F5B7EC3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1C0335-DFE5-4909-A44D-E19A1C8856DE}"/>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11 / LIVE DEMONSTRATION</a:t>
            </a:r>
          </a:p>
        </p:txBody>
      </p:sp>
      <p:sp>
        <p:nvSpPr>
          <p:cNvPr id="3" name="">
            <a:extLst xmlns:a="http://schemas.openxmlformats.org/drawingml/2006/main">
              <a:ext uri="{FF2B5EF4-FFF2-40B4-BE49-F238E27FC236}">
                <a16:creationId xmlns:a16="http://schemas.microsoft.com/office/drawing/2014/main" id="{29C2134D-6075-4398-A858-CA206416E9E4}"/>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Prove the outcome, then expose the limits</a:t>
            </a:r>
          </a:p>
        </p:txBody>
      </p:sp>
      <p:sp>
        <p:nvSpPr>
          <p:cNvPr id="4" name="">
            <a:extLst xmlns:a="http://schemas.openxmlformats.org/drawingml/2006/main">
              <a:ext uri="{FF2B5EF4-FFF2-40B4-BE49-F238E27FC236}">
                <a16:creationId xmlns:a16="http://schemas.microsoft.com/office/drawing/2014/main" id="{F9A67A7E-D6E3-491E-8843-045DF802BD30}"/>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F883B0-40C6-4404-8979-A8551ECBA00C}"/>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README demo commands and captured query outputs</a:t>
            </a:r>
          </a:p>
        </p:txBody>
      </p:sp>
      <p:sp>
        <p:nvSpPr>
          <p:cNvPr id="6" name="">
            <a:extLst xmlns:a="http://schemas.openxmlformats.org/drawingml/2006/main">
              <a:ext uri="{FF2B5EF4-FFF2-40B4-BE49-F238E27FC236}">
                <a16:creationId xmlns:a16="http://schemas.microsoft.com/office/drawing/2014/main" id="{FD62893D-421C-4411-BE3B-EB04CC65DFB9}"/>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A121A319-6954-4FB7-A379-5BBD78B5CAF2}"/>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73D8DD33-6819-47E0-80B0-47BA62143BC2}"/>
              </a:ext>
            </a:extLst>
          </p:cNvPr>
          <p:cNvSpPr>
            <a:spLocks xmlns:a="http://schemas.openxmlformats.org/drawingml/2006/main" noGrp="1"/>
          </p:cNvSpPr>
          <p:nvPr/>
        </p:nvSpPr>
        <p:spPr>
          <a:xfrm xmlns:a="http://schemas.openxmlformats.org/drawingml/2006/main">
            <a:off x="514350" y="2038350"/>
            <a:ext cx="781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A887E"/>
                </a:solidFill>
                <a:latin typeface="Aptos"/>
                <a:ea typeface="Aptos"/>
                <a:cs typeface="Aptos"/>
              </a:defRPr>
            </a:pPr>
            <a:r>
              <a:rPr sz="2625" b="1">
                <a:solidFill>
                  <a:srgbClr val="0A887E"/>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64CC769F-BEFA-4AA4-8715-0375F5EF38D3}"/>
              </a:ext>
            </a:extLst>
          </p:cNvPr>
          <p:cNvSpPr>
            <a:spLocks xmlns:a="http://schemas.openxmlformats.org/drawingml/2006/main" noGrp="1"/>
          </p:cNvSpPr>
          <p:nvPr/>
        </p:nvSpPr>
        <p:spPr>
          <a:xfrm xmlns:a="http://schemas.openxmlformats.org/drawingml/2006/main">
            <a:off x="1571625" y="203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238"/>
                </a:solidFill>
                <a:latin typeface="Aptos"/>
                <a:ea typeface="Aptos"/>
                <a:cs typeface="Aptos"/>
              </a:defRPr>
            </a:pPr>
            <a:r>
              <a:rPr sz="2175" b="1">
                <a:solidFill>
                  <a:srgbClr val="142238"/>
                </a:solidFill>
                <a:latin typeface="Aptos"/>
                <a:ea typeface="Aptos"/>
                <a:cs typeface="Aptos"/>
              </a:rPr>
              <a:t>Vague request</a:t>
            </a:r>
          </a:p>
        </p:txBody>
      </p:sp>
      <p:sp>
        <p:nvSpPr>
          <p:cNvPr id="10" name="">
            <a:extLst xmlns:a="http://schemas.openxmlformats.org/drawingml/2006/main">
              <a:ext uri="{FF2B5EF4-FFF2-40B4-BE49-F238E27FC236}">
                <a16:creationId xmlns:a16="http://schemas.microsoft.com/office/drawing/2014/main" id="{1F2FA1C4-A4CF-4E82-8E80-2B1DDE426FDD}"/>
              </a:ext>
            </a:extLst>
          </p:cNvPr>
          <p:cNvSpPr>
            <a:spLocks xmlns:a="http://schemas.openxmlformats.org/drawingml/2006/main" noGrp="1"/>
          </p:cNvSpPr>
          <p:nvPr/>
        </p:nvSpPr>
        <p:spPr>
          <a:xfrm xmlns:a="http://schemas.openxmlformats.org/drawingml/2006/main">
            <a:off x="5476875" y="203835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7083"/>
                </a:solidFill>
                <a:latin typeface="Aptos"/>
                <a:ea typeface="Aptos"/>
                <a:cs typeface="Aptos"/>
              </a:defRPr>
            </a:pPr>
            <a:r>
              <a:rPr sz="1950" b="0">
                <a:solidFill>
                  <a:srgbClr val="597083"/>
                </a:solidFill>
                <a:latin typeface="Aptos"/>
                <a:ea typeface="Aptos"/>
                <a:cs typeface="Aptos"/>
              </a:rPr>
              <a:t>Recover the contextual passage</a:t>
            </a:r>
          </a:p>
        </p:txBody>
      </p:sp>
      <p:sp>
        <p:nvSpPr>
          <p:cNvPr id="11" name="">
            <a:extLst xmlns:a="http://schemas.openxmlformats.org/drawingml/2006/main">
              <a:ext uri="{FF2B5EF4-FFF2-40B4-BE49-F238E27FC236}">
                <a16:creationId xmlns:a16="http://schemas.microsoft.com/office/drawing/2014/main" id="{AF458231-AC30-43B6-8497-A58A1A3893C8}"/>
              </a:ext>
            </a:extLst>
          </p:cNvPr>
          <p:cNvSpPr>
            <a:spLocks xmlns:a="http://schemas.openxmlformats.org/drawingml/2006/main" noGrp="1"/>
          </p:cNvSpPr>
          <p:nvPr/>
        </p:nvSpPr>
        <p:spPr>
          <a:xfrm xmlns:a="http://schemas.openxmlformats.org/drawingml/2006/main">
            <a:off x="1571625" y="2686050"/>
            <a:ext cx="10086975"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35D38A-2FF7-4589-9CB4-55E9F9E117BF}"/>
              </a:ext>
            </a:extLst>
          </p:cNvPr>
          <p:cNvSpPr>
            <a:spLocks xmlns:a="http://schemas.openxmlformats.org/drawingml/2006/main" noGrp="1"/>
          </p:cNvSpPr>
          <p:nvPr/>
        </p:nvSpPr>
        <p:spPr>
          <a:xfrm xmlns:a="http://schemas.openxmlformats.org/drawingml/2006/main">
            <a:off x="514350" y="2847975"/>
            <a:ext cx="781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A887E"/>
                </a:solidFill>
                <a:latin typeface="Aptos"/>
                <a:ea typeface="Aptos"/>
                <a:cs typeface="Aptos"/>
              </a:defRPr>
            </a:pPr>
            <a:r>
              <a:rPr sz="2625" b="1">
                <a:solidFill>
                  <a:srgbClr val="0A887E"/>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09BAC33B-D0FA-4484-BA41-5B5FED02BF12}"/>
              </a:ext>
            </a:extLst>
          </p:cNvPr>
          <p:cNvSpPr>
            <a:spLocks xmlns:a="http://schemas.openxmlformats.org/drawingml/2006/main" noGrp="1"/>
          </p:cNvSpPr>
          <p:nvPr/>
        </p:nvSpPr>
        <p:spPr>
          <a:xfrm xmlns:a="http://schemas.openxmlformats.org/drawingml/2006/main">
            <a:off x="1571625" y="28479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238"/>
                </a:solidFill>
                <a:latin typeface="Aptos"/>
                <a:ea typeface="Aptos"/>
                <a:cs typeface="Aptos"/>
              </a:defRPr>
            </a:pPr>
            <a:r>
              <a:rPr sz="2175" b="1">
                <a:solidFill>
                  <a:srgbClr val="142238"/>
                </a:solidFill>
                <a:latin typeface="Aptos"/>
                <a:ea typeface="Aptos"/>
                <a:cs typeface="Aptos"/>
              </a:rPr>
              <a:t>Exact phrase</a:t>
            </a:r>
          </a:p>
        </p:txBody>
      </p:sp>
      <p:sp>
        <p:nvSpPr>
          <p:cNvPr id="14" name="">
            <a:extLst xmlns:a="http://schemas.openxmlformats.org/drawingml/2006/main">
              <a:ext uri="{FF2B5EF4-FFF2-40B4-BE49-F238E27FC236}">
                <a16:creationId xmlns:a16="http://schemas.microsoft.com/office/drawing/2014/main" id="{02ADBCCA-B883-4523-B979-8CC1CADCF147}"/>
              </a:ext>
            </a:extLst>
          </p:cNvPr>
          <p:cNvSpPr>
            <a:spLocks xmlns:a="http://schemas.openxmlformats.org/drawingml/2006/main" noGrp="1"/>
          </p:cNvSpPr>
          <p:nvPr/>
        </p:nvSpPr>
        <p:spPr>
          <a:xfrm xmlns:a="http://schemas.openxmlformats.org/drawingml/2006/main">
            <a:off x="5476875" y="284797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7083"/>
                </a:solidFill>
                <a:latin typeface="Aptos"/>
                <a:ea typeface="Aptos"/>
                <a:cs typeface="Aptos"/>
              </a:defRPr>
            </a:pPr>
            <a:r>
              <a:rPr sz="1950" b="0">
                <a:solidFill>
                  <a:srgbClr val="597083"/>
                </a:solidFill>
                <a:latin typeface="Aptos"/>
                <a:ea typeface="Aptos"/>
                <a:cs typeface="Aptos"/>
              </a:rPr>
              <a:t>Show distinct clocks for two versions</a:t>
            </a:r>
          </a:p>
        </p:txBody>
      </p:sp>
      <p:sp>
        <p:nvSpPr>
          <p:cNvPr id="15" name="">
            <a:extLst xmlns:a="http://schemas.openxmlformats.org/drawingml/2006/main">
              <a:ext uri="{FF2B5EF4-FFF2-40B4-BE49-F238E27FC236}">
                <a16:creationId xmlns:a16="http://schemas.microsoft.com/office/drawing/2014/main" id="{75753F06-D53B-4475-807C-F2DD2AF5AF6A}"/>
              </a:ext>
            </a:extLst>
          </p:cNvPr>
          <p:cNvSpPr>
            <a:spLocks xmlns:a="http://schemas.openxmlformats.org/drawingml/2006/main" noGrp="1"/>
          </p:cNvSpPr>
          <p:nvPr/>
        </p:nvSpPr>
        <p:spPr>
          <a:xfrm xmlns:a="http://schemas.openxmlformats.org/drawingml/2006/main">
            <a:off x="1571625" y="3495675"/>
            <a:ext cx="10086975"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5E0D28-176E-4EB9-AEBF-7C5D71A86D15}"/>
              </a:ext>
            </a:extLst>
          </p:cNvPr>
          <p:cNvSpPr>
            <a:spLocks xmlns:a="http://schemas.openxmlformats.org/drawingml/2006/main" noGrp="1"/>
          </p:cNvSpPr>
          <p:nvPr/>
        </p:nvSpPr>
        <p:spPr>
          <a:xfrm xmlns:a="http://schemas.openxmlformats.org/drawingml/2006/main">
            <a:off x="514350" y="3657600"/>
            <a:ext cx="781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A887E"/>
                </a:solidFill>
                <a:latin typeface="Aptos"/>
                <a:ea typeface="Aptos"/>
                <a:cs typeface="Aptos"/>
              </a:defRPr>
            </a:pPr>
            <a:r>
              <a:rPr sz="2625" b="1">
                <a:solidFill>
                  <a:srgbClr val="0A887E"/>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3C4C0A6E-D2A0-41AD-81ED-B85A24DCC0F3}"/>
              </a:ext>
            </a:extLst>
          </p:cNvPr>
          <p:cNvSpPr>
            <a:spLocks xmlns:a="http://schemas.openxmlformats.org/drawingml/2006/main" noGrp="1"/>
          </p:cNvSpPr>
          <p:nvPr/>
        </p:nvSpPr>
        <p:spPr>
          <a:xfrm xmlns:a="http://schemas.openxmlformats.org/drawingml/2006/main">
            <a:off x="1571625" y="365760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238"/>
                </a:solidFill>
                <a:latin typeface="Aptos"/>
                <a:ea typeface="Aptos"/>
                <a:cs typeface="Aptos"/>
              </a:defRPr>
            </a:pPr>
            <a:r>
              <a:rPr sz="2175" b="1">
                <a:solidFill>
                  <a:srgbClr val="142238"/>
                </a:solidFill>
                <a:latin typeface="Aptos"/>
                <a:ea typeface="Aptos"/>
                <a:cs typeface="Aptos"/>
              </a:rPr>
              <a:t>Paraphrase</a:t>
            </a:r>
          </a:p>
        </p:txBody>
      </p:sp>
      <p:sp>
        <p:nvSpPr>
          <p:cNvPr id="18" name="">
            <a:extLst xmlns:a="http://schemas.openxmlformats.org/drawingml/2006/main">
              <a:ext uri="{FF2B5EF4-FFF2-40B4-BE49-F238E27FC236}">
                <a16:creationId xmlns:a16="http://schemas.microsoft.com/office/drawing/2014/main" id="{2EEBEEE5-98FC-485B-A3F0-FFEB317EBC3D}"/>
              </a:ext>
            </a:extLst>
          </p:cNvPr>
          <p:cNvSpPr>
            <a:spLocks xmlns:a="http://schemas.openxmlformats.org/drawingml/2006/main" noGrp="1"/>
          </p:cNvSpPr>
          <p:nvPr/>
        </p:nvSpPr>
        <p:spPr>
          <a:xfrm xmlns:a="http://schemas.openxmlformats.org/drawingml/2006/main">
            <a:off x="5476875" y="365760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7083"/>
                </a:solidFill>
                <a:latin typeface="Aptos"/>
                <a:ea typeface="Aptos"/>
                <a:cs typeface="Aptos"/>
              </a:defRPr>
            </a:pPr>
            <a:r>
              <a:rPr sz="1950" b="0">
                <a:solidFill>
                  <a:srgbClr val="597083"/>
                </a:solidFill>
                <a:latin typeface="Aptos"/>
                <a:ea typeface="Aptos"/>
                <a:cs typeface="Aptos"/>
              </a:rPr>
              <a:t>Demonstrate meaning beyond keywords</a:t>
            </a:r>
          </a:p>
        </p:txBody>
      </p:sp>
      <p:sp>
        <p:nvSpPr>
          <p:cNvPr id="19" name="">
            <a:extLst xmlns:a="http://schemas.openxmlformats.org/drawingml/2006/main">
              <a:ext uri="{FF2B5EF4-FFF2-40B4-BE49-F238E27FC236}">
                <a16:creationId xmlns:a16="http://schemas.microsoft.com/office/drawing/2014/main" id="{3FF287C5-E57B-4E3B-B989-224A3820B0B4}"/>
              </a:ext>
            </a:extLst>
          </p:cNvPr>
          <p:cNvSpPr>
            <a:spLocks xmlns:a="http://schemas.openxmlformats.org/drawingml/2006/main" noGrp="1"/>
          </p:cNvSpPr>
          <p:nvPr/>
        </p:nvSpPr>
        <p:spPr>
          <a:xfrm xmlns:a="http://schemas.openxmlformats.org/drawingml/2006/main">
            <a:off x="1571625" y="4305300"/>
            <a:ext cx="10086975"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8183FB5-8DBD-47B6-B431-D0913AC0A4C9}"/>
              </a:ext>
            </a:extLst>
          </p:cNvPr>
          <p:cNvSpPr>
            <a:spLocks xmlns:a="http://schemas.openxmlformats.org/drawingml/2006/main" noGrp="1"/>
          </p:cNvSpPr>
          <p:nvPr/>
        </p:nvSpPr>
        <p:spPr>
          <a:xfrm xmlns:a="http://schemas.openxmlformats.org/drawingml/2006/main">
            <a:off x="514350" y="4467225"/>
            <a:ext cx="781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A887E"/>
                </a:solidFill>
                <a:latin typeface="Aptos"/>
                <a:ea typeface="Aptos"/>
                <a:cs typeface="Aptos"/>
              </a:defRPr>
            </a:pPr>
            <a:r>
              <a:rPr sz="2625" b="1">
                <a:solidFill>
                  <a:srgbClr val="0A887E"/>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4B2DBCA1-3E49-406F-BC3C-B7507C0C5865}"/>
              </a:ext>
            </a:extLst>
          </p:cNvPr>
          <p:cNvSpPr>
            <a:spLocks xmlns:a="http://schemas.openxmlformats.org/drawingml/2006/main" noGrp="1"/>
          </p:cNvSpPr>
          <p:nvPr/>
        </p:nvSpPr>
        <p:spPr>
          <a:xfrm xmlns:a="http://schemas.openxmlformats.org/drawingml/2006/main">
            <a:off x="1571625" y="44672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238"/>
                </a:solidFill>
                <a:latin typeface="Aptos"/>
                <a:ea typeface="Aptos"/>
                <a:cs typeface="Aptos"/>
              </a:defRPr>
            </a:pPr>
            <a:r>
              <a:rPr sz="2175" b="1">
                <a:solidFill>
                  <a:srgbClr val="142238"/>
                </a:solidFill>
                <a:latin typeface="Aptos"/>
                <a:ea typeface="Aptos"/>
                <a:cs typeface="Aptos"/>
              </a:rPr>
              <a:t>Policy + failure</a:t>
            </a:r>
          </a:p>
        </p:txBody>
      </p:sp>
      <p:sp>
        <p:nvSpPr>
          <p:cNvPr id="22" name="">
            <a:extLst xmlns:a="http://schemas.openxmlformats.org/drawingml/2006/main">
              <a:ext uri="{FF2B5EF4-FFF2-40B4-BE49-F238E27FC236}">
                <a16:creationId xmlns:a16="http://schemas.microsoft.com/office/drawing/2014/main" id="{A77446B9-C7E6-4A2B-AC88-AB95C5519F32}"/>
              </a:ext>
            </a:extLst>
          </p:cNvPr>
          <p:cNvSpPr>
            <a:spLocks xmlns:a="http://schemas.openxmlformats.org/drawingml/2006/main" noGrp="1"/>
          </p:cNvSpPr>
          <p:nvPr/>
        </p:nvSpPr>
        <p:spPr>
          <a:xfrm xmlns:a="http://schemas.openxmlformats.org/drawingml/2006/main">
            <a:off x="5476875" y="446722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7083"/>
                </a:solidFill>
                <a:latin typeface="Aptos"/>
                <a:ea typeface="Aptos"/>
                <a:cs typeface="Aptos"/>
              </a:defRPr>
            </a:pPr>
            <a:r>
              <a:rPr sz="1950" b="0">
                <a:solidFill>
                  <a:srgbClr val="597083"/>
                </a:solidFill>
                <a:latin typeface="Aptos"/>
                <a:ea typeface="Aptos"/>
                <a:cs typeface="Aptos"/>
              </a:rPr>
              <a:t>Restricted, offline and no-match cases</a:t>
            </a:r>
          </a:p>
        </p:txBody>
      </p:sp>
      <p:sp>
        <p:nvSpPr>
          <p:cNvPr id="23" name="">
            <a:extLst xmlns:a="http://schemas.openxmlformats.org/drawingml/2006/main">
              <a:ext uri="{FF2B5EF4-FFF2-40B4-BE49-F238E27FC236}">
                <a16:creationId xmlns:a16="http://schemas.microsoft.com/office/drawing/2014/main" id="{19CA604F-CCF7-4DA6-BC7A-07D50CC03659}"/>
              </a:ext>
            </a:extLst>
          </p:cNvPr>
          <p:cNvSpPr>
            <a:spLocks xmlns:a="http://schemas.openxmlformats.org/drawingml/2006/main" noGrp="1"/>
          </p:cNvSpPr>
          <p:nvPr/>
        </p:nvSpPr>
        <p:spPr>
          <a:xfrm xmlns:a="http://schemas.openxmlformats.org/drawingml/2006/main">
            <a:off x="1571625" y="5114925"/>
            <a:ext cx="10086975"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916E857-68BE-4264-8B85-6858682A0B69}"/>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EC8192D-AD31-4CE3-88CF-FCC04D45D2BD}"/>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Close the demo with evidence: measured results, known false passages and next tests.</a:t>
            </a:r>
          </a:p>
        </p:txBody>
      </p:sp>
    </p:spTree>
    <p:extLst>
      <p:ext uri="{BB962C8B-B14F-4D97-AF65-F5344CB8AC3E}">
        <p14:creationId xmlns:p14="http://schemas.microsoft.com/office/powerpoint/2010/main" val="3933636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E5B432-685F-43C1-BC81-CFCDA00BA9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C7CE28-D054-4881-A19A-6DC581F278AA}"/>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12 / SCOPE CLARITY</a:t>
            </a:r>
          </a:p>
        </p:txBody>
      </p:sp>
      <p:sp>
        <p:nvSpPr>
          <p:cNvPr id="3" name="">
            <a:extLst xmlns:a="http://schemas.openxmlformats.org/drawingml/2006/main">
              <a:ext uri="{FF2B5EF4-FFF2-40B4-BE49-F238E27FC236}">
                <a16:creationId xmlns:a16="http://schemas.microsoft.com/office/drawing/2014/main" id="{051855C0-8948-4F72-8A94-F1EC1BBFBD92}"/>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A working vertical slice, with explicit boundaries</a:t>
            </a:r>
          </a:p>
        </p:txBody>
      </p:sp>
      <p:sp>
        <p:nvSpPr>
          <p:cNvPr id="4" name="">
            <a:extLst xmlns:a="http://schemas.openxmlformats.org/drawingml/2006/main">
              <a:ext uri="{FF2B5EF4-FFF2-40B4-BE49-F238E27FC236}">
                <a16:creationId xmlns:a16="http://schemas.microsoft.com/office/drawing/2014/main" id="{28121ECF-93A6-41C7-AD0F-095EAC349F6A}"/>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A3B7DB9-AF6A-4BC4-9FF0-061353BE1DB0}"/>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repository modules, fixture inventory and test-output.txt</a:t>
            </a:r>
          </a:p>
        </p:txBody>
      </p:sp>
      <p:sp>
        <p:nvSpPr>
          <p:cNvPr id="6" name="">
            <a:extLst xmlns:a="http://schemas.openxmlformats.org/drawingml/2006/main">
              <a:ext uri="{FF2B5EF4-FFF2-40B4-BE49-F238E27FC236}">
                <a16:creationId xmlns:a16="http://schemas.microsoft.com/office/drawing/2014/main" id="{C47A7BDE-BAFC-4192-B45C-4D0A1E8FDF36}"/>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75673BC5-0201-4122-8224-F4CEF85AA891}"/>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13</a:t>
            </a:r>
          </a:p>
        </p:txBody>
      </p:sp>
      <p:graphicFrame>
        <p:nvGraphicFramePr>
          <p:cNvPr id="18" name=""/>
          <p:cNvGraphicFramePr/>
          <p:nvPr/>
        </p:nvGraphicFramePr>
        <p:xfrm>
          <a:off xmlns:a="http://schemas.openxmlformats.org/drawingml/2006/main" x="514350" y="2047875"/>
          <a:ext xmlns:a="http://schemas.openxmlformats.org/drawingml/2006/main" cx="11144250" cy="3238500"/>
        </p:xfrm>
        <a:graphic xmlns:a="http://schemas.openxmlformats.org/drawingml/2006/main">
          <a:graphicData uri="http://schemas.openxmlformats.org/drawingml/2006/table">
            <a:tbl>
              <a:tblPr/>
              <a:tblGrid>
                <a:gridCol w="3714750"/>
                <a:gridCol w="3714750"/>
                <a:gridCol w="3714750"/>
              </a:tblGrid>
              <a:tr h="647700">
                <a:tc>
                  <a:txBody>
                    <a:bodyPr/>
                    <a:lstStyle/>
                    <a:p>
                      <a:r>
                        <a:rPr sz="1650" b="1">
                          <a:solidFill>
                            <a:srgbClr val="FFFFFF"/>
                          </a:solidFill>
                          <a:latin typeface="Aptos"/>
                          <a:ea typeface="Aptos"/>
                          <a:cs typeface="Aptos"/>
                        </a:rPr>
                        <a:t>Implemented and exercised</a:t>
                      </a:r>
                    </a:p>
                  </a:txBody>
                  <a:tcPr marL="91440" marR="91440" marT="45720" marB="45720">
                    <a:solidFill>
                      <a:srgbClr val="142238"/>
                    </a:solidFill>
                  </a:tcPr>
                </a:tc>
                <a:tc>
                  <a:txBody>
                    <a:bodyPr/>
                    <a:lstStyle/>
                    <a:p>
                      <a:r>
                        <a:rPr sz="1650" b="1">
                          <a:solidFill>
                            <a:srgbClr val="FFFFFF"/>
                          </a:solidFill>
                          <a:latin typeface="Aptos"/>
                          <a:ea typeface="Aptos"/>
                          <a:cs typeface="Aptos"/>
                        </a:rPr>
                        <a:t>Synthetic test material</a:t>
                      </a:r>
                    </a:p>
                  </a:txBody>
                  <a:tcPr marL="91440" marR="91440" marT="45720" marB="45720">
                    <a:solidFill>
                      <a:srgbClr val="142238"/>
                    </a:solidFill>
                  </a:tcPr>
                </a:tc>
                <a:tc>
                  <a:txBody>
                    <a:bodyPr/>
                    <a:lstStyle/>
                    <a:p>
                      <a:r>
                        <a:rPr sz="1650" b="1">
                          <a:solidFill>
                            <a:srgbClr val="FFFFFF"/>
                          </a:solidFill>
                          <a:latin typeface="Aptos"/>
                          <a:ea typeface="Aptos"/>
                          <a:cs typeface="Aptos"/>
                        </a:rPr>
                        <a:t>Proposed production capability</a:t>
                      </a:r>
                    </a:p>
                  </a:txBody>
                  <a:tcPr marL="91440" marR="91440" marT="45720" marB="45720">
                    <a:solidFill>
                      <a:srgbClr val="142238"/>
                    </a:solidFill>
                  </a:tcPr>
                </a:tc>
              </a:tr>
              <a:tr h="647700">
                <a:tc>
                  <a:txBody>
                    <a:bodyPr/>
                    <a:lstStyle/>
                    <a:p>
                      <a:r>
                        <a:rPr sz="1650" b="1">
                          <a:solidFill>
                            <a:srgbClr val="142238"/>
                          </a:solidFill>
                          <a:latin typeface="Aptos"/>
                          <a:ea typeface="Aptos"/>
                          <a:cs typeface="Aptos"/>
                        </a:rPr>
                        <a:t>Validation and timed segmentation</a:t>
                      </a:r>
                    </a:p>
                  </a:txBody>
                  <a:tcPr marL="91440" marR="91440" marT="45720" marB="45720">
                    <a:solidFill>
                      <a:srgbClr val="F3F7F9"/>
                    </a:solidFill>
                  </a:tcPr>
                </a:tc>
                <a:tc>
                  <a:txBody>
                    <a:bodyPr/>
                    <a:lstStyle/>
                    <a:p>
                      <a:r>
                        <a:rPr sz="1650" b="0">
                          <a:solidFill>
                            <a:srgbClr val="142238"/>
                          </a:solidFill>
                          <a:latin typeface="Aptos"/>
                          <a:ea typeface="Aptos"/>
                          <a:cs typeface="Aptos"/>
                        </a:rPr>
                        <a:t>9 records / 12 segments</a:t>
                      </a:r>
                    </a:p>
                  </a:txBody>
                  <a:tcPr marL="91440" marR="91440" marT="45720" marB="45720">
                    <a:solidFill>
                      <a:srgbClr val="F3F7F9"/>
                    </a:solidFill>
                  </a:tcPr>
                </a:tc>
                <a:tc>
                  <a:txBody>
                    <a:bodyPr/>
                    <a:lstStyle/>
                    <a:p>
                      <a:r>
                        <a:rPr sz="1650" b="0">
                          <a:solidFill>
                            <a:srgbClr val="142238"/>
                          </a:solidFill>
                          <a:latin typeface="Aptos"/>
                          <a:ea typeface="Aptos"/>
                          <a:cs typeface="Aptos"/>
                        </a:rPr>
                        <a:t>ASR from real archival audio</a:t>
                      </a:r>
                    </a:p>
                  </a:txBody>
                  <a:tcPr marL="91440" marR="91440" marT="45720" marB="45720">
                    <a:solidFill>
                      <a:srgbClr val="F3F7F9"/>
                    </a:solidFill>
                  </a:tcPr>
                </a:tc>
              </a:tr>
              <a:tr h="647700">
                <a:tc>
                  <a:txBody>
                    <a:bodyPr/>
                    <a:lstStyle/>
                    <a:p>
                      <a:r>
                        <a:rPr sz="1650" b="1">
                          <a:solidFill>
                            <a:srgbClr val="142238"/>
                          </a:solidFill>
                          <a:latin typeface="Aptos"/>
                          <a:ea typeface="Aptos"/>
                          <a:cs typeface="Aptos"/>
                        </a:rPr>
                        <a:t>MiniLM, BM25 and rank fusion</a:t>
                      </a:r>
                    </a:p>
                  </a:txBody>
                  <a:tcPr marL="91440" marR="91440" marT="45720" marB="45720">
                    <a:solidFill>
                      <a:srgbClr val="FFFFFF"/>
                    </a:solidFill>
                  </a:tcPr>
                </a:tc>
                <a:tc>
                  <a:txBody>
                    <a:bodyPr/>
                    <a:lstStyle/>
                    <a:p>
                      <a:r>
                        <a:rPr sz="1650" b="0">
                          <a:solidFill>
                            <a:srgbClr val="142238"/>
                          </a:solidFill>
                          <a:latin typeface="Aptos"/>
                          <a:ea typeface="Aptos"/>
                          <a:cs typeface="Aptos"/>
                        </a:rPr>
                        <a:t>Source clocks and custody references</a:t>
                      </a:r>
                    </a:p>
                  </a:txBody>
                  <a:tcPr marL="91440" marR="91440" marT="45720" marB="45720">
                    <a:solidFill>
                      <a:srgbClr val="FFFFFF"/>
                    </a:solidFill>
                  </a:tcPr>
                </a:tc>
                <a:tc>
                  <a:txBody>
                    <a:bodyPr/>
                    <a:lstStyle/>
                    <a:p>
                      <a:r>
                        <a:rPr sz="1650" b="0">
                          <a:solidFill>
                            <a:srgbClr val="142238"/>
                          </a:solidFill>
                          <a:latin typeface="Aptos"/>
                          <a:ea typeface="Aptos"/>
                          <a:cs typeface="Aptos"/>
                        </a:rPr>
                        <a:t>AWS orchestration and Atlas indexes</a:t>
                      </a:r>
                    </a:p>
                  </a:txBody>
                  <a:tcPr marL="91440" marR="91440" marT="45720" marB="45720">
                    <a:solidFill>
                      <a:srgbClr val="FFFFFF"/>
                    </a:solidFill>
                  </a:tcPr>
                </a:tc>
              </a:tr>
              <a:tr h="647700">
                <a:tc>
                  <a:txBody>
                    <a:bodyPr/>
                    <a:lstStyle/>
                    <a:p>
                      <a:r>
                        <a:rPr sz="1650" b="1">
                          <a:solidFill>
                            <a:srgbClr val="142238"/>
                          </a:solidFill>
                          <a:latin typeface="Aptos"/>
                          <a:ea typeface="Aptos"/>
                          <a:cs typeface="Aptos"/>
                        </a:rPr>
                        <a:t>CLI, API and policy filtering</a:t>
                      </a:r>
                    </a:p>
                  </a:txBody>
                  <a:tcPr marL="91440" marR="91440" marT="45720" marB="45720">
                    <a:solidFill>
                      <a:srgbClr val="F3F7F9"/>
                    </a:solidFill>
                  </a:tcPr>
                </a:tc>
                <a:tc>
                  <a:txBody>
                    <a:bodyPr/>
                    <a:lstStyle/>
                    <a:p>
                      <a:r>
                        <a:rPr sz="1650" b="0">
                          <a:solidFill>
                            <a:srgbClr val="142238"/>
                          </a:solidFill>
                          <a:latin typeface="Aptos"/>
                          <a:ea typeface="Aptos"/>
                          <a:cs typeface="Aptos"/>
                        </a:rPr>
                        <a:t>Fixed user contexts and entitlements</a:t>
                      </a:r>
                    </a:p>
                  </a:txBody>
                  <a:tcPr marL="91440" marR="91440" marT="45720" marB="45720">
                    <a:solidFill>
                      <a:srgbClr val="F3F7F9"/>
                    </a:solidFill>
                  </a:tcPr>
                </a:tc>
                <a:tc>
                  <a:txBody>
                    <a:bodyPr/>
                    <a:lstStyle/>
                    <a:p>
                      <a:r>
                        <a:rPr sz="1650" b="0">
                          <a:solidFill>
                            <a:srgbClr val="142238"/>
                          </a:solidFill>
                          <a:latin typeface="Aptos"/>
                          <a:ea typeface="Aptos"/>
                          <a:cs typeface="Aptos"/>
                        </a:rPr>
                        <a:t>NHA identity, live rights and revocation</a:t>
                      </a:r>
                    </a:p>
                  </a:txBody>
                  <a:tcPr marL="91440" marR="91440" marT="45720" marB="45720">
                    <a:solidFill>
                      <a:srgbClr val="F3F7F9"/>
                    </a:solidFill>
                  </a:tcPr>
                </a:tc>
              </a:tr>
              <a:tr h="647700">
                <a:tc>
                  <a:txBody>
                    <a:bodyPr/>
                    <a:lstStyle/>
                    <a:p>
                      <a:r>
                        <a:rPr sz="1650" b="1">
                          <a:solidFill>
                            <a:srgbClr val="142238"/>
                          </a:solidFill>
                          <a:latin typeface="Aptos"/>
                          <a:ea typeface="Aptos"/>
                          <a:cs typeface="Aptos"/>
                        </a:rPr>
                        <a:t>46 passing tests; saved evaluations</a:t>
                      </a:r>
                    </a:p>
                  </a:txBody>
                  <a:tcPr marL="91440" marR="91440" marT="45720" marB="45720">
                    <a:solidFill>
                      <a:srgbClr val="FFFFFF"/>
                    </a:solidFill>
                  </a:tcPr>
                </a:tc>
                <a:tc>
                  <a:txBody>
                    <a:bodyPr/>
                    <a:lstStyle/>
                    <a:p>
                      <a:r>
                        <a:rPr sz="1650" b="0">
                          <a:solidFill>
                            <a:srgbClr val="142238"/>
                          </a:solidFill>
                          <a:latin typeface="Aptos"/>
                          <a:ea typeface="Aptos"/>
                          <a:cs typeface="Aptos"/>
                        </a:rPr>
                        <a:t>Offline action labels</a:t>
                      </a:r>
                    </a:p>
                  </a:txBody>
                  <a:tcPr marL="91440" marR="91440" marT="45720" marB="45720">
                    <a:solidFill>
                      <a:srgbClr val="FFFFFF"/>
                    </a:solidFill>
                  </a:tcPr>
                </a:tc>
                <a:tc>
                  <a:txBody>
                    <a:bodyPr/>
                    <a:lstStyle/>
                    <a:p>
                      <a:r>
                        <a:rPr sz="1650" b="0">
                          <a:solidFill>
                            <a:srgbClr val="142238"/>
                          </a:solidFill>
                          <a:latin typeface="Aptos"/>
                          <a:ea typeface="Aptos"/>
                          <a:cs typeface="Aptos"/>
                        </a:rPr>
                        <a:t>Playback, export and archive requests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1F94C6E-8514-401F-BB3C-13EF69285DB8}"/>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31E481-FEC8-4CB3-AC7E-A0D7B675D70B}"/>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The pilot replaces assumptions with evidence while preserving the tested data contract.</a:t>
            </a:r>
          </a:p>
        </p:txBody>
      </p:sp>
    </p:spTree>
    <p:extLst>
      <p:ext uri="{BB962C8B-B14F-4D97-AF65-F5344CB8AC3E}">
        <p14:creationId xmlns:p14="http://schemas.microsoft.com/office/powerpoint/2010/main" val="6417056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8CEA57-60FB-46D1-89BF-A351C9BF4A9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DE5122-DA6C-40F4-A0E0-3D3297413EE4}"/>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13 / DIFFICULT MATERIAL</a:t>
            </a:r>
          </a:p>
        </p:txBody>
      </p:sp>
      <p:sp>
        <p:nvSpPr>
          <p:cNvPr id="3" name="">
            <a:extLst xmlns:a="http://schemas.openxmlformats.org/drawingml/2006/main">
              <a:ext uri="{FF2B5EF4-FFF2-40B4-BE49-F238E27FC236}">
                <a16:creationId xmlns:a16="http://schemas.microsoft.com/office/drawing/2014/main" id="{9D355CC4-4CD6-4AF0-A1B6-9BE53A3657C0}"/>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Handle uncertainty as an operational workflow</a:t>
            </a:r>
          </a:p>
        </p:txBody>
      </p:sp>
      <p:sp>
        <p:nvSpPr>
          <p:cNvPr id="4" name="">
            <a:extLst xmlns:a="http://schemas.openxmlformats.org/drawingml/2006/main">
              <a:ext uri="{FF2B5EF4-FFF2-40B4-BE49-F238E27FC236}">
                <a16:creationId xmlns:a16="http://schemas.microsoft.com/office/drawing/2014/main" id="{710743B3-B555-43C5-A5D6-96F8B0A5C619}"/>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16465D-979A-4D30-9DBE-4422514122E5}"/>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D489B449-CC48-4063-BDB8-0C5FD13305DA}"/>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F872AF7F-A8C7-4D6D-905E-38F1F486611E}"/>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14</a:t>
            </a:r>
          </a:p>
        </p:txBody>
      </p:sp>
      <p:graphicFrame>
        <p:nvGraphicFramePr>
          <p:cNvPr id="18" name=""/>
          <p:cNvGraphicFramePr/>
          <p:nvPr/>
        </p:nvGraphicFramePr>
        <p:xfrm>
          <a:off xmlns:a="http://schemas.openxmlformats.org/drawingml/2006/main" x="514350" y="2009775"/>
          <a:ext xmlns:a="http://schemas.openxmlformats.org/drawingml/2006/main" cx="11144250" cy="3486150"/>
        </p:xfrm>
        <a:graphic xmlns:a="http://schemas.openxmlformats.org/drawingml/2006/main">
          <a:graphicData uri="http://schemas.openxmlformats.org/drawingml/2006/table">
            <a:tbl>
              <a:tblPr/>
              <a:tblGrid>
                <a:gridCol w="2857500"/>
                <a:gridCol w="4276725"/>
                <a:gridCol w="4010025"/>
              </a:tblGrid>
              <a:tr h="581025">
                <a:tc>
                  <a:txBody>
                    <a:bodyPr/>
                    <a:lstStyle/>
                    <a:p>
                      <a:r>
                        <a:rPr sz="1575" b="1">
                          <a:solidFill>
                            <a:srgbClr val="FFFFFF"/>
                          </a:solidFill>
                          <a:latin typeface="Aptos"/>
                          <a:ea typeface="Aptos"/>
                          <a:cs typeface="Aptos"/>
                        </a:rPr>
                        <a:t>Condition</a:t>
                      </a:r>
                    </a:p>
                  </a:txBody>
                  <a:tcPr marL="91440" marR="91440" marT="45720" marB="45720">
                    <a:solidFill>
                      <a:srgbClr val="142238"/>
                    </a:solidFill>
                  </a:tcPr>
                </a:tc>
                <a:tc>
                  <a:txBody>
                    <a:bodyPr/>
                    <a:lstStyle/>
                    <a:p>
                      <a:r>
                        <a:rPr sz="1575" b="1">
                          <a:solidFill>
                            <a:srgbClr val="FFFFFF"/>
                          </a:solidFill>
                          <a:latin typeface="Aptos"/>
                          <a:ea typeface="Aptos"/>
                          <a:cs typeface="Aptos"/>
                        </a:rPr>
                        <a:t>System treatment</a:t>
                      </a:r>
                    </a:p>
                  </a:txBody>
                  <a:tcPr marL="91440" marR="91440" marT="45720" marB="45720">
                    <a:solidFill>
                      <a:srgbClr val="142238"/>
                    </a:solidFill>
                  </a:tcPr>
                </a:tc>
                <a:tc>
                  <a:txBody>
                    <a:bodyPr/>
                    <a:lstStyle/>
                    <a:p>
                      <a:r>
                        <a:rPr sz="1575" b="1">
                          <a:solidFill>
                            <a:srgbClr val="FFFFFF"/>
                          </a:solidFill>
                          <a:latin typeface="Aptos"/>
                          <a:ea typeface="Aptos"/>
                          <a:cs typeface="Aptos"/>
                        </a:rPr>
                        <a:t>Human / operational response</a:t>
                      </a:r>
                    </a:p>
                  </a:txBody>
                  <a:tcPr marL="91440" marR="91440" marT="45720" marB="45720">
                    <a:solidFill>
                      <a:srgbClr val="142238"/>
                    </a:solidFill>
                  </a:tcPr>
                </a:tc>
              </a:tr>
              <a:tr h="581025">
                <a:tc>
                  <a:txBody>
                    <a:bodyPr/>
                    <a:lstStyle/>
                    <a:p>
                      <a:r>
                        <a:rPr sz="1575" b="1">
                          <a:solidFill>
                            <a:srgbClr val="142238"/>
                          </a:solidFill>
                          <a:latin typeface="Aptos"/>
                          <a:ea typeface="Aptos"/>
                          <a:cs typeface="Aptos"/>
                        </a:rPr>
                        <a:t>Poor or incomplete audio</a:t>
                      </a:r>
                    </a:p>
                  </a:txBody>
                  <a:tcPr marL="91440" marR="91440" marT="45720" marB="45720">
                    <a:solidFill>
                      <a:srgbClr val="F3F7F9"/>
                    </a:solidFill>
                  </a:tcPr>
                </a:tc>
                <a:tc>
                  <a:txBody>
                    <a:bodyPr/>
                    <a:lstStyle/>
                    <a:p>
                      <a:r>
                        <a:rPr sz="1575" b="0">
                          <a:solidFill>
                            <a:srgbClr val="142238"/>
                          </a:solidFill>
                          <a:latin typeface="Aptos"/>
                          <a:ea typeface="Aptos"/>
                          <a:cs typeface="Aptos"/>
                        </a:rPr>
                        <a:t>Preserve gaps and quality flags</a:t>
                      </a:r>
                    </a:p>
                  </a:txBody>
                  <a:tcPr marL="91440" marR="91440" marT="45720" marB="45720">
                    <a:solidFill>
                      <a:srgbClr val="F3F7F9"/>
                    </a:solidFill>
                  </a:tcPr>
                </a:tc>
                <a:tc>
                  <a:txBody>
                    <a:bodyPr/>
                    <a:lstStyle/>
                    <a:p>
                      <a:r>
                        <a:rPr sz="1575" b="0">
                          <a:solidFill>
                            <a:srgbClr val="142238"/>
                          </a:solidFill>
                          <a:latin typeface="Aptos"/>
                          <a:ea typeface="Aptos"/>
                          <a:cs typeface="Aptos"/>
                        </a:rPr>
                        <a:t>Prioritise review; do not infer missing speech</a:t>
                      </a:r>
                    </a:p>
                  </a:txBody>
                  <a:tcPr marL="91440" marR="91440" marT="45720" marB="45720">
                    <a:solidFill>
                      <a:srgbClr val="F3F7F9"/>
                    </a:solidFill>
                  </a:tcPr>
                </a:tc>
              </a:tr>
              <a:tr h="581025">
                <a:tc>
                  <a:txBody>
                    <a:bodyPr/>
                    <a:lstStyle/>
                    <a:p>
                      <a:r>
                        <a:rPr sz="1575" b="1">
                          <a:solidFill>
                            <a:srgbClr val="142238"/>
                          </a:solidFill>
                          <a:latin typeface="Aptos"/>
                          <a:ea typeface="Aptos"/>
                          <a:cs typeface="Aptos"/>
                        </a:rPr>
                        <a:t>Multiple edits or re-recordings</a:t>
                      </a:r>
                    </a:p>
                  </a:txBody>
                  <a:tcPr marL="91440" marR="91440" marT="45720" marB="45720">
                    <a:solidFill>
                      <a:srgbClr val="FFFFFF"/>
                    </a:solidFill>
                  </a:tcPr>
                </a:tc>
                <a:tc>
                  <a:txBody>
                    <a:bodyPr/>
                    <a:lstStyle/>
                    <a:p>
                      <a:r>
                        <a:rPr sz="1575" b="0">
                          <a:solidFill>
                            <a:srgbClr val="142238"/>
                          </a:solidFill>
                          <a:latin typeface="Aptos"/>
                          <a:ea typeface="Aptos"/>
                          <a:cs typeface="Aptos"/>
                        </a:rPr>
                        <a:t>Version-specific words and intervals</a:t>
                      </a:r>
                    </a:p>
                  </a:txBody>
                  <a:tcPr marL="91440" marR="91440" marT="45720" marB="45720">
                    <a:solidFill>
                      <a:srgbClr val="FFFFFF"/>
                    </a:solidFill>
                  </a:tcPr>
                </a:tc>
                <a:tc>
                  <a:txBody>
                    <a:bodyPr/>
                    <a:lstStyle/>
                    <a:p>
                      <a:r>
                        <a:rPr sz="1575" b="0">
                          <a:solidFill>
                            <a:srgbClr val="142238"/>
                          </a:solidFill>
                          <a:latin typeface="Aptos"/>
                          <a:ea typeface="Aptos"/>
                          <a:cs typeface="Aptos"/>
                        </a:rPr>
                        <a:t>Confirm which source can be delivered</a:t>
                      </a:r>
                    </a:p>
                  </a:txBody>
                  <a:tcPr marL="91440" marR="91440" marT="45720" marB="45720">
                    <a:solidFill>
                      <a:srgbClr val="FFFFFF"/>
                    </a:solidFill>
                  </a:tcPr>
                </a:tc>
              </a:tr>
              <a:tr h="581025">
                <a:tc>
                  <a:txBody>
                    <a:bodyPr/>
                    <a:lstStyle/>
                    <a:p>
                      <a:r>
                        <a:rPr sz="1575" b="1">
                          <a:solidFill>
                            <a:srgbClr val="142238"/>
                          </a:solidFill>
                          <a:latin typeface="Aptos"/>
                          <a:ea typeface="Aptos"/>
                          <a:cs typeface="Aptos"/>
                        </a:rPr>
                        <a:t>Language variation</a:t>
                      </a:r>
                    </a:p>
                  </a:txBody>
                  <a:tcPr marL="91440" marR="91440" marT="45720" marB="45720">
                    <a:solidFill>
                      <a:srgbClr val="F3F7F9"/>
                    </a:solidFill>
                  </a:tcPr>
                </a:tc>
                <a:tc>
                  <a:txBody>
                    <a:bodyPr/>
                    <a:lstStyle/>
                    <a:p>
                      <a:r>
                        <a:rPr sz="1575" b="0">
                          <a:solidFill>
                            <a:srgbClr val="142238"/>
                          </a:solidFill>
                          <a:latin typeface="Aptos"/>
                          <a:ea typeface="Aptos"/>
                          <a:cs typeface="Aptos"/>
                        </a:rPr>
                        <a:t>Retain language; evaluate by cohort</a:t>
                      </a:r>
                    </a:p>
                  </a:txBody>
                  <a:tcPr marL="91440" marR="91440" marT="45720" marB="45720">
                    <a:solidFill>
                      <a:srgbClr val="F3F7F9"/>
                    </a:solidFill>
                  </a:tcPr>
                </a:tc>
                <a:tc>
                  <a:txBody>
                    <a:bodyPr/>
                    <a:lstStyle/>
                    <a:p>
                      <a:r>
                        <a:rPr sz="1575" b="0">
                          <a:solidFill>
                            <a:srgbClr val="142238"/>
                          </a:solidFill>
                          <a:latin typeface="Aptos"/>
                          <a:ea typeface="Aptos"/>
                          <a:cs typeface="Aptos"/>
                        </a:rPr>
                        <a:t>Review unsupported or weak cohorts</a:t>
                      </a:r>
                    </a:p>
                  </a:txBody>
                  <a:tcPr marL="91440" marR="91440" marT="45720" marB="45720">
                    <a:solidFill>
                      <a:srgbClr val="F3F7F9"/>
                    </a:solidFill>
                  </a:tcPr>
                </a:tc>
              </a:tr>
              <a:tr h="581025">
                <a:tc>
                  <a:txBody>
                    <a:bodyPr/>
                    <a:lstStyle/>
                    <a:p>
                      <a:r>
                        <a:rPr sz="1575" b="1">
                          <a:solidFill>
                            <a:srgbClr val="142238"/>
                          </a:solidFill>
                          <a:latin typeface="Aptos"/>
                          <a:ea typeface="Aptos"/>
                          <a:cs typeface="Aptos"/>
                        </a:rPr>
                        <a:t>Sparse or conflicting metadata</a:t>
                      </a:r>
                    </a:p>
                  </a:txBody>
                  <a:tcPr marL="91440" marR="91440" marT="45720" marB="45720">
                    <a:solidFill>
                      <a:srgbClr val="FFFFFF"/>
                    </a:solidFill>
                  </a:tcPr>
                </a:tc>
                <a:tc>
                  <a:txBody>
                    <a:bodyPr/>
                    <a:lstStyle/>
                    <a:p>
                      <a:r>
                        <a:rPr sz="1575" b="0">
                          <a:solidFill>
                            <a:srgbClr val="142238"/>
                          </a:solidFill>
                          <a:latin typeface="Aptos"/>
                          <a:ea typeface="Aptos"/>
                          <a:cs typeface="Aptos"/>
                        </a:rPr>
                        <a:t>Separate source facts from enrichment</a:t>
                      </a:r>
                    </a:p>
                  </a:txBody>
                  <a:tcPr marL="91440" marR="91440" marT="45720" marB="45720">
                    <a:solidFill>
                      <a:srgbClr val="FFFFFF"/>
                    </a:solidFill>
                  </a:tcPr>
                </a:tc>
                <a:tc>
                  <a:txBody>
                    <a:bodyPr/>
                    <a:lstStyle/>
                    <a:p>
                      <a:r>
                        <a:rPr sz="1575" b="0">
                          <a:solidFill>
                            <a:srgbClr val="142238"/>
                          </a:solidFill>
                          <a:latin typeface="Aptos"/>
                          <a:ea typeface="Aptos"/>
                          <a:cs typeface="Aptos"/>
                        </a:rPr>
                        <a:t>Archivist resolves catalogue authority</a:t>
                      </a:r>
                    </a:p>
                  </a:txBody>
                  <a:tcPr marL="91440" marR="91440" marT="45720" marB="45720">
                    <a:solidFill>
                      <a:srgbClr val="FFFFFF"/>
                    </a:solidFill>
                  </a:tcPr>
                </a:tc>
              </a:tr>
              <a:tr h="581025">
                <a:tc>
                  <a:txBody>
                    <a:bodyPr/>
                    <a:lstStyle/>
                    <a:p>
                      <a:r>
                        <a:rPr sz="1575" b="1">
                          <a:solidFill>
                            <a:srgbClr val="142238"/>
                          </a:solidFill>
                          <a:latin typeface="Aptos"/>
                          <a:ea typeface="Aptos"/>
                          <a:cs typeface="Aptos"/>
                        </a:rPr>
                        <a:t>Offline or restricted assets</a:t>
                      </a:r>
                    </a:p>
                  </a:txBody>
                  <a:tcPr marL="91440" marR="91440" marT="45720" marB="45720">
                    <a:solidFill>
                      <a:srgbClr val="F3F7F9"/>
                    </a:solidFill>
                  </a:tcPr>
                </a:tc>
                <a:tc>
                  <a:txBody>
                    <a:bodyPr/>
                    <a:lstStyle/>
                    <a:p>
                      <a:r>
                        <a:rPr sz="1575" b="0">
                          <a:solidFill>
                            <a:srgbClr val="142238"/>
                          </a:solidFill>
                          <a:latin typeface="Aptos"/>
                          <a:ea typeface="Aptos"/>
                          <a:cs typeface="Aptos"/>
                        </a:rPr>
                        <a:t>Return only permitted evidence / actions</a:t>
                      </a:r>
                    </a:p>
                  </a:txBody>
                  <a:tcPr marL="91440" marR="91440" marT="45720" marB="45720">
                    <a:solidFill>
                      <a:srgbClr val="F3F7F9"/>
                    </a:solidFill>
                  </a:tcPr>
                </a:tc>
                <a:tc>
                  <a:txBody>
                    <a:bodyPr/>
                    <a:lstStyle/>
                    <a:p>
                      <a:r>
                        <a:rPr sz="1575" b="0">
                          <a:solidFill>
                            <a:srgbClr val="142238"/>
                          </a:solidFill>
                          <a:latin typeface="Aptos"/>
                          <a:ea typeface="Aptos"/>
                          <a:cs typeface="Aptos"/>
                        </a:rPr>
                        <a:t>Route to authorised archive workflow</a:t>
                      </a:r>
                    </a:p>
                  </a:txBody>
                  <a:tcPr marL="91440" marR="91440" marT="45720" marB="45720">
                    <a:solidFill>
                      <a:srgbClr val="F3F7F9"/>
                    </a:solidFill>
                  </a:tcPr>
                </a:tc>
              </a:tr>
            </a:tbl>
          </a:graphicData>
        </a:graphic>
      </p:graphicFrame>
      <p:sp>
        <p:nvSpPr>
          <p:cNvPr id="9" name="">
            <a:extLst xmlns:a="http://schemas.openxmlformats.org/drawingml/2006/main">
              <a:ext uri="{FF2B5EF4-FFF2-40B4-BE49-F238E27FC236}">
                <a16:creationId xmlns:a16="http://schemas.microsoft.com/office/drawing/2014/main" id="{02088828-C83F-48C6-BA58-A7FE675FDDF2}"/>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4FD720-ED09-4992-8DF4-A7A1937D8EA7}"/>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Confidence affects presentation and review priority; it does not override rights.</a:t>
            </a:r>
          </a:p>
        </p:txBody>
      </p:sp>
    </p:spTree>
    <p:extLst>
      <p:ext uri="{BB962C8B-B14F-4D97-AF65-F5344CB8AC3E}">
        <p14:creationId xmlns:p14="http://schemas.microsoft.com/office/powerpoint/2010/main" val="1823696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4BB41B4-7417-4CF6-9796-8438F428AD4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C57639-63B6-4F6D-A0F1-029352FF29AD}"/>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14 / GOVERNANCE</a:t>
            </a:r>
          </a:p>
        </p:txBody>
      </p:sp>
      <p:sp>
        <p:nvSpPr>
          <p:cNvPr id="3" name="">
            <a:extLst xmlns:a="http://schemas.openxmlformats.org/drawingml/2006/main">
              <a:ext uri="{FF2B5EF4-FFF2-40B4-BE49-F238E27FC236}">
                <a16:creationId xmlns:a16="http://schemas.microsoft.com/office/drawing/2014/main" id="{154D99F6-52AC-48E6-9438-B649F5E5CB49}"/>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Build permission checks into the evidence path</a:t>
            </a:r>
          </a:p>
        </p:txBody>
      </p:sp>
      <p:sp>
        <p:nvSpPr>
          <p:cNvPr id="4" name="">
            <a:extLst xmlns:a="http://schemas.openxmlformats.org/drawingml/2006/main">
              <a:ext uri="{FF2B5EF4-FFF2-40B4-BE49-F238E27FC236}">
                <a16:creationId xmlns:a16="http://schemas.microsoft.com/office/drawing/2014/main" id="{407067F1-5DCE-40B8-985D-149964943113}"/>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FDDD99-414A-47DC-B7D7-A4FF2B7EB77E}"/>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06BF0E71-47A7-47E1-8C36-F7D239AB99DB}"/>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03D41BBF-BA92-4B22-BA7F-195A2F694429}"/>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548925B6-54E3-4E3E-B1E2-6776FDE5B57B}"/>
              </a:ext>
            </a:extLst>
          </p:cNvPr>
          <p:cNvSpPr>
            <a:spLocks xmlns:a="http://schemas.openxmlformats.org/drawingml/2006/main" noGrp="1"/>
          </p:cNvSpPr>
          <p:nvPr/>
        </p:nvSpPr>
        <p:spPr>
          <a:xfrm xmlns:a="http://schemas.openxmlformats.org/drawingml/2006/main">
            <a:off x="514350" y="2152650"/>
            <a:ext cx="2552700" cy="51435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AC1EB4-669A-4D39-BBB8-2FA230EBD3AE}"/>
              </a:ext>
            </a:extLst>
          </p:cNvPr>
          <p:cNvSpPr>
            <a:spLocks xmlns:a="http://schemas.openxmlformats.org/drawingml/2006/main" noGrp="1"/>
          </p:cNvSpPr>
          <p:nvPr/>
        </p:nvSpPr>
        <p:spPr>
          <a:xfrm xmlns:a="http://schemas.openxmlformats.org/drawingml/2006/main">
            <a:off x="657225" y="21907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887E"/>
                </a:solidFill>
                <a:latin typeface="Aptos"/>
                <a:ea typeface="Aptos"/>
                <a:cs typeface="Aptos"/>
              </a:defRPr>
            </a:pPr>
            <a:r>
              <a:rPr sz="2400" b="1">
                <a:solidFill>
                  <a:srgbClr val="0A887E"/>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1F920026-8635-4921-BBAA-6EAA51B49C4C}"/>
              </a:ext>
            </a:extLst>
          </p:cNvPr>
          <p:cNvSpPr>
            <a:spLocks xmlns:a="http://schemas.openxmlformats.org/drawingml/2006/main" noGrp="1"/>
          </p:cNvSpPr>
          <p:nvPr/>
        </p:nvSpPr>
        <p:spPr>
          <a:xfrm xmlns:a="http://schemas.openxmlformats.org/drawingml/2006/main">
            <a:off x="514350" y="2971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238"/>
                </a:solidFill>
                <a:latin typeface="Aptos"/>
                <a:ea typeface="Aptos"/>
                <a:cs typeface="Aptos"/>
              </a:defRPr>
            </a:pPr>
            <a:r>
              <a:rPr sz="1650" b="1">
                <a:solidFill>
                  <a:srgbClr val="142238"/>
                </a:solidFill>
                <a:latin typeface="Aptos"/>
                <a:ea typeface="Aptos"/>
                <a:cs typeface="Aptos"/>
              </a:rPr>
              <a:t>BEFORE SEARCH</a:t>
            </a:r>
          </a:p>
        </p:txBody>
      </p:sp>
      <p:sp>
        <p:nvSpPr>
          <p:cNvPr id="11" name="">
            <a:extLst xmlns:a="http://schemas.openxmlformats.org/drawingml/2006/main">
              <a:ext uri="{FF2B5EF4-FFF2-40B4-BE49-F238E27FC236}">
                <a16:creationId xmlns:a16="http://schemas.microsoft.com/office/drawing/2014/main" id="{05206E2F-CEB6-4E3B-8D36-F6260CE1C1AB}"/>
              </a:ext>
            </a:extLst>
          </p:cNvPr>
          <p:cNvSpPr>
            <a:spLocks xmlns:a="http://schemas.openxmlformats.org/drawingml/2006/main" noGrp="1"/>
          </p:cNvSpPr>
          <p:nvPr/>
        </p:nvSpPr>
        <p:spPr>
          <a:xfrm xmlns:a="http://schemas.openxmlformats.org/drawingml/2006/main">
            <a:off x="514350" y="3752850"/>
            <a:ext cx="24955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Resolve identity and permitted collections.</a:t>
            </a:r>
          </a:p>
        </p:txBody>
      </p:sp>
      <p:sp>
        <p:nvSpPr>
          <p:cNvPr id="12" name="">
            <a:extLst xmlns:a="http://schemas.openxmlformats.org/drawingml/2006/main">
              <a:ext uri="{FF2B5EF4-FFF2-40B4-BE49-F238E27FC236}">
                <a16:creationId xmlns:a16="http://schemas.microsoft.com/office/drawing/2014/main" id="{C2B3BD99-822F-486B-BEDA-270212493D46}"/>
              </a:ext>
            </a:extLst>
          </p:cNvPr>
          <p:cNvSpPr>
            <a:spLocks xmlns:a="http://schemas.openxmlformats.org/drawingml/2006/main" noGrp="1"/>
          </p:cNvSpPr>
          <p:nvPr/>
        </p:nvSpPr>
        <p:spPr>
          <a:xfrm xmlns:a="http://schemas.openxmlformats.org/drawingml/2006/main">
            <a:off x="3352800" y="2152650"/>
            <a:ext cx="2552700" cy="514350"/>
          </a:xfrm>
          <a:prstGeom xmlns:a="http://schemas.openxmlformats.org/drawingml/2006/main" prst="rect">
            <a:avLst/>
          </a:prstGeom>
          <a:solidFill xmlns:a="http://schemas.openxmlformats.org/drawingml/2006/main">
            <a:srgbClr val="DDEBF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CA55767-83A4-4D8D-93C9-C3F285D44A33}"/>
              </a:ext>
            </a:extLst>
          </p:cNvPr>
          <p:cNvSpPr>
            <a:spLocks xmlns:a="http://schemas.openxmlformats.org/drawingml/2006/main" noGrp="1"/>
          </p:cNvSpPr>
          <p:nvPr/>
        </p:nvSpPr>
        <p:spPr>
          <a:xfrm xmlns:a="http://schemas.openxmlformats.org/drawingml/2006/main">
            <a:off x="3495675" y="21907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887E"/>
                </a:solidFill>
                <a:latin typeface="Aptos"/>
                <a:ea typeface="Aptos"/>
                <a:cs typeface="Aptos"/>
              </a:defRPr>
            </a:pPr>
            <a:r>
              <a:rPr sz="2400" b="1">
                <a:solidFill>
                  <a:srgbClr val="0A887E"/>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A1DB489D-E54C-4812-A6B0-CD5FD2075F48}"/>
              </a:ext>
            </a:extLst>
          </p:cNvPr>
          <p:cNvSpPr>
            <a:spLocks xmlns:a="http://schemas.openxmlformats.org/drawingml/2006/main" noGrp="1"/>
          </p:cNvSpPr>
          <p:nvPr/>
        </p:nvSpPr>
        <p:spPr>
          <a:xfrm xmlns:a="http://schemas.openxmlformats.org/drawingml/2006/main">
            <a:off x="3352800" y="2971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238"/>
                </a:solidFill>
                <a:latin typeface="Aptos"/>
                <a:ea typeface="Aptos"/>
                <a:cs typeface="Aptos"/>
              </a:defRPr>
            </a:pPr>
            <a:r>
              <a:rPr sz="1650" b="1">
                <a:solidFill>
                  <a:srgbClr val="142238"/>
                </a:solidFill>
                <a:latin typeface="Aptos"/>
                <a:ea typeface="Aptos"/>
                <a:cs typeface="Aptos"/>
              </a:rPr>
              <a:t>DURING RETRIEVAL</a:t>
            </a:r>
          </a:p>
        </p:txBody>
      </p:sp>
      <p:sp>
        <p:nvSpPr>
          <p:cNvPr id="15" name="">
            <a:extLst xmlns:a="http://schemas.openxmlformats.org/drawingml/2006/main">
              <a:ext uri="{FF2B5EF4-FFF2-40B4-BE49-F238E27FC236}">
                <a16:creationId xmlns:a16="http://schemas.microsoft.com/office/drawing/2014/main" id="{DBC975A4-44A8-408B-BA20-95C52F0E43A2}"/>
              </a:ext>
            </a:extLst>
          </p:cNvPr>
          <p:cNvSpPr>
            <a:spLocks xmlns:a="http://schemas.openxmlformats.org/drawingml/2006/main" noGrp="1"/>
          </p:cNvSpPr>
          <p:nvPr/>
        </p:nvSpPr>
        <p:spPr>
          <a:xfrm xmlns:a="http://schemas.openxmlformats.org/drawingml/2006/main">
            <a:off x="3352800" y="3752850"/>
            <a:ext cx="24955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Filter lexical and vector candidates consistently.</a:t>
            </a:r>
          </a:p>
        </p:txBody>
      </p:sp>
      <p:sp>
        <p:nvSpPr>
          <p:cNvPr id="16" name="">
            <a:extLst xmlns:a="http://schemas.openxmlformats.org/drawingml/2006/main">
              <a:ext uri="{FF2B5EF4-FFF2-40B4-BE49-F238E27FC236}">
                <a16:creationId xmlns:a16="http://schemas.microsoft.com/office/drawing/2014/main" id="{446089DD-ED85-4597-A477-5AF363CE43A5}"/>
              </a:ext>
            </a:extLst>
          </p:cNvPr>
          <p:cNvSpPr>
            <a:spLocks xmlns:a="http://schemas.openxmlformats.org/drawingml/2006/main" noGrp="1"/>
          </p:cNvSpPr>
          <p:nvPr/>
        </p:nvSpPr>
        <p:spPr>
          <a:xfrm xmlns:a="http://schemas.openxmlformats.org/drawingml/2006/main">
            <a:off x="6191250" y="2152650"/>
            <a:ext cx="2552700" cy="51435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CE5B4F-6EF3-4E93-AF4F-66A0C59BFC41}"/>
              </a:ext>
            </a:extLst>
          </p:cNvPr>
          <p:cNvSpPr>
            <a:spLocks xmlns:a="http://schemas.openxmlformats.org/drawingml/2006/main" noGrp="1"/>
          </p:cNvSpPr>
          <p:nvPr/>
        </p:nvSpPr>
        <p:spPr>
          <a:xfrm xmlns:a="http://schemas.openxmlformats.org/drawingml/2006/main">
            <a:off x="6334125" y="21907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887E"/>
                </a:solidFill>
                <a:latin typeface="Aptos"/>
                <a:ea typeface="Aptos"/>
                <a:cs typeface="Aptos"/>
              </a:defRPr>
            </a:pPr>
            <a:r>
              <a:rPr sz="2400" b="1">
                <a:solidFill>
                  <a:srgbClr val="0A887E"/>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8F7ADD18-1914-4B8D-B31A-79C217FCD4B3}"/>
              </a:ext>
            </a:extLst>
          </p:cNvPr>
          <p:cNvSpPr>
            <a:spLocks xmlns:a="http://schemas.openxmlformats.org/drawingml/2006/main" noGrp="1"/>
          </p:cNvSpPr>
          <p:nvPr/>
        </p:nvSpPr>
        <p:spPr>
          <a:xfrm xmlns:a="http://schemas.openxmlformats.org/drawingml/2006/main">
            <a:off x="6191250" y="2971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238"/>
                </a:solidFill>
                <a:latin typeface="Aptos"/>
                <a:ea typeface="Aptos"/>
                <a:cs typeface="Aptos"/>
              </a:defRPr>
            </a:pPr>
            <a:r>
              <a:rPr sz="1650" b="1">
                <a:solidFill>
                  <a:srgbClr val="142238"/>
                </a:solidFill>
                <a:latin typeface="Aptos"/>
                <a:ea typeface="Aptos"/>
                <a:cs typeface="Aptos"/>
              </a:rPr>
              <a:t>BEFORE DELIVERY</a:t>
            </a:r>
          </a:p>
        </p:txBody>
      </p:sp>
      <p:sp>
        <p:nvSpPr>
          <p:cNvPr id="19" name="">
            <a:extLst xmlns:a="http://schemas.openxmlformats.org/drawingml/2006/main">
              <a:ext uri="{FF2B5EF4-FFF2-40B4-BE49-F238E27FC236}">
                <a16:creationId xmlns:a16="http://schemas.microsoft.com/office/drawing/2014/main" id="{240FEE34-F6C3-42B7-AE2D-52CC329769E6}"/>
              </a:ext>
            </a:extLst>
          </p:cNvPr>
          <p:cNvSpPr>
            <a:spLocks xmlns:a="http://schemas.openxmlformats.org/drawingml/2006/main" noGrp="1"/>
          </p:cNvSpPr>
          <p:nvPr/>
        </p:nvSpPr>
        <p:spPr>
          <a:xfrm xmlns:a="http://schemas.openxmlformats.org/drawingml/2006/main">
            <a:off x="6191250" y="3752850"/>
            <a:ext cx="24955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Recheck snippet, preview and export permissions.</a:t>
            </a:r>
          </a:p>
        </p:txBody>
      </p:sp>
      <p:sp>
        <p:nvSpPr>
          <p:cNvPr id="20" name="">
            <a:extLst xmlns:a="http://schemas.openxmlformats.org/drawingml/2006/main">
              <a:ext uri="{FF2B5EF4-FFF2-40B4-BE49-F238E27FC236}">
                <a16:creationId xmlns:a16="http://schemas.microsoft.com/office/drawing/2014/main" id="{2DCB1236-4E8F-48A9-BFF1-5D3DABC7A951}"/>
              </a:ext>
            </a:extLst>
          </p:cNvPr>
          <p:cNvSpPr>
            <a:spLocks xmlns:a="http://schemas.openxmlformats.org/drawingml/2006/main" noGrp="1"/>
          </p:cNvSpPr>
          <p:nvPr/>
        </p:nvSpPr>
        <p:spPr>
          <a:xfrm xmlns:a="http://schemas.openxmlformats.org/drawingml/2006/main">
            <a:off x="9029700" y="2152650"/>
            <a:ext cx="2552700" cy="514350"/>
          </a:xfrm>
          <a:prstGeom xmlns:a="http://schemas.openxmlformats.org/drawingml/2006/main" prst="rect">
            <a:avLst/>
          </a:prstGeom>
          <a:solidFill xmlns:a="http://schemas.openxmlformats.org/drawingml/2006/main">
            <a:srgbClr val="DDEB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C65A72F-87FC-4755-85A1-D53BC845A6BB}"/>
              </a:ext>
            </a:extLst>
          </p:cNvPr>
          <p:cNvSpPr>
            <a:spLocks xmlns:a="http://schemas.openxmlformats.org/drawingml/2006/main" noGrp="1"/>
          </p:cNvSpPr>
          <p:nvPr/>
        </p:nvSpPr>
        <p:spPr>
          <a:xfrm xmlns:a="http://schemas.openxmlformats.org/drawingml/2006/main">
            <a:off x="9172575" y="21907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A887E"/>
                </a:solidFill>
                <a:latin typeface="Aptos"/>
                <a:ea typeface="Aptos"/>
                <a:cs typeface="Aptos"/>
              </a:defRPr>
            </a:pPr>
            <a:r>
              <a:rPr sz="2400" b="1">
                <a:solidFill>
                  <a:srgbClr val="0A887E"/>
                </a:solidFill>
                <a:latin typeface="Aptos"/>
                <a:ea typeface="Aptos"/>
                <a:cs typeface="Aptos"/>
              </a:rPr>
              <a:t>04</a:t>
            </a:r>
          </a:p>
        </p:txBody>
      </p:sp>
      <p:sp>
        <p:nvSpPr>
          <p:cNvPr id="22" name="">
            <a:extLst xmlns:a="http://schemas.openxmlformats.org/drawingml/2006/main">
              <a:ext uri="{FF2B5EF4-FFF2-40B4-BE49-F238E27FC236}">
                <a16:creationId xmlns:a16="http://schemas.microsoft.com/office/drawing/2014/main" id="{4E0DFCC3-D16A-45C1-A0BC-5B761533CB7E}"/>
              </a:ext>
            </a:extLst>
          </p:cNvPr>
          <p:cNvSpPr>
            <a:spLocks xmlns:a="http://schemas.openxmlformats.org/drawingml/2006/main" noGrp="1"/>
          </p:cNvSpPr>
          <p:nvPr/>
        </p:nvSpPr>
        <p:spPr>
          <a:xfrm xmlns:a="http://schemas.openxmlformats.org/drawingml/2006/main">
            <a:off x="9029700" y="2971800"/>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42238"/>
                </a:solidFill>
                <a:latin typeface="Aptos"/>
                <a:ea typeface="Aptos"/>
                <a:cs typeface="Aptos"/>
              </a:defRPr>
            </a:pPr>
            <a:r>
              <a:rPr sz="1650" b="1">
                <a:solidFill>
                  <a:srgbClr val="142238"/>
                </a:solidFill>
                <a:latin typeface="Aptos"/>
                <a:ea typeface="Aptos"/>
                <a:cs typeface="Aptos"/>
              </a:rPr>
              <a:t>AFTER CHANGE</a:t>
            </a:r>
          </a:p>
        </p:txBody>
      </p:sp>
      <p:sp>
        <p:nvSpPr>
          <p:cNvPr id="23" name="">
            <a:extLst xmlns:a="http://schemas.openxmlformats.org/drawingml/2006/main">
              <a:ext uri="{FF2B5EF4-FFF2-40B4-BE49-F238E27FC236}">
                <a16:creationId xmlns:a16="http://schemas.microsoft.com/office/drawing/2014/main" id="{105DEFC5-F7A4-4F9E-B0AE-63C434AB46B3}"/>
              </a:ext>
            </a:extLst>
          </p:cNvPr>
          <p:cNvSpPr>
            <a:spLocks xmlns:a="http://schemas.openxmlformats.org/drawingml/2006/main" noGrp="1"/>
          </p:cNvSpPr>
          <p:nvPr/>
        </p:nvSpPr>
        <p:spPr>
          <a:xfrm xmlns:a="http://schemas.openxmlformats.org/drawingml/2006/main">
            <a:off x="9029700" y="3752850"/>
            <a:ext cx="24955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7083"/>
                </a:solidFill>
                <a:latin typeface="Aptos"/>
                <a:ea typeface="Aptos"/>
                <a:cs typeface="Aptos"/>
              </a:defRPr>
            </a:pPr>
            <a:r>
              <a:rPr sz="1875" b="0">
                <a:solidFill>
                  <a:srgbClr val="597083"/>
                </a:solidFill>
                <a:latin typeface="Aptos"/>
                <a:ea typeface="Aptos"/>
                <a:cs typeface="Aptos"/>
              </a:rPr>
              <a:t>Revoke access, invalidate visibility and retain audit.</a:t>
            </a:r>
          </a:p>
        </p:txBody>
      </p:sp>
      <p:sp>
        <p:nvSpPr>
          <p:cNvPr id="24" name="">
            <a:extLst xmlns:a="http://schemas.openxmlformats.org/drawingml/2006/main">
              <a:ext uri="{FF2B5EF4-FFF2-40B4-BE49-F238E27FC236}">
                <a16:creationId xmlns:a16="http://schemas.microsoft.com/office/drawing/2014/main" id="{2C4D1CA9-729C-419C-AB8A-2EDA3C5D7C43}"/>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7CAF7F6-7E30-4BCD-8D73-1F12D3C5F585}"/>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NHA owns policy and custody; the application enforces approved access decisions.</a:t>
            </a:r>
          </a:p>
        </p:txBody>
      </p:sp>
    </p:spTree>
    <p:extLst>
      <p:ext uri="{BB962C8B-B14F-4D97-AF65-F5344CB8AC3E}">
        <p14:creationId xmlns:p14="http://schemas.microsoft.com/office/powerpoint/2010/main" val="5133461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6F9C5D-D225-4AD6-B52F-3527A43C2FB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91F971-9F8C-4330-9FB2-901CB779E9D1}"/>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15 / ARCHITECTURE CHOICES</a:t>
            </a:r>
          </a:p>
        </p:txBody>
      </p:sp>
      <p:sp>
        <p:nvSpPr>
          <p:cNvPr id="3" name="">
            <a:extLst xmlns:a="http://schemas.openxmlformats.org/drawingml/2006/main">
              <a:ext uri="{FF2B5EF4-FFF2-40B4-BE49-F238E27FC236}">
                <a16:creationId xmlns:a16="http://schemas.microsoft.com/office/drawing/2014/main" id="{591231F0-51EE-4F14-BC58-F6D107B9709D}"/>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Choose simplicity now; preserve future options</a:t>
            </a:r>
          </a:p>
        </p:txBody>
      </p:sp>
      <p:sp>
        <p:nvSpPr>
          <p:cNvPr id="4" name="">
            <a:extLst xmlns:a="http://schemas.openxmlformats.org/drawingml/2006/main">
              <a:ext uri="{FF2B5EF4-FFF2-40B4-BE49-F238E27FC236}">
                <a16:creationId xmlns:a16="http://schemas.microsoft.com/office/drawing/2014/main" id="{3E18DC5F-8AFE-4ED2-9614-536DB8D86D1E}"/>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D64912-B261-4D71-961E-51D6C66E7F8A}"/>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E4E4CA1E-0FB6-4EB4-9601-E4CF024B8C90}"/>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E7584A76-83C7-4903-9192-2BAD501F0DB7}"/>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16</a:t>
            </a:r>
          </a:p>
        </p:txBody>
      </p:sp>
      <p:graphicFrame>
        <p:nvGraphicFramePr>
          <p:cNvPr id="18" name=""/>
          <p:cNvGraphicFramePr/>
          <p:nvPr/>
        </p:nvGraphicFramePr>
        <p:xfrm>
          <a:off xmlns:a="http://schemas.openxmlformats.org/drawingml/2006/main" x="514350" y="2009775"/>
          <a:ext xmlns:a="http://schemas.openxmlformats.org/drawingml/2006/main" cx="11144250" cy="3486150"/>
        </p:xfrm>
        <a:graphic xmlns:a="http://schemas.openxmlformats.org/drawingml/2006/main">
          <a:graphicData uri="http://schemas.openxmlformats.org/drawingml/2006/table">
            <a:tbl>
              <a:tblPr/>
              <a:tblGrid>
                <a:gridCol w="2238375"/>
                <a:gridCol w="4429125"/>
                <a:gridCol w="4476750"/>
              </a:tblGrid>
              <a:tr h="581025">
                <a:tc>
                  <a:txBody>
                    <a:bodyPr/>
                    <a:lstStyle/>
                    <a:p>
                      <a:r>
                        <a:rPr sz="1575" b="1">
                          <a:solidFill>
                            <a:srgbClr val="FFFFFF"/>
                          </a:solidFill>
                          <a:latin typeface="Aptos"/>
                          <a:ea typeface="Aptos"/>
                          <a:cs typeface="Aptos"/>
                        </a:rPr>
                        <a:t>Decision</a:t>
                      </a:r>
                    </a:p>
                  </a:txBody>
                  <a:tcPr marL="91440" marR="91440" marT="45720" marB="45720">
                    <a:solidFill>
                      <a:srgbClr val="142238"/>
                    </a:solidFill>
                  </a:tcPr>
                </a:tc>
                <a:tc>
                  <a:txBody>
                    <a:bodyPr/>
                    <a:lstStyle/>
                    <a:p>
                      <a:r>
                        <a:rPr sz="1575" b="1">
                          <a:solidFill>
                            <a:srgbClr val="FFFFFF"/>
                          </a:solidFill>
                          <a:latin typeface="Aptos"/>
                          <a:ea typeface="Aptos"/>
                          <a:cs typeface="Aptos"/>
                        </a:rPr>
                        <a:t>Recommended starting point</a:t>
                      </a:r>
                    </a:p>
                  </a:txBody>
                  <a:tcPr marL="91440" marR="91440" marT="45720" marB="45720">
                    <a:solidFill>
                      <a:srgbClr val="142238"/>
                    </a:solidFill>
                  </a:tcPr>
                </a:tc>
                <a:tc>
                  <a:txBody>
                    <a:bodyPr/>
                    <a:lstStyle/>
                    <a:p>
                      <a:r>
                        <a:rPr sz="1575" b="1">
                          <a:solidFill>
                            <a:srgbClr val="FFFFFF"/>
                          </a:solidFill>
                          <a:latin typeface="Aptos"/>
                          <a:ea typeface="Aptos"/>
                          <a:cs typeface="Aptos"/>
                        </a:rPr>
                        <a:t>Revisit when…</a:t>
                      </a:r>
                    </a:p>
                  </a:txBody>
                  <a:tcPr marL="91440" marR="91440" marT="45720" marB="45720">
                    <a:solidFill>
                      <a:srgbClr val="142238"/>
                    </a:solidFill>
                  </a:tcPr>
                </a:tc>
              </a:tr>
              <a:tr h="581025">
                <a:tc>
                  <a:txBody>
                    <a:bodyPr/>
                    <a:lstStyle/>
                    <a:p>
                      <a:r>
                        <a:rPr sz="1575" b="1">
                          <a:solidFill>
                            <a:srgbClr val="142238"/>
                          </a:solidFill>
                          <a:latin typeface="Aptos"/>
                          <a:ea typeface="Aptos"/>
                          <a:cs typeface="Aptos"/>
                        </a:rPr>
                        <a:t>Processing</a:t>
                      </a:r>
                    </a:p>
                  </a:txBody>
                  <a:tcPr marL="91440" marR="91440" marT="45720" marB="45720">
                    <a:solidFill>
                      <a:srgbClr val="F3F7F9"/>
                    </a:solidFill>
                  </a:tcPr>
                </a:tc>
                <a:tc>
                  <a:txBody>
                    <a:bodyPr/>
                    <a:lstStyle/>
                    <a:p>
                      <a:r>
                        <a:rPr sz="1575" b="0">
                          <a:solidFill>
                            <a:srgbClr val="142238"/>
                          </a:solidFill>
                          <a:latin typeface="Aptos"/>
                          <a:ea typeface="Aptos"/>
                          <a:cs typeface="Aptos"/>
                        </a:rPr>
                        <a:t>Managed AWS workflow</a:t>
                      </a:r>
                    </a:p>
                  </a:txBody>
                  <a:tcPr marL="91440" marR="91440" marT="45720" marB="45720">
                    <a:solidFill>
                      <a:srgbClr val="F3F7F9"/>
                    </a:solidFill>
                  </a:tcPr>
                </a:tc>
                <a:tc>
                  <a:txBody>
                    <a:bodyPr/>
                    <a:lstStyle/>
                    <a:p>
                      <a:r>
                        <a:rPr sz="1575" b="0">
                          <a:solidFill>
                            <a:srgbClr val="142238"/>
                          </a:solidFill>
                          <a:latin typeface="Aptos"/>
                          <a:ea typeface="Aptos"/>
                          <a:cs typeface="Aptos"/>
                        </a:rPr>
                        <a:t>Residency, cost or operations require another model</a:t>
                      </a:r>
                    </a:p>
                  </a:txBody>
                  <a:tcPr marL="91440" marR="91440" marT="45720" marB="45720">
                    <a:solidFill>
                      <a:srgbClr val="F3F7F9"/>
                    </a:solidFill>
                  </a:tcPr>
                </a:tc>
              </a:tr>
              <a:tr h="581025">
                <a:tc>
                  <a:txBody>
                    <a:bodyPr/>
                    <a:lstStyle/>
                    <a:p>
                      <a:r>
                        <a:rPr sz="1575" b="1">
                          <a:solidFill>
                            <a:srgbClr val="142238"/>
                          </a:solidFill>
                          <a:latin typeface="Aptos"/>
                          <a:ea typeface="Aptos"/>
                          <a:cs typeface="Aptos"/>
                        </a:rPr>
                        <a:t>Retrieval</a:t>
                      </a:r>
                    </a:p>
                  </a:txBody>
                  <a:tcPr marL="91440" marR="91440" marT="45720" marB="45720">
                    <a:solidFill>
                      <a:srgbClr val="FFFFFF"/>
                    </a:solidFill>
                  </a:tcPr>
                </a:tc>
                <a:tc>
                  <a:txBody>
                    <a:bodyPr/>
                    <a:lstStyle/>
                    <a:p>
                      <a:r>
                        <a:rPr sz="1575" b="0">
                          <a:solidFill>
                            <a:srgbClr val="142238"/>
                          </a:solidFill>
                          <a:latin typeface="Aptos"/>
                          <a:ea typeface="Aptos"/>
                          <a:cs typeface="Aptos"/>
                        </a:rPr>
                        <a:t>Hybrid ranking with source-grounded evidence</a:t>
                      </a:r>
                    </a:p>
                  </a:txBody>
                  <a:tcPr marL="91440" marR="91440" marT="45720" marB="45720">
                    <a:solidFill>
                      <a:srgbClr val="FFFFFF"/>
                    </a:solidFill>
                  </a:tcPr>
                </a:tc>
                <a:tc>
                  <a:txBody>
                    <a:bodyPr/>
                    <a:lstStyle/>
                    <a:p>
                      <a:r>
                        <a:rPr sz="1575" b="0">
                          <a:solidFill>
                            <a:srgbClr val="142238"/>
                          </a:solidFill>
                          <a:latin typeface="Aptos"/>
                          <a:ea typeface="Aptos"/>
                          <a:cs typeface="Aptos"/>
                        </a:rPr>
                        <a:t>Held-out evaluation favours a simpler approach</a:t>
                      </a:r>
                    </a:p>
                  </a:txBody>
                  <a:tcPr marL="91440" marR="91440" marT="45720" marB="45720">
                    <a:solidFill>
                      <a:srgbClr val="FFFFFF"/>
                    </a:solidFill>
                  </a:tcPr>
                </a:tc>
              </a:tr>
              <a:tr h="581025">
                <a:tc>
                  <a:txBody>
                    <a:bodyPr/>
                    <a:lstStyle/>
                    <a:p>
                      <a:r>
                        <a:rPr sz="1575" b="1">
                          <a:solidFill>
                            <a:srgbClr val="142238"/>
                          </a:solidFill>
                          <a:latin typeface="Aptos"/>
                          <a:ea typeface="Aptos"/>
                          <a:cs typeface="Aptos"/>
                        </a:rPr>
                        <a:t>Search store</a:t>
                      </a:r>
                    </a:p>
                  </a:txBody>
                  <a:tcPr marL="91440" marR="91440" marT="45720" marB="45720">
                    <a:solidFill>
                      <a:srgbClr val="F3F7F9"/>
                    </a:solidFill>
                  </a:tcPr>
                </a:tc>
                <a:tc>
                  <a:txBody>
                    <a:bodyPr/>
                    <a:lstStyle/>
                    <a:p>
                      <a:r>
                        <a:rPr sz="1575" b="0">
                          <a:solidFill>
                            <a:srgbClr val="142238"/>
                          </a:solidFill>
                          <a:latin typeface="Aptos"/>
                          <a:ea typeface="Aptos"/>
                          <a:cs typeface="Aptos"/>
                        </a:rPr>
                        <a:t>Atlas text + vector indexes (proposed)</a:t>
                      </a:r>
                    </a:p>
                  </a:txBody>
                  <a:tcPr marL="91440" marR="91440" marT="45720" marB="45720">
                    <a:solidFill>
                      <a:srgbClr val="F3F7F9"/>
                    </a:solidFill>
                  </a:tcPr>
                </a:tc>
                <a:tc>
                  <a:txBody>
                    <a:bodyPr/>
                    <a:lstStyle/>
                    <a:p>
                      <a:r>
                        <a:rPr sz="1575" b="0">
                          <a:solidFill>
                            <a:srgbClr val="142238"/>
                          </a:solidFill>
                          <a:latin typeface="Aptos"/>
                          <a:ea typeface="Aptos"/>
                          <a:cs typeface="Aptos"/>
                        </a:rPr>
                        <a:t>Procurement or platform constraints block adoption</a:t>
                      </a:r>
                    </a:p>
                  </a:txBody>
                  <a:tcPr marL="91440" marR="91440" marT="45720" marB="45720">
                    <a:solidFill>
                      <a:srgbClr val="F3F7F9"/>
                    </a:solidFill>
                  </a:tcPr>
                </a:tc>
              </a:tr>
              <a:tr h="581025">
                <a:tc>
                  <a:txBody>
                    <a:bodyPr/>
                    <a:lstStyle/>
                    <a:p>
                      <a:r>
                        <a:rPr sz="1575" b="1">
                          <a:solidFill>
                            <a:srgbClr val="142238"/>
                          </a:solidFill>
                          <a:latin typeface="Aptos"/>
                          <a:ea typeface="Aptos"/>
                          <a:cs typeface="Aptos"/>
                        </a:rPr>
                        <a:t>Model strategy</a:t>
                      </a:r>
                    </a:p>
                  </a:txBody>
                  <a:tcPr marL="91440" marR="91440" marT="45720" marB="45720">
                    <a:solidFill>
                      <a:srgbClr val="FFFFFF"/>
                    </a:solidFill>
                  </a:tcPr>
                </a:tc>
                <a:tc>
                  <a:txBody>
                    <a:bodyPr/>
                    <a:lstStyle/>
                    <a:p>
                      <a:r>
                        <a:rPr sz="1575" b="0">
                          <a:solidFill>
                            <a:srgbClr val="142238"/>
                          </a:solidFill>
                          <a:latin typeface="Aptos"/>
                          <a:ea typeface="Aptos"/>
                          <a:cs typeface="Aptos"/>
                        </a:rPr>
                        <a:t>Pretrained encoder; version every vector space</a:t>
                      </a:r>
                    </a:p>
                  </a:txBody>
                  <a:tcPr marL="91440" marR="91440" marT="45720" marB="45720">
                    <a:solidFill>
                      <a:srgbClr val="FFFFFF"/>
                    </a:solidFill>
                  </a:tcPr>
                </a:tc>
                <a:tc>
                  <a:txBody>
                    <a:bodyPr/>
                    <a:lstStyle/>
                    <a:p>
                      <a:r>
                        <a:rPr sz="1575" b="0">
                          <a:solidFill>
                            <a:srgbClr val="142238"/>
                          </a:solidFill>
                          <a:latin typeface="Aptos"/>
                          <a:ea typeface="Aptos"/>
                          <a:cs typeface="Aptos"/>
                        </a:rPr>
                        <a:t>Cohort evaluation shows a persistent quality gap</a:t>
                      </a:r>
                    </a:p>
                  </a:txBody>
                  <a:tcPr marL="91440" marR="91440" marT="45720" marB="45720">
                    <a:solidFill>
                      <a:srgbClr val="FFFFFF"/>
                    </a:solidFill>
                  </a:tcPr>
                </a:tc>
              </a:tr>
              <a:tr h="581025">
                <a:tc>
                  <a:txBody>
                    <a:bodyPr/>
                    <a:lstStyle/>
                    <a:p>
                      <a:r>
                        <a:rPr sz="1575" b="1">
                          <a:solidFill>
                            <a:srgbClr val="142238"/>
                          </a:solidFill>
                          <a:latin typeface="Aptos"/>
                          <a:ea typeface="Aptos"/>
                          <a:cs typeface="Aptos"/>
                        </a:rPr>
                        <a:t>Knowledge model</a:t>
                      </a:r>
                    </a:p>
                  </a:txBody>
                  <a:tcPr marL="91440" marR="91440" marT="45720" marB="45720">
                    <a:solidFill>
                      <a:srgbClr val="F3F7F9"/>
                    </a:solidFill>
                  </a:tcPr>
                </a:tc>
                <a:tc>
                  <a:txBody>
                    <a:bodyPr/>
                    <a:lstStyle/>
                    <a:p>
                      <a:r>
                        <a:rPr sz="1575" b="0">
                          <a:solidFill>
                            <a:srgbClr val="142238"/>
                          </a:solidFill>
                          <a:latin typeface="Aptos"/>
                          <a:ea typeface="Aptos"/>
                          <a:cs typeface="Aptos"/>
                        </a:rPr>
                        <a:t>Explicit document IDs and provenance</a:t>
                      </a:r>
                    </a:p>
                  </a:txBody>
                  <a:tcPr marL="91440" marR="91440" marT="45720" marB="45720">
                    <a:solidFill>
                      <a:srgbClr val="F3F7F9"/>
                    </a:solidFill>
                  </a:tcPr>
                </a:tc>
                <a:tc>
                  <a:txBody>
                    <a:bodyPr/>
                    <a:lstStyle/>
                    <a:p>
                      <a:r>
                        <a:rPr sz="1575" b="0">
                          <a:solidFill>
                            <a:srgbClr val="142238"/>
                          </a:solidFill>
                          <a:latin typeface="Aptos"/>
                          <a:ea typeface="Aptos"/>
                          <a:cs typeface="Aptos"/>
                        </a:rPr>
                        <a:t>Cross-entity reasoning justifies an RDF layer</a:t>
                      </a:r>
                    </a:p>
                  </a:txBody>
                  <a:tcPr marL="91440" marR="91440" marT="45720" marB="45720">
                    <a:solidFill>
                      <a:srgbClr val="F3F7F9"/>
                    </a:solidFill>
                  </a:tcPr>
                </a:tc>
              </a:tr>
            </a:tbl>
          </a:graphicData>
        </a:graphic>
      </p:graphicFrame>
      <p:sp>
        <p:nvSpPr>
          <p:cNvPr id="9" name="">
            <a:extLst xmlns:a="http://schemas.openxmlformats.org/drawingml/2006/main">
              <a:ext uri="{FF2B5EF4-FFF2-40B4-BE49-F238E27FC236}">
                <a16:creationId xmlns:a16="http://schemas.microsoft.com/office/drawing/2014/main" id="{C7CD675A-9B02-4FEA-B92F-4FCBA24AB5C7}"/>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881D3E-1F3D-4B76-827A-D8D2ADB570FC}"/>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Treat platform and model choices as testable decisions, with a migration path.</a:t>
            </a:r>
          </a:p>
        </p:txBody>
      </p:sp>
    </p:spTree>
    <p:extLst>
      <p:ext uri="{BB962C8B-B14F-4D97-AF65-F5344CB8AC3E}">
        <p14:creationId xmlns:p14="http://schemas.microsoft.com/office/powerpoint/2010/main" val="7541961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C4A27D-B8C6-4F4E-8804-85301CF5129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89A6C0-E795-45A6-96BA-FA749E90B8C6}"/>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16 / OPERATING OWNERSHIP</a:t>
            </a:r>
          </a:p>
        </p:txBody>
      </p:sp>
      <p:sp>
        <p:nvSpPr>
          <p:cNvPr id="3" name="">
            <a:extLst xmlns:a="http://schemas.openxmlformats.org/drawingml/2006/main">
              <a:ext uri="{FF2B5EF4-FFF2-40B4-BE49-F238E27FC236}">
                <a16:creationId xmlns:a16="http://schemas.microsoft.com/office/drawing/2014/main" id="{0B8F999E-3EEB-4E2C-9956-B8E8292D1471}"/>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A service needs named owners and recovery drills</a:t>
            </a:r>
          </a:p>
        </p:txBody>
      </p:sp>
      <p:sp>
        <p:nvSpPr>
          <p:cNvPr id="4" name="">
            <a:extLst xmlns:a="http://schemas.openxmlformats.org/drawingml/2006/main">
              <a:ext uri="{FF2B5EF4-FFF2-40B4-BE49-F238E27FC236}">
                <a16:creationId xmlns:a16="http://schemas.microsoft.com/office/drawing/2014/main" id="{D10EF3E1-5CD4-426A-9CCD-D9D1680216F6}"/>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3AB95C-1A71-450F-A59B-53FE0526163A}"/>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DD48D533-2E6B-4628-A99E-0A7972FA6B5F}"/>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09DB478C-27B2-4CD5-AF44-08FD55D92C6D}"/>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17</a:t>
            </a:r>
          </a:p>
        </p:txBody>
      </p:sp>
      <p:graphicFrame>
        <p:nvGraphicFramePr>
          <p:cNvPr id="18" name=""/>
          <p:cNvGraphicFramePr/>
          <p:nvPr/>
        </p:nvGraphicFramePr>
        <p:xfrm>
          <a:off xmlns:a="http://schemas.openxmlformats.org/drawingml/2006/main" x="514350" y="2038350"/>
          <a:ext xmlns:a="http://schemas.openxmlformats.org/drawingml/2006/main" cx="11144250" cy="3257550"/>
        </p:xfrm>
        <a:graphic xmlns:a="http://schemas.openxmlformats.org/drawingml/2006/main">
          <a:graphicData uri="http://schemas.openxmlformats.org/drawingml/2006/table">
            <a:tbl>
              <a:tblPr/>
              <a:tblGrid>
                <a:gridCol w="2628900"/>
                <a:gridCol w="4210050"/>
                <a:gridCol w="4305300"/>
              </a:tblGrid>
              <a:tr h="651510">
                <a:tc>
                  <a:txBody>
                    <a:bodyPr/>
                    <a:lstStyle/>
                    <a:p>
                      <a:r>
                        <a:rPr sz="1575" b="1">
                          <a:solidFill>
                            <a:srgbClr val="FFFFFF"/>
                          </a:solidFill>
                          <a:latin typeface="Aptos"/>
                          <a:ea typeface="Aptos"/>
                          <a:cs typeface="Aptos"/>
                        </a:rPr>
                        <a:t>Accountable owner</a:t>
                      </a:r>
                    </a:p>
                  </a:txBody>
                  <a:tcPr marL="91440" marR="91440" marT="45720" marB="45720">
                    <a:solidFill>
                      <a:srgbClr val="142238"/>
                    </a:solidFill>
                  </a:tcPr>
                </a:tc>
                <a:tc>
                  <a:txBody>
                    <a:bodyPr/>
                    <a:lstStyle/>
                    <a:p>
                      <a:r>
                        <a:rPr sz="1575" b="1">
                          <a:solidFill>
                            <a:srgbClr val="FFFFFF"/>
                          </a:solidFill>
                          <a:latin typeface="Aptos"/>
                          <a:ea typeface="Aptos"/>
                          <a:cs typeface="Aptos"/>
                        </a:rPr>
                        <a:t>Core responsibility</a:t>
                      </a:r>
                    </a:p>
                  </a:txBody>
                  <a:tcPr marL="91440" marR="91440" marT="45720" marB="45720">
                    <a:solidFill>
                      <a:srgbClr val="142238"/>
                    </a:solidFill>
                  </a:tcPr>
                </a:tc>
                <a:tc>
                  <a:txBody>
                    <a:bodyPr/>
                    <a:lstStyle/>
                    <a:p>
                      <a:r>
                        <a:rPr sz="1575" b="1">
                          <a:solidFill>
                            <a:srgbClr val="FFFFFF"/>
                          </a:solidFill>
                          <a:latin typeface="Aptos"/>
                          <a:ea typeface="Aptos"/>
                          <a:cs typeface="Aptos"/>
                        </a:rPr>
                        <a:t>Acceptance evidence</a:t>
                      </a:r>
                    </a:p>
                  </a:txBody>
                  <a:tcPr marL="91440" marR="91440" marT="45720" marB="45720">
                    <a:solidFill>
                      <a:srgbClr val="142238"/>
                    </a:solidFill>
                  </a:tcPr>
                </a:tc>
              </a:tr>
              <a:tr h="651510">
                <a:tc>
                  <a:txBody>
                    <a:bodyPr/>
                    <a:lstStyle/>
                    <a:p>
                      <a:r>
                        <a:rPr sz="1575" b="1">
                          <a:solidFill>
                            <a:srgbClr val="142238"/>
                          </a:solidFill>
                          <a:latin typeface="Aptos"/>
                          <a:ea typeface="Aptos"/>
                          <a:cs typeface="Aptos"/>
                        </a:rPr>
                        <a:t>Archive lead</a:t>
                      </a:r>
                    </a:p>
                  </a:txBody>
                  <a:tcPr marL="91440" marR="91440" marT="45720" marB="45720">
                    <a:solidFill>
                      <a:srgbClr val="F3F7F9"/>
                    </a:solidFill>
                  </a:tcPr>
                </a:tc>
                <a:tc>
                  <a:txBody>
                    <a:bodyPr/>
                    <a:lstStyle/>
                    <a:p>
                      <a:r>
                        <a:rPr sz="1575" b="0">
                          <a:solidFill>
                            <a:srgbClr val="142238"/>
                          </a:solidFill>
                          <a:latin typeface="Aptos"/>
                          <a:ea typeface="Aptos"/>
                          <a:cs typeface="Aptos"/>
                        </a:rPr>
                        <a:t>Identifiers, source quality and catalogue changes</a:t>
                      </a:r>
                    </a:p>
                  </a:txBody>
                  <a:tcPr marL="91440" marR="91440" marT="45720" marB="45720">
                    <a:solidFill>
                      <a:srgbClr val="F3F7F9"/>
                    </a:solidFill>
                  </a:tcPr>
                </a:tc>
                <a:tc>
                  <a:txBody>
                    <a:bodyPr/>
                    <a:lstStyle/>
                    <a:p>
                      <a:r>
                        <a:rPr sz="1575" b="0">
                          <a:solidFill>
                            <a:srgbClr val="142238"/>
                          </a:solidFill>
                          <a:latin typeface="Aptos"/>
                          <a:ea typeface="Aptos"/>
                          <a:cs typeface="Aptos"/>
                        </a:rPr>
                        <a:t>Corrections retain provenance and version history</a:t>
                      </a:r>
                    </a:p>
                  </a:txBody>
                  <a:tcPr marL="91440" marR="91440" marT="45720" marB="45720">
                    <a:solidFill>
                      <a:srgbClr val="F3F7F9"/>
                    </a:solidFill>
                  </a:tcPr>
                </a:tc>
              </a:tr>
              <a:tr h="651510">
                <a:tc>
                  <a:txBody>
                    <a:bodyPr/>
                    <a:lstStyle/>
                    <a:p>
                      <a:r>
                        <a:rPr sz="1575" b="1">
                          <a:solidFill>
                            <a:srgbClr val="142238"/>
                          </a:solidFill>
                          <a:latin typeface="Aptos"/>
                          <a:ea typeface="Aptos"/>
                          <a:cs typeface="Aptos"/>
                        </a:rPr>
                        <a:t>Rights owner</a:t>
                      </a:r>
                    </a:p>
                  </a:txBody>
                  <a:tcPr marL="91440" marR="91440" marT="45720" marB="45720">
                    <a:solidFill>
                      <a:srgbClr val="FFFFFF"/>
                    </a:solidFill>
                  </a:tcPr>
                </a:tc>
                <a:tc>
                  <a:txBody>
                    <a:bodyPr/>
                    <a:lstStyle/>
                    <a:p>
                      <a:r>
                        <a:rPr sz="1575" b="0">
                          <a:solidFill>
                            <a:srgbClr val="142238"/>
                          </a:solidFill>
                          <a:latin typeface="Aptos"/>
                          <a:ea typeface="Aptos"/>
                          <a:cs typeface="Aptos"/>
                        </a:rPr>
                        <a:t>Permitted users, processing and delivery</a:t>
                      </a:r>
                    </a:p>
                  </a:txBody>
                  <a:tcPr marL="91440" marR="91440" marT="45720" marB="45720">
                    <a:solidFill>
                      <a:srgbClr val="FFFFFF"/>
                    </a:solidFill>
                  </a:tcPr>
                </a:tc>
                <a:tc>
                  <a:txBody>
                    <a:bodyPr/>
                    <a:lstStyle/>
                    <a:p>
                      <a:r>
                        <a:rPr sz="1575" b="0">
                          <a:solidFill>
                            <a:srgbClr val="142238"/>
                          </a:solidFill>
                          <a:latin typeface="Aptos"/>
                          <a:ea typeface="Aptos"/>
                          <a:cs typeface="Aptos"/>
                        </a:rPr>
                        <a:t>Restriction and revocation scenarios pass</a:t>
                      </a:r>
                    </a:p>
                  </a:txBody>
                  <a:tcPr marL="91440" marR="91440" marT="45720" marB="45720">
                    <a:solidFill>
                      <a:srgbClr val="FFFFFF"/>
                    </a:solidFill>
                  </a:tcPr>
                </a:tc>
              </a:tr>
              <a:tr h="651510">
                <a:tc>
                  <a:txBody>
                    <a:bodyPr/>
                    <a:lstStyle/>
                    <a:p>
                      <a:r>
                        <a:rPr sz="1575" b="1">
                          <a:solidFill>
                            <a:srgbClr val="142238"/>
                          </a:solidFill>
                          <a:latin typeface="Aptos"/>
                          <a:ea typeface="Aptos"/>
                          <a:cs typeface="Aptos"/>
                        </a:rPr>
                        <a:t>Application owner</a:t>
                      </a:r>
                    </a:p>
                  </a:txBody>
                  <a:tcPr marL="91440" marR="91440" marT="45720" marB="45720">
                    <a:solidFill>
                      <a:srgbClr val="F3F7F9"/>
                    </a:solidFill>
                  </a:tcPr>
                </a:tc>
                <a:tc>
                  <a:txBody>
                    <a:bodyPr/>
                    <a:lstStyle/>
                    <a:p>
                      <a:r>
                        <a:rPr sz="1575" b="0">
                          <a:solidFill>
                            <a:srgbClr val="142238"/>
                          </a:solidFill>
                          <a:latin typeface="Aptos"/>
                          <a:ea typeface="Aptos"/>
                          <a:cs typeface="Aptos"/>
                        </a:rPr>
                        <a:t>Relevance, user outcomes and release decisions</a:t>
                      </a:r>
                    </a:p>
                  </a:txBody>
                  <a:tcPr marL="91440" marR="91440" marT="45720" marB="45720">
                    <a:solidFill>
                      <a:srgbClr val="F3F7F9"/>
                    </a:solidFill>
                  </a:tcPr>
                </a:tc>
                <a:tc>
                  <a:txBody>
                    <a:bodyPr/>
                    <a:lstStyle/>
                    <a:p>
                      <a:r>
                        <a:rPr sz="1575" b="0">
                          <a:solidFill>
                            <a:srgbClr val="142238"/>
                          </a:solidFill>
                          <a:latin typeface="Aptos"/>
                          <a:ea typeface="Aptos"/>
                          <a:cs typeface="Aptos"/>
                        </a:rPr>
                        <a:t>Held-out judgements and producer task results</a:t>
                      </a:r>
                    </a:p>
                  </a:txBody>
                  <a:tcPr marL="91440" marR="91440" marT="45720" marB="45720">
                    <a:solidFill>
                      <a:srgbClr val="F3F7F9"/>
                    </a:solidFill>
                  </a:tcPr>
                </a:tc>
              </a:tr>
              <a:tr h="651510">
                <a:tc>
                  <a:txBody>
                    <a:bodyPr/>
                    <a:lstStyle/>
                    <a:p>
                      <a:r>
                        <a:rPr sz="1575" b="1">
                          <a:solidFill>
                            <a:srgbClr val="142238"/>
                          </a:solidFill>
                          <a:latin typeface="Aptos"/>
                          <a:ea typeface="Aptos"/>
                          <a:cs typeface="Aptos"/>
                        </a:rPr>
                        <a:t>Platform owner</a:t>
                      </a:r>
                    </a:p>
                  </a:txBody>
                  <a:tcPr marL="91440" marR="91440" marT="45720" marB="45720">
                    <a:solidFill>
                      <a:srgbClr val="FFFFFF"/>
                    </a:solidFill>
                  </a:tcPr>
                </a:tc>
                <a:tc>
                  <a:txBody>
                    <a:bodyPr/>
                    <a:lstStyle/>
                    <a:p>
                      <a:r>
                        <a:rPr sz="1575" b="0">
                          <a:solidFill>
                            <a:srgbClr val="142238"/>
                          </a:solidFill>
                          <a:latin typeface="Aptos"/>
                          <a:ea typeface="Aptos"/>
                          <a:cs typeface="Aptos"/>
                        </a:rPr>
                        <a:t>Reliability, costs, recovery and support</a:t>
                      </a:r>
                    </a:p>
                  </a:txBody>
                  <a:tcPr marL="91440" marR="91440" marT="45720" marB="45720">
                    <a:solidFill>
                      <a:srgbClr val="FFFFFF"/>
                    </a:solidFill>
                  </a:tcPr>
                </a:tc>
                <a:tc>
                  <a:txBody>
                    <a:bodyPr/>
                    <a:lstStyle/>
                    <a:p>
                      <a:r>
                        <a:rPr sz="1575" b="0">
                          <a:solidFill>
                            <a:srgbClr val="142238"/>
                          </a:solidFill>
                          <a:latin typeface="Aptos"/>
                          <a:ea typeface="Aptos"/>
                          <a:cs typeface="Aptos"/>
                        </a:rPr>
                        <a:t>Restore, rollback and alert drills complete</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4E427DDC-30E4-474D-BE95-000E846068DF}"/>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240B503-3108-4F96-A90C-D9F7CBA12C5E}"/>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Archive operations remains responsible for physical retrieval and fulfilment.</a:t>
            </a:r>
          </a:p>
        </p:txBody>
      </p:sp>
    </p:spTree>
    <p:extLst>
      <p:ext uri="{BB962C8B-B14F-4D97-AF65-F5344CB8AC3E}">
        <p14:creationId xmlns:p14="http://schemas.microsoft.com/office/powerpoint/2010/main" val="11048400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6A12959-AC31-4F87-81ED-58BB15657F8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E67200-407C-43F0-8B71-6FBEC343C0F8}"/>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17 / DELIVERY ROADMAP</a:t>
            </a:r>
          </a:p>
        </p:txBody>
      </p:sp>
      <p:sp>
        <p:nvSpPr>
          <p:cNvPr id="3" name="">
            <a:extLst xmlns:a="http://schemas.openxmlformats.org/drawingml/2006/main">
              <a:ext uri="{FF2B5EF4-FFF2-40B4-BE49-F238E27FC236}">
                <a16:creationId xmlns:a16="http://schemas.microsoft.com/office/drawing/2014/main" id="{CFBBF418-48F0-42EA-8228-6C0F81C22CA8}"/>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Expand only after each decision gate is passed</a:t>
            </a:r>
          </a:p>
        </p:txBody>
      </p:sp>
      <p:sp>
        <p:nvSpPr>
          <p:cNvPr id="4" name="">
            <a:extLst xmlns:a="http://schemas.openxmlformats.org/drawingml/2006/main">
              <a:ext uri="{FF2B5EF4-FFF2-40B4-BE49-F238E27FC236}">
                <a16:creationId xmlns:a16="http://schemas.microsoft.com/office/drawing/2014/main" id="{0638E735-1B91-46CA-9CC8-3C1E3C404ECF}"/>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3DCB9F-C982-4E92-86EB-19E06EEEF60F}"/>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0EF21640-15ED-4669-80C1-41010E5E42BD}"/>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78083F9A-8BA5-43CC-A45A-88166A078B25}"/>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18</a:t>
            </a:r>
          </a:p>
        </p:txBody>
      </p:sp>
      <p:sp>
        <p:nvSpPr>
          <p:cNvPr id="8" name="">
            <a:extLst xmlns:a="http://schemas.openxmlformats.org/drawingml/2006/main">
              <a:ext uri="{FF2B5EF4-FFF2-40B4-BE49-F238E27FC236}">
                <a16:creationId xmlns:a16="http://schemas.microsoft.com/office/drawing/2014/main" id="{248A1F81-5F7B-4DB1-B346-AB2878794C85}"/>
              </a:ext>
            </a:extLst>
          </p:cNvPr>
          <p:cNvSpPr>
            <a:spLocks xmlns:a="http://schemas.openxmlformats.org/drawingml/2006/main" noGrp="1"/>
          </p:cNvSpPr>
          <p:nvPr/>
        </p:nvSpPr>
        <p:spPr>
          <a:xfrm xmlns:a="http://schemas.openxmlformats.org/drawingml/2006/main">
            <a:off x="514350" y="2066925"/>
            <a:ext cx="2524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A887E"/>
                </a:solidFill>
                <a:latin typeface="Aptos"/>
                <a:ea typeface="Aptos"/>
                <a:cs typeface="Aptos"/>
              </a:defRPr>
            </a:pPr>
            <a:r>
              <a:rPr sz="3825" b="1">
                <a:solidFill>
                  <a:srgbClr val="0A887E"/>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5E4D557D-2391-4058-B0D0-860A2DD15C03}"/>
              </a:ext>
            </a:extLst>
          </p:cNvPr>
          <p:cNvSpPr>
            <a:spLocks xmlns:a="http://schemas.openxmlformats.org/drawingml/2006/main" noGrp="1"/>
          </p:cNvSpPr>
          <p:nvPr/>
        </p:nvSpPr>
        <p:spPr>
          <a:xfrm xmlns:a="http://schemas.openxmlformats.org/drawingml/2006/main">
            <a:off x="514350" y="2857500"/>
            <a:ext cx="255270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AD05A4-3820-4616-B868-72224B934368}"/>
              </a:ext>
            </a:extLst>
          </p:cNvPr>
          <p:cNvSpPr>
            <a:spLocks xmlns:a="http://schemas.openxmlformats.org/drawingml/2006/main" noGrp="1"/>
          </p:cNvSpPr>
          <p:nvPr/>
        </p:nvSpPr>
        <p:spPr>
          <a:xfrm xmlns:a="http://schemas.openxmlformats.org/drawingml/2006/main">
            <a:off x="514350" y="30861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238"/>
                </a:solidFill>
                <a:latin typeface="Aptos"/>
                <a:ea typeface="Aptos"/>
                <a:cs typeface="Aptos"/>
              </a:defRPr>
            </a:pPr>
            <a:r>
              <a:rPr sz="2100" b="1">
                <a:solidFill>
                  <a:srgbClr val="142238"/>
                </a:solidFill>
                <a:latin typeface="Aptos"/>
                <a:ea typeface="Aptos"/>
                <a:cs typeface="Aptos"/>
              </a:rPr>
              <a:t>DISCOVER</a:t>
            </a:r>
          </a:p>
        </p:txBody>
      </p:sp>
      <p:sp>
        <p:nvSpPr>
          <p:cNvPr id="11" name="">
            <a:extLst xmlns:a="http://schemas.openxmlformats.org/drawingml/2006/main">
              <a:ext uri="{FF2B5EF4-FFF2-40B4-BE49-F238E27FC236}">
                <a16:creationId xmlns:a16="http://schemas.microsoft.com/office/drawing/2014/main" id="{BBF7D189-3375-4DB0-A915-4A566F6A78BC}"/>
              </a:ext>
            </a:extLst>
          </p:cNvPr>
          <p:cNvSpPr>
            <a:spLocks xmlns:a="http://schemas.openxmlformats.org/drawingml/2006/main" noGrp="1"/>
          </p:cNvSpPr>
          <p:nvPr/>
        </p:nvSpPr>
        <p:spPr>
          <a:xfrm xmlns:a="http://schemas.openxmlformats.org/drawingml/2006/main">
            <a:off x="514350" y="3724275"/>
            <a:ext cx="2524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Rights, identifiers,</a:t>
            </a:r>
          </a:p>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residency, outcomes</a:t>
            </a:r>
          </a:p>
        </p:txBody>
      </p:sp>
      <p:sp>
        <p:nvSpPr>
          <p:cNvPr id="12" name="">
            <a:extLst xmlns:a="http://schemas.openxmlformats.org/drawingml/2006/main">
              <a:ext uri="{FF2B5EF4-FFF2-40B4-BE49-F238E27FC236}">
                <a16:creationId xmlns:a16="http://schemas.microsoft.com/office/drawing/2014/main" id="{30C677D0-AC5B-4585-A81D-95A08112B979}"/>
              </a:ext>
            </a:extLst>
          </p:cNvPr>
          <p:cNvSpPr>
            <a:spLocks xmlns:a="http://schemas.openxmlformats.org/drawingml/2006/main" noGrp="1"/>
          </p:cNvSpPr>
          <p:nvPr/>
        </p:nvSpPr>
        <p:spPr>
          <a:xfrm xmlns:a="http://schemas.openxmlformats.org/drawingml/2006/main">
            <a:off x="514350" y="5010150"/>
            <a:ext cx="2552700" cy="466725"/>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F7B0876-4DCB-4306-82D7-C7AC55732EE0}"/>
              </a:ext>
            </a:extLst>
          </p:cNvPr>
          <p:cNvSpPr>
            <a:spLocks xmlns:a="http://schemas.openxmlformats.org/drawingml/2006/main" noGrp="1"/>
          </p:cNvSpPr>
          <p:nvPr/>
        </p:nvSpPr>
        <p:spPr>
          <a:xfrm xmlns:a="http://schemas.openxmlformats.org/drawingml/2006/main">
            <a:off x="628650" y="5114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A887E"/>
                </a:solidFill>
                <a:latin typeface="Aptos"/>
                <a:ea typeface="Aptos"/>
                <a:cs typeface="Aptos"/>
              </a:defRPr>
            </a:pPr>
            <a:r>
              <a:rPr sz="1425" b="1">
                <a:solidFill>
                  <a:srgbClr val="0A887E"/>
                </a:solidFill>
                <a:latin typeface="Aptos"/>
                <a:ea typeface="Aptos"/>
                <a:cs typeface="Aptos"/>
              </a:rPr>
              <a:t>Gate: approved scope</a:t>
            </a:r>
          </a:p>
        </p:txBody>
      </p:sp>
      <p:sp>
        <p:nvSpPr>
          <p:cNvPr id="14" name="">
            <a:extLst xmlns:a="http://schemas.openxmlformats.org/drawingml/2006/main">
              <a:ext uri="{FF2B5EF4-FFF2-40B4-BE49-F238E27FC236}">
                <a16:creationId xmlns:a16="http://schemas.microsoft.com/office/drawing/2014/main" id="{A97042DB-DDDE-4429-B201-7008E7AFF8AE}"/>
              </a:ext>
            </a:extLst>
          </p:cNvPr>
          <p:cNvSpPr>
            <a:spLocks xmlns:a="http://schemas.openxmlformats.org/drawingml/2006/main" noGrp="1"/>
          </p:cNvSpPr>
          <p:nvPr/>
        </p:nvSpPr>
        <p:spPr>
          <a:xfrm xmlns:a="http://schemas.openxmlformats.org/drawingml/2006/main">
            <a:off x="3352800" y="2066925"/>
            <a:ext cx="2524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A887E"/>
                </a:solidFill>
                <a:latin typeface="Aptos"/>
                <a:ea typeface="Aptos"/>
                <a:cs typeface="Aptos"/>
              </a:defRPr>
            </a:pPr>
            <a:r>
              <a:rPr sz="3825" b="1">
                <a:solidFill>
                  <a:srgbClr val="0A887E"/>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ABF44757-4348-44F0-B1ED-545BAE579458}"/>
              </a:ext>
            </a:extLst>
          </p:cNvPr>
          <p:cNvSpPr>
            <a:spLocks xmlns:a="http://schemas.openxmlformats.org/drawingml/2006/main" noGrp="1"/>
          </p:cNvSpPr>
          <p:nvPr/>
        </p:nvSpPr>
        <p:spPr>
          <a:xfrm xmlns:a="http://schemas.openxmlformats.org/drawingml/2006/main">
            <a:off x="3352800" y="2857500"/>
            <a:ext cx="255270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D31E59-9F62-4106-AFC9-D87E8375EF9A}"/>
              </a:ext>
            </a:extLst>
          </p:cNvPr>
          <p:cNvSpPr>
            <a:spLocks xmlns:a="http://schemas.openxmlformats.org/drawingml/2006/main" noGrp="1"/>
          </p:cNvSpPr>
          <p:nvPr/>
        </p:nvSpPr>
        <p:spPr>
          <a:xfrm xmlns:a="http://schemas.openxmlformats.org/drawingml/2006/main">
            <a:off x="3352800" y="30861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238"/>
                </a:solidFill>
                <a:latin typeface="Aptos"/>
                <a:ea typeface="Aptos"/>
                <a:cs typeface="Aptos"/>
              </a:defRPr>
            </a:pPr>
            <a:r>
              <a:rPr sz="2100" b="1">
                <a:solidFill>
                  <a:srgbClr val="142238"/>
                </a:solidFill>
                <a:latin typeface="Aptos"/>
                <a:ea typeface="Aptos"/>
                <a:cs typeface="Aptos"/>
              </a:rPr>
              <a:t>PILOT</a:t>
            </a:r>
          </a:p>
        </p:txBody>
      </p:sp>
      <p:sp>
        <p:nvSpPr>
          <p:cNvPr id="17" name="">
            <a:extLst xmlns:a="http://schemas.openxmlformats.org/drawingml/2006/main">
              <a:ext uri="{FF2B5EF4-FFF2-40B4-BE49-F238E27FC236}">
                <a16:creationId xmlns:a16="http://schemas.microsoft.com/office/drawing/2014/main" id="{F4D5E801-6EBF-44E0-A927-33FCF17FC065}"/>
              </a:ext>
            </a:extLst>
          </p:cNvPr>
          <p:cNvSpPr>
            <a:spLocks xmlns:a="http://schemas.openxmlformats.org/drawingml/2006/main" noGrp="1"/>
          </p:cNvSpPr>
          <p:nvPr/>
        </p:nvSpPr>
        <p:spPr>
          <a:xfrm xmlns:a="http://schemas.openxmlformats.org/drawingml/2006/main">
            <a:off x="3352800" y="3724275"/>
            <a:ext cx="2524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Real media, judgements,</a:t>
            </a:r>
          </a:p>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review effort and cost</a:t>
            </a:r>
          </a:p>
        </p:txBody>
      </p:sp>
      <p:sp>
        <p:nvSpPr>
          <p:cNvPr id="18" name="">
            <a:extLst xmlns:a="http://schemas.openxmlformats.org/drawingml/2006/main">
              <a:ext uri="{FF2B5EF4-FFF2-40B4-BE49-F238E27FC236}">
                <a16:creationId xmlns:a16="http://schemas.microsoft.com/office/drawing/2014/main" id="{5D40CD9D-88FE-4EFD-B4DA-B5A541EA2443}"/>
              </a:ext>
            </a:extLst>
          </p:cNvPr>
          <p:cNvSpPr>
            <a:spLocks xmlns:a="http://schemas.openxmlformats.org/drawingml/2006/main" noGrp="1"/>
          </p:cNvSpPr>
          <p:nvPr/>
        </p:nvSpPr>
        <p:spPr>
          <a:xfrm xmlns:a="http://schemas.openxmlformats.org/drawingml/2006/main">
            <a:off x="3352800" y="5010150"/>
            <a:ext cx="2552700" cy="466725"/>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398C4C8-DDD4-4956-81BE-20E42482D59A}"/>
              </a:ext>
            </a:extLst>
          </p:cNvPr>
          <p:cNvSpPr>
            <a:spLocks xmlns:a="http://schemas.openxmlformats.org/drawingml/2006/main" noGrp="1"/>
          </p:cNvSpPr>
          <p:nvPr/>
        </p:nvSpPr>
        <p:spPr>
          <a:xfrm xmlns:a="http://schemas.openxmlformats.org/drawingml/2006/main">
            <a:off x="3467100" y="5114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A887E"/>
                </a:solidFill>
                <a:latin typeface="Aptos"/>
                <a:ea typeface="Aptos"/>
                <a:cs typeface="Aptos"/>
              </a:defRPr>
            </a:pPr>
            <a:r>
              <a:rPr sz="1425" b="1">
                <a:solidFill>
                  <a:srgbClr val="0A887E"/>
                </a:solidFill>
                <a:latin typeface="Aptos"/>
                <a:ea typeface="Aptos"/>
                <a:cs typeface="Aptos"/>
              </a:rPr>
              <a:t>Gate: accepted quality</a:t>
            </a:r>
          </a:p>
        </p:txBody>
      </p:sp>
      <p:sp>
        <p:nvSpPr>
          <p:cNvPr id="20" name="">
            <a:extLst xmlns:a="http://schemas.openxmlformats.org/drawingml/2006/main">
              <a:ext uri="{FF2B5EF4-FFF2-40B4-BE49-F238E27FC236}">
                <a16:creationId xmlns:a16="http://schemas.microsoft.com/office/drawing/2014/main" id="{43E7357E-D0E1-484E-B4B1-5DF2AB7A3F09}"/>
              </a:ext>
            </a:extLst>
          </p:cNvPr>
          <p:cNvSpPr>
            <a:spLocks xmlns:a="http://schemas.openxmlformats.org/drawingml/2006/main" noGrp="1"/>
          </p:cNvSpPr>
          <p:nvPr/>
        </p:nvSpPr>
        <p:spPr>
          <a:xfrm xmlns:a="http://schemas.openxmlformats.org/drawingml/2006/main">
            <a:off x="6191250" y="2066925"/>
            <a:ext cx="2524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A887E"/>
                </a:solidFill>
                <a:latin typeface="Aptos"/>
                <a:ea typeface="Aptos"/>
                <a:cs typeface="Aptos"/>
              </a:defRPr>
            </a:pPr>
            <a:r>
              <a:rPr sz="3825" b="1">
                <a:solidFill>
                  <a:srgbClr val="0A887E"/>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EB5B335F-1760-4580-9744-EAE32695186B}"/>
              </a:ext>
            </a:extLst>
          </p:cNvPr>
          <p:cNvSpPr>
            <a:spLocks xmlns:a="http://schemas.openxmlformats.org/drawingml/2006/main" noGrp="1"/>
          </p:cNvSpPr>
          <p:nvPr/>
        </p:nvSpPr>
        <p:spPr>
          <a:xfrm xmlns:a="http://schemas.openxmlformats.org/drawingml/2006/main">
            <a:off x="6191250" y="2857500"/>
            <a:ext cx="255270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5D62BDD-CF59-440B-87CE-6E7203419208}"/>
              </a:ext>
            </a:extLst>
          </p:cNvPr>
          <p:cNvSpPr>
            <a:spLocks xmlns:a="http://schemas.openxmlformats.org/drawingml/2006/main" noGrp="1"/>
          </p:cNvSpPr>
          <p:nvPr/>
        </p:nvSpPr>
        <p:spPr>
          <a:xfrm xmlns:a="http://schemas.openxmlformats.org/drawingml/2006/main">
            <a:off x="6191250" y="30861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238"/>
                </a:solidFill>
                <a:latin typeface="Aptos"/>
                <a:ea typeface="Aptos"/>
                <a:cs typeface="Aptos"/>
              </a:defRPr>
            </a:pPr>
            <a:r>
              <a:rPr sz="2100" b="1">
                <a:solidFill>
                  <a:srgbClr val="142238"/>
                </a:solidFill>
                <a:latin typeface="Aptos"/>
                <a:ea typeface="Aptos"/>
                <a:cs typeface="Aptos"/>
              </a:rPr>
              <a:t>INTEGRATE</a:t>
            </a:r>
          </a:p>
        </p:txBody>
      </p:sp>
      <p:sp>
        <p:nvSpPr>
          <p:cNvPr id="23" name="">
            <a:extLst xmlns:a="http://schemas.openxmlformats.org/drawingml/2006/main">
              <a:ext uri="{FF2B5EF4-FFF2-40B4-BE49-F238E27FC236}">
                <a16:creationId xmlns:a16="http://schemas.microsoft.com/office/drawing/2014/main" id="{EF30CF76-89DE-40F8-89AD-EC53FC69B1D4}"/>
              </a:ext>
            </a:extLst>
          </p:cNvPr>
          <p:cNvSpPr>
            <a:spLocks xmlns:a="http://schemas.openxmlformats.org/drawingml/2006/main" noGrp="1"/>
          </p:cNvSpPr>
          <p:nvPr/>
        </p:nvSpPr>
        <p:spPr>
          <a:xfrm xmlns:a="http://schemas.openxmlformats.org/drawingml/2006/main">
            <a:off x="6191250" y="3724275"/>
            <a:ext cx="2524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Identity, Atlas, delivery,</a:t>
            </a:r>
          </a:p>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restore and support</a:t>
            </a:r>
          </a:p>
        </p:txBody>
      </p:sp>
      <p:sp>
        <p:nvSpPr>
          <p:cNvPr id="24" name="">
            <a:extLst xmlns:a="http://schemas.openxmlformats.org/drawingml/2006/main">
              <a:ext uri="{FF2B5EF4-FFF2-40B4-BE49-F238E27FC236}">
                <a16:creationId xmlns:a16="http://schemas.microsoft.com/office/drawing/2014/main" id="{E1EEC11F-F58A-4B9F-B7DB-38760580888E}"/>
              </a:ext>
            </a:extLst>
          </p:cNvPr>
          <p:cNvSpPr>
            <a:spLocks xmlns:a="http://schemas.openxmlformats.org/drawingml/2006/main" noGrp="1"/>
          </p:cNvSpPr>
          <p:nvPr/>
        </p:nvSpPr>
        <p:spPr>
          <a:xfrm xmlns:a="http://schemas.openxmlformats.org/drawingml/2006/main">
            <a:off x="6191250" y="5010150"/>
            <a:ext cx="2552700" cy="466725"/>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AF98F6D-CC39-4BCE-893E-13850C34EA07}"/>
              </a:ext>
            </a:extLst>
          </p:cNvPr>
          <p:cNvSpPr>
            <a:spLocks xmlns:a="http://schemas.openxmlformats.org/drawingml/2006/main" noGrp="1"/>
          </p:cNvSpPr>
          <p:nvPr/>
        </p:nvSpPr>
        <p:spPr>
          <a:xfrm xmlns:a="http://schemas.openxmlformats.org/drawingml/2006/main">
            <a:off x="6305550" y="5114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A887E"/>
                </a:solidFill>
                <a:latin typeface="Aptos"/>
                <a:ea typeface="Aptos"/>
                <a:cs typeface="Aptos"/>
              </a:defRPr>
            </a:pPr>
            <a:r>
              <a:rPr sz="1425" b="1">
                <a:solidFill>
                  <a:srgbClr val="0A887E"/>
                </a:solidFill>
                <a:latin typeface="Aptos"/>
                <a:ea typeface="Aptos"/>
                <a:cs typeface="Aptos"/>
              </a:rPr>
              <a:t>Gate: operable service</a:t>
            </a:r>
          </a:p>
        </p:txBody>
      </p:sp>
      <p:sp>
        <p:nvSpPr>
          <p:cNvPr id="26" name="">
            <a:extLst xmlns:a="http://schemas.openxmlformats.org/drawingml/2006/main">
              <a:ext uri="{FF2B5EF4-FFF2-40B4-BE49-F238E27FC236}">
                <a16:creationId xmlns:a16="http://schemas.microsoft.com/office/drawing/2014/main" id="{E5400508-FDA9-437B-B114-DE414D76A58B}"/>
              </a:ext>
            </a:extLst>
          </p:cNvPr>
          <p:cNvSpPr>
            <a:spLocks xmlns:a="http://schemas.openxmlformats.org/drawingml/2006/main" noGrp="1"/>
          </p:cNvSpPr>
          <p:nvPr/>
        </p:nvSpPr>
        <p:spPr>
          <a:xfrm xmlns:a="http://schemas.openxmlformats.org/drawingml/2006/main">
            <a:off x="9029700" y="2066925"/>
            <a:ext cx="2524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A887E"/>
                </a:solidFill>
                <a:latin typeface="Aptos"/>
                <a:ea typeface="Aptos"/>
                <a:cs typeface="Aptos"/>
              </a:defRPr>
            </a:pPr>
            <a:r>
              <a:rPr sz="3825" b="1">
                <a:solidFill>
                  <a:srgbClr val="0A887E"/>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CD31D2EA-EDD5-4F7F-8292-9424FAF9F50F}"/>
              </a:ext>
            </a:extLst>
          </p:cNvPr>
          <p:cNvSpPr>
            <a:spLocks xmlns:a="http://schemas.openxmlformats.org/drawingml/2006/main" noGrp="1"/>
          </p:cNvSpPr>
          <p:nvPr/>
        </p:nvSpPr>
        <p:spPr>
          <a:xfrm xmlns:a="http://schemas.openxmlformats.org/drawingml/2006/main">
            <a:off x="9029700" y="2857500"/>
            <a:ext cx="255270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607E8E2-6588-4427-952E-9DFA2A3ACE50}"/>
              </a:ext>
            </a:extLst>
          </p:cNvPr>
          <p:cNvSpPr>
            <a:spLocks xmlns:a="http://schemas.openxmlformats.org/drawingml/2006/main" noGrp="1"/>
          </p:cNvSpPr>
          <p:nvPr/>
        </p:nvSpPr>
        <p:spPr>
          <a:xfrm xmlns:a="http://schemas.openxmlformats.org/drawingml/2006/main">
            <a:off x="9029700" y="308610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238"/>
                </a:solidFill>
                <a:latin typeface="Aptos"/>
                <a:ea typeface="Aptos"/>
                <a:cs typeface="Aptos"/>
              </a:defRPr>
            </a:pPr>
            <a:r>
              <a:rPr sz="2100" b="1">
                <a:solidFill>
                  <a:srgbClr val="142238"/>
                </a:solidFill>
                <a:latin typeface="Aptos"/>
                <a:ea typeface="Aptos"/>
                <a:cs typeface="Aptos"/>
              </a:rPr>
              <a:t>EXPAND</a:t>
            </a:r>
          </a:p>
        </p:txBody>
      </p:sp>
      <p:sp>
        <p:nvSpPr>
          <p:cNvPr id="29" name="">
            <a:extLst xmlns:a="http://schemas.openxmlformats.org/drawingml/2006/main">
              <a:ext uri="{FF2B5EF4-FFF2-40B4-BE49-F238E27FC236}">
                <a16:creationId xmlns:a16="http://schemas.microsoft.com/office/drawing/2014/main" id="{E0D2330B-C903-487F-8935-7A5BAAB0216F}"/>
              </a:ext>
            </a:extLst>
          </p:cNvPr>
          <p:cNvSpPr>
            <a:spLocks xmlns:a="http://schemas.openxmlformats.org/drawingml/2006/main" noGrp="1"/>
          </p:cNvSpPr>
          <p:nvPr/>
        </p:nvSpPr>
        <p:spPr>
          <a:xfrm xmlns:a="http://schemas.openxmlformats.org/drawingml/2006/main">
            <a:off x="9029700" y="3724275"/>
            <a:ext cx="2524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Collections and languages</a:t>
            </a:r>
          </a:p>
          <a:p xmlns:a="http://schemas.openxmlformats.org/drawingml/2006/main">
            <a:pPr>
              <a:defRPr sz="1800" b="0">
                <a:solidFill>
                  <a:srgbClr val="597083"/>
                </a:solidFill>
                <a:latin typeface="Aptos"/>
                <a:ea typeface="Aptos"/>
                <a:cs typeface="Aptos"/>
              </a:defRPr>
            </a:pPr>
            <a:r>
              <a:rPr sz="1800" b="0">
                <a:solidFill>
                  <a:srgbClr val="597083"/>
                </a:solidFill>
                <a:latin typeface="Aptos"/>
                <a:ea typeface="Aptos"/>
                <a:cs typeface="Aptos"/>
              </a:rPr>
              <a:t>accepted by cohort</a:t>
            </a:r>
          </a:p>
        </p:txBody>
      </p:sp>
      <p:sp>
        <p:nvSpPr>
          <p:cNvPr id="30" name="">
            <a:extLst xmlns:a="http://schemas.openxmlformats.org/drawingml/2006/main">
              <a:ext uri="{FF2B5EF4-FFF2-40B4-BE49-F238E27FC236}">
                <a16:creationId xmlns:a16="http://schemas.microsoft.com/office/drawing/2014/main" id="{38C803BD-3D13-4908-A5FC-07223866AA31}"/>
              </a:ext>
            </a:extLst>
          </p:cNvPr>
          <p:cNvSpPr>
            <a:spLocks xmlns:a="http://schemas.openxmlformats.org/drawingml/2006/main" noGrp="1"/>
          </p:cNvSpPr>
          <p:nvPr/>
        </p:nvSpPr>
        <p:spPr>
          <a:xfrm xmlns:a="http://schemas.openxmlformats.org/drawingml/2006/main">
            <a:off x="9029700" y="5010150"/>
            <a:ext cx="2552700" cy="466725"/>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4086A18-1AAE-4D4E-A6CD-C4834D7F3284}"/>
              </a:ext>
            </a:extLst>
          </p:cNvPr>
          <p:cNvSpPr>
            <a:spLocks xmlns:a="http://schemas.openxmlformats.org/drawingml/2006/main" noGrp="1"/>
          </p:cNvSpPr>
          <p:nvPr/>
        </p:nvSpPr>
        <p:spPr>
          <a:xfrm xmlns:a="http://schemas.openxmlformats.org/drawingml/2006/main">
            <a:off x="9144000" y="511492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A887E"/>
                </a:solidFill>
                <a:latin typeface="Aptos"/>
                <a:ea typeface="Aptos"/>
                <a:cs typeface="Aptos"/>
              </a:defRPr>
            </a:pPr>
            <a:r>
              <a:rPr sz="1425" b="1">
                <a:solidFill>
                  <a:srgbClr val="0A887E"/>
                </a:solidFill>
                <a:latin typeface="Aptos"/>
                <a:ea typeface="Aptos"/>
                <a:cs typeface="Aptos"/>
              </a:rPr>
              <a:t>Gate: sustained value</a:t>
            </a:r>
          </a:p>
        </p:txBody>
      </p:sp>
      <p:sp>
        <p:nvSpPr>
          <p:cNvPr id="32" name="">
            <a:extLst xmlns:a="http://schemas.openxmlformats.org/drawingml/2006/main">
              <a:ext uri="{FF2B5EF4-FFF2-40B4-BE49-F238E27FC236}">
                <a16:creationId xmlns:a16="http://schemas.microsoft.com/office/drawing/2014/main" id="{CE2A4F45-E60B-4390-B873-00C22BD54823}"/>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B6EF93C-9376-4FE1-82C7-436AE99D4E8E}"/>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Planning assumption: 100 recordings / 50 hours, with development and holdout separation.</a:t>
            </a:r>
          </a:p>
        </p:txBody>
      </p:sp>
    </p:spTree>
    <p:extLst>
      <p:ext uri="{BB962C8B-B14F-4D97-AF65-F5344CB8AC3E}">
        <p14:creationId xmlns:p14="http://schemas.microsoft.com/office/powerpoint/2010/main" val="12267525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1D955B-A059-4C9A-8FF9-DB2630B2E1D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BA708F-AB58-4DD0-9ACB-D9C5BD5F946B}"/>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18 / VALUE AND ECONOMICS</a:t>
            </a:r>
          </a:p>
        </p:txBody>
      </p:sp>
      <p:sp>
        <p:nvSpPr>
          <p:cNvPr id="3" name="">
            <a:extLst xmlns:a="http://schemas.openxmlformats.org/drawingml/2006/main">
              <a:ext uri="{FF2B5EF4-FFF2-40B4-BE49-F238E27FC236}">
                <a16:creationId xmlns:a16="http://schemas.microsoft.com/office/drawing/2014/main" id="{6680A593-293E-4128-8866-E04B50DBC410}"/>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Measure the unit economics before scaling backfill</a:t>
            </a:r>
          </a:p>
        </p:txBody>
      </p:sp>
      <p:sp>
        <p:nvSpPr>
          <p:cNvPr id="4" name="">
            <a:extLst xmlns:a="http://schemas.openxmlformats.org/drawingml/2006/main">
              <a:ext uri="{FF2B5EF4-FFF2-40B4-BE49-F238E27FC236}">
                <a16:creationId xmlns:a16="http://schemas.microsoft.com/office/drawing/2014/main" id="{7A09EB05-732E-42C0-B788-4D16E63CBEF3}"/>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BA7937-78C1-4606-9E32-4ABF31E9C4C1}"/>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CE40B12C-083C-44A5-B992-7EDEB5ABF615}"/>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E8719F62-4A8F-4A23-A8B5-24A6A29820F8}"/>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19</a:t>
            </a:r>
          </a:p>
        </p:txBody>
      </p:sp>
      <p:sp>
        <p:nvSpPr>
          <p:cNvPr id="8" name="">
            <a:extLst xmlns:a="http://schemas.openxmlformats.org/drawingml/2006/main">
              <a:ext uri="{FF2B5EF4-FFF2-40B4-BE49-F238E27FC236}">
                <a16:creationId xmlns:a16="http://schemas.microsoft.com/office/drawing/2014/main" id="{B2923BDD-D9FE-49E6-82C5-521E9D5B8E9C}"/>
              </a:ext>
            </a:extLst>
          </p:cNvPr>
          <p:cNvSpPr>
            <a:spLocks xmlns:a="http://schemas.openxmlformats.org/drawingml/2006/main" noGrp="1"/>
          </p:cNvSpPr>
          <p:nvPr/>
        </p:nvSpPr>
        <p:spPr>
          <a:xfrm xmlns:a="http://schemas.openxmlformats.org/drawingml/2006/main">
            <a:off x="514350" y="2095500"/>
            <a:ext cx="5324475" cy="233362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BB1B06-B620-430C-81F9-C4B274BBACD5}"/>
              </a:ext>
            </a:extLst>
          </p:cNvPr>
          <p:cNvSpPr>
            <a:spLocks xmlns:a="http://schemas.openxmlformats.org/drawingml/2006/main" noGrp="1"/>
          </p:cNvSpPr>
          <p:nvPr/>
        </p:nvSpPr>
        <p:spPr>
          <a:xfrm xmlns:a="http://schemas.openxmlformats.org/drawingml/2006/main">
            <a:off x="514350" y="2095500"/>
            <a:ext cx="38100" cy="2333625"/>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1103F9-A6B8-425F-B315-F633CC049294}"/>
              </a:ext>
            </a:extLst>
          </p:cNvPr>
          <p:cNvSpPr>
            <a:spLocks xmlns:a="http://schemas.openxmlformats.org/drawingml/2006/main" noGrp="1"/>
          </p:cNvSpPr>
          <p:nvPr/>
        </p:nvSpPr>
        <p:spPr>
          <a:xfrm xmlns:a="http://schemas.openxmlformats.org/drawingml/2006/main">
            <a:off x="704850" y="2266950"/>
            <a:ext cx="49625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BACKFILL COST</a:t>
            </a:r>
          </a:p>
        </p:txBody>
      </p:sp>
      <p:sp>
        <p:nvSpPr>
          <p:cNvPr id="11" name="">
            <a:extLst xmlns:a="http://schemas.openxmlformats.org/drawingml/2006/main">
              <a:ext uri="{FF2B5EF4-FFF2-40B4-BE49-F238E27FC236}">
                <a16:creationId xmlns:a16="http://schemas.microsoft.com/office/drawing/2014/main" id="{162D216F-F438-4609-BC0A-E373BB734726}"/>
              </a:ext>
            </a:extLst>
          </p:cNvPr>
          <p:cNvSpPr>
            <a:spLocks xmlns:a="http://schemas.openxmlformats.org/drawingml/2006/main" noGrp="1"/>
          </p:cNvSpPr>
          <p:nvPr/>
        </p:nvSpPr>
        <p:spPr>
          <a:xfrm xmlns:a="http://schemas.openxmlformats.org/drawingml/2006/main">
            <a:off x="704850" y="2724150"/>
            <a:ext cx="49625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Media preparation and ASR</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Embeddings and index creation</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Human review and correction</a:t>
            </a:r>
          </a:p>
        </p:txBody>
      </p:sp>
      <p:sp>
        <p:nvSpPr>
          <p:cNvPr id="12" name="">
            <a:extLst xmlns:a="http://schemas.openxmlformats.org/drawingml/2006/main">
              <a:ext uri="{FF2B5EF4-FFF2-40B4-BE49-F238E27FC236}">
                <a16:creationId xmlns:a16="http://schemas.microsoft.com/office/drawing/2014/main" id="{0EEA5229-3AA9-4380-9AFF-9C2B087DAA18}"/>
              </a:ext>
            </a:extLst>
          </p:cNvPr>
          <p:cNvSpPr>
            <a:spLocks xmlns:a="http://schemas.openxmlformats.org/drawingml/2006/main" noGrp="1"/>
          </p:cNvSpPr>
          <p:nvPr/>
        </p:nvSpPr>
        <p:spPr>
          <a:xfrm xmlns:a="http://schemas.openxmlformats.org/drawingml/2006/main">
            <a:off x="6334125" y="2095500"/>
            <a:ext cx="5324475" cy="233362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5620F78-808C-4637-9DFD-E86EB563A2D8}"/>
              </a:ext>
            </a:extLst>
          </p:cNvPr>
          <p:cNvSpPr>
            <a:spLocks xmlns:a="http://schemas.openxmlformats.org/drawingml/2006/main" noGrp="1"/>
          </p:cNvSpPr>
          <p:nvPr/>
        </p:nvSpPr>
        <p:spPr>
          <a:xfrm xmlns:a="http://schemas.openxmlformats.org/drawingml/2006/main">
            <a:off x="6334125" y="2095500"/>
            <a:ext cx="38100" cy="2333625"/>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11447E-7D8E-4E56-9B0E-07C4BF9456C3}"/>
              </a:ext>
            </a:extLst>
          </p:cNvPr>
          <p:cNvSpPr>
            <a:spLocks xmlns:a="http://schemas.openxmlformats.org/drawingml/2006/main" noGrp="1"/>
          </p:cNvSpPr>
          <p:nvPr/>
        </p:nvSpPr>
        <p:spPr>
          <a:xfrm xmlns:a="http://schemas.openxmlformats.org/drawingml/2006/main">
            <a:off x="6524625" y="2266950"/>
            <a:ext cx="49625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STEADY-STATE COST</a:t>
            </a:r>
          </a:p>
        </p:txBody>
      </p:sp>
      <p:sp>
        <p:nvSpPr>
          <p:cNvPr id="15" name="">
            <a:extLst xmlns:a="http://schemas.openxmlformats.org/drawingml/2006/main">
              <a:ext uri="{FF2B5EF4-FFF2-40B4-BE49-F238E27FC236}">
                <a16:creationId xmlns:a16="http://schemas.microsoft.com/office/drawing/2014/main" id="{1E424148-A297-4B3E-A7B2-F86E14B34718}"/>
              </a:ext>
            </a:extLst>
          </p:cNvPr>
          <p:cNvSpPr>
            <a:spLocks xmlns:a="http://schemas.openxmlformats.org/drawingml/2006/main" noGrp="1"/>
          </p:cNvSpPr>
          <p:nvPr/>
        </p:nvSpPr>
        <p:spPr>
          <a:xfrm xmlns:a="http://schemas.openxmlformats.org/drawingml/2006/main">
            <a:off x="6524625" y="2724150"/>
            <a:ext cx="49625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New ingestion and reprocessing</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Storage, search and delivery</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Support, review and governance</a:t>
            </a:r>
          </a:p>
        </p:txBody>
      </p:sp>
      <p:sp>
        <p:nvSpPr>
          <p:cNvPr id="16" name="">
            <a:extLst xmlns:a="http://schemas.openxmlformats.org/drawingml/2006/main">
              <a:ext uri="{FF2B5EF4-FFF2-40B4-BE49-F238E27FC236}">
                <a16:creationId xmlns:a16="http://schemas.microsoft.com/office/drawing/2014/main" id="{5DD1A70C-0912-4670-B454-4878B95417DB}"/>
              </a:ext>
            </a:extLst>
          </p:cNvPr>
          <p:cNvSpPr>
            <a:spLocks xmlns:a="http://schemas.openxmlformats.org/drawingml/2006/main" noGrp="1"/>
          </p:cNvSpPr>
          <p:nvPr/>
        </p:nvSpPr>
        <p:spPr>
          <a:xfrm xmlns:a="http://schemas.openxmlformats.org/drawingml/2006/main">
            <a:off x="514350" y="48958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A887E"/>
                </a:solidFill>
                <a:latin typeface="Aptos"/>
                <a:ea typeface="Aptos"/>
                <a:cs typeface="Aptos"/>
              </a:defRPr>
            </a:pPr>
            <a:r>
              <a:rPr sz="1950" b="1">
                <a:solidFill>
                  <a:srgbClr val="0A887E"/>
                </a:solidFill>
                <a:latin typeface="Aptos"/>
                <a:ea typeface="Aptos"/>
                <a:cs typeface="Aptos"/>
              </a:rPr>
              <a:t>Measure</a:t>
            </a:r>
          </a:p>
        </p:txBody>
      </p:sp>
      <p:sp>
        <p:nvSpPr>
          <p:cNvPr id="17" name="">
            <a:extLst xmlns:a="http://schemas.openxmlformats.org/drawingml/2006/main">
              <a:ext uri="{FF2B5EF4-FFF2-40B4-BE49-F238E27FC236}">
                <a16:creationId xmlns:a16="http://schemas.microsoft.com/office/drawing/2014/main" id="{C1F039CD-0890-46F7-8BE3-C112C74B3D67}"/>
              </a:ext>
            </a:extLst>
          </p:cNvPr>
          <p:cNvSpPr>
            <a:spLocks xmlns:a="http://schemas.openxmlformats.org/drawingml/2006/main" noGrp="1"/>
          </p:cNvSpPr>
          <p:nvPr/>
        </p:nvSpPr>
        <p:spPr>
          <a:xfrm xmlns:a="http://schemas.openxmlformats.org/drawingml/2006/main">
            <a:off x="2238375" y="4895850"/>
            <a:ext cx="938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238"/>
                </a:solidFill>
                <a:latin typeface="Aptos"/>
                <a:ea typeface="Aptos"/>
                <a:cs typeface="Aptos"/>
              </a:defRPr>
            </a:pPr>
            <a:r>
              <a:rPr sz="1950" b="1">
                <a:solidFill>
                  <a:srgbClr val="142238"/>
                </a:solidFill>
                <a:latin typeface="Aptos"/>
                <a:ea typeface="Aptos"/>
                <a:cs typeface="Aptos"/>
              </a:rPr>
              <a:t>Cost / indexed hour   •   Cost / 1,000 searches   •   Time / usable excerpt</a:t>
            </a:r>
          </a:p>
        </p:txBody>
      </p:sp>
      <p:sp>
        <p:nvSpPr>
          <p:cNvPr id="18" name="">
            <a:extLst xmlns:a="http://schemas.openxmlformats.org/drawingml/2006/main">
              <a:ext uri="{FF2B5EF4-FFF2-40B4-BE49-F238E27FC236}">
                <a16:creationId xmlns:a16="http://schemas.microsoft.com/office/drawing/2014/main" id="{CBD6499A-C8BC-42CB-B8D2-BDE63104E70B}"/>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A38A148-C58E-4AE4-B509-15397820587E}"/>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Pilot outputs: workload profile, review burden and a costed expansion recommendation.</a:t>
            </a:r>
          </a:p>
        </p:txBody>
      </p:sp>
    </p:spTree>
    <p:extLst>
      <p:ext uri="{BB962C8B-B14F-4D97-AF65-F5344CB8AC3E}">
        <p14:creationId xmlns:p14="http://schemas.microsoft.com/office/powerpoint/2010/main" val="1872251597"/>
      </p:ext>
    </p:extLst>
  </p:cSld>
</p:sld>
</file>

<file path=ppt/slides/slide20.xml><?xml version="1.0" encoding="utf-8"?>
<p:sld xmlns:p="http://schemas.openxmlformats.org/presentationml/2006/main">
  <p:cSld>
    <p:bg>
      <p:bgPr>
        <a:solidFill xmlns:a="http://schemas.openxmlformats.org/drawingml/2006/main">
          <a:srgbClr val="101E3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A1815B4-DC0A-4A8A-952A-2F04F8FE0AD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2B5313-52A5-4634-8C85-F4A328170C8C}"/>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F2EB"/>
                </a:solidFill>
                <a:latin typeface="Aptos"/>
                <a:ea typeface="Aptos"/>
                <a:cs typeface="Aptos"/>
              </a:defRPr>
            </a:pPr>
            <a:r>
              <a:rPr sz="1050" b="1">
                <a:solidFill>
                  <a:srgbClr val="D9F2EB"/>
                </a:solidFill>
                <a:latin typeface="Aptos"/>
                <a:ea typeface="Aptos"/>
                <a:cs typeface="Aptos"/>
              </a:rPr>
              <a:t>19 / DECISION AND COMMITMENT</a:t>
            </a:r>
          </a:p>
        </p:txBody>
      </p:sp>
      <p:sp>
        <p:nvSpPr>
          <p:cNvPr id="3" name="">
            <a:extLst xmlns:a="http://schemas.openxmlformats.org/drawingml/2006/main">
              <a:ext uri="{FF2B5EF4-FFF2-40B4-BE49-F238E27FC236}">
                <a16:creationId xmlns:a16="http://schemas.microsoft.com/office/drawing/2014/main" id="{15B5A750-BA10-4DEC-8BE7-73FDAF007DC0}"/>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ptos"/>
                <a:ea typeface="Aptos"/>
                <a:cs typeface="Aptos"/>
              </a:defRPr>
            </a:pPr>
            <a:r>
              <a:rPr sz="2850" b="1">
                <a:solidFill>
                  <a:srgbClr val="FFFFFF"/>
                </a:solidFill>
                <a:latin typeface="Aptos"/>
                <a:ea typeface="Aptos"/>
                <a:cs typeface="Aptos"/>
              </a:rPr>
              <a:t>Approve a pilot that can earn the right to scale</a:t>
            </a:r>
          </a:p>
        </p:txBody>
      </p:sp>
      <p:sp>
        <p:nvSpPr>
          <p:cNvPr id="4" name="">
            <a:extLst xmlns:a="http://schemas.openxmlformats.org/drawingml/2006/main">
              <a:ext uri="{FF2B5EF4-FFF2-40B4-BE49-F238E27FC236}">
                <a16:creationId xmlns:a16="http://schemas.microsoft.com/office/drawing/2014/main" id="{D7EFC0B0-A5FB-494F-877C-BC3A19E8AB98}"/>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3446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51DA2D-1BFE-4A2D-90FF-C074DF38D8D1}"/>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9BDCD"/>
                </a:solidFill>
                <a:latin typeface="Aptos"/>
                <a:ea typeface="Aptos"/>
                <a:cs typeface="Aptos"/>
              </a:defRPr>
            </a:pPr>
            <a:r>
              <a:rPr sz="900" b="0">
                <a:solidFill>
                  <a:srgbClr val="A9BDCD"/>
                </a:solidFill>
                <a:latin typeface="Aptos"/>
                <a:ea typeface="Aptos"/>
                <a:cs typeface="Aptos"/>
              </a:rPr>
              <a:t>Proposed next step · customer agreement required</a:t>
            </a:r>
          </a:p>
        </p:txBody>
      </p:sp>
      <p:sp>
        <p:nvSpPr>
          <p:cNvPr id="6" name="">
            <a:extLst xmlns:a="http://schemas.openxmlformats.org/drawingml/2006/main">
              <a:ext uri="{FF2B5EF4-FFF2-40B4-BE49-F238E27FC236}">
                <a16:creationId xmlns:a16="http://schemas.microsoft.com/office/drawing/2014/main" id="{BE06BE16-6408-4224-AE21-CDB1507F9AF2}"/>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A9BDCD"/>
                </a:solidFill>
                <a:latin typeface="Aptos"/>
                <a:ea typeface="Aptos"/>
                <a:cs typeface="Aptos"/>
              </a:defRPr>
            </a:pPr>
            <a:r>
              <a:rPr sz="750" b="0">
                <a:solidFill>
                  <a:srgbClr val="A9BDCD"/>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5F6E6F4C-949A-4070-9ABC-145E4D9EE94D}"/>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9F2EB"/>
                </a:solidFill>
                <a:latin typeface="Aptos"/>
                <a:ea typeface="Aptos"/>
                <a:cs typeface="Aptos"/>
              </a:defRPr>
            </a:pPr>
            <a:r>
              <a:rPr sz="1125" b="0">
                <a:solidFill>
                  <a:srgbClr val="D9F2EB"/>
                </a:solidFill>
                <a:latin typeface="Aptos"/>
                <a:ea typeface="Aptos"/>
                <a:cs typeface="Aptos"/>
              </a:rPr>
              <a:t>20</a:t>
            </a:r>
          </a:p>
        </p:txBody>
      </p:sp>
      <p:sp>
        <p:nvSpPr>
          <p:cNvPr id="8" name="">
            <a:extLst xmlns:a="http://schemas.openxmlformats.org/drawingml/2006/main">
              <a:ext uri="{FF2B5EF4-FFF2-40B4-BE49-F238E27FC236}">
                <a16:creationId xmlns:a16="http://schemas.microsoft.com/office/drawing/2014/main" id="{EDE399FC-F7D2-4996-B098-06F682B23506}"/>
              </a:ext>
            </a:extLst>
          </p:cNvPr>
          <p:cNvSpPr>
            <a:spLocks xmlns:a="http://schemas.openxmlformats.org/drawingml/2006/main" noGrp="1"/>
          </p:cNvSpPr>
          <p:nvPr/>
        </p:nvSpPr>
        <p:spPr>
          <a:xfrm xmlns:a="http://schemas.openxmlformats.org/drawingml/2006/main">
            <a:off x="514350" y="2076450"/>
            <a:ext cx="5953125" cy="2486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FFFF"/>
                </a:solidFill>
                <a:latin typeface="Aptos"/>
                <a:ea typeface="Aptos"/>
                <a:cs typeface="Aptos"/>
              </a:defRPr>
            </a:pPr>
            <a:r>
              <a:rPr sz="3675" b="1">
                <a:solidFill>
                  <a:srgbClr val="FFFFFF"/>
                </a:solidFill>
                <a:latin typeface="Aptos"/>
                <a:ea typeface="Aptos"/>
                <a:cs typeface="Aptos"/>
              </a:rPr>
              <a:t>Find the right moment.</a:t>
            </a:r>
          </a:p>
          <a:p xmlns:a="http://schemas.openxmlformats.org/drawingml/2006/main">
            <a:pPr>
              <a:defRPr sz="3675" b="1">
                <a:solidFill>
                  <a:srgbClr val="FFFFFF"/>
                </a:solidFill>
                <a:latin typeface="Aptos"/>
                <a:ea typeface="Aptos"/>
                <a:cs typeface="Aptos"/>
              </a:defRPr>
            </a:pPr>
            <a:r>
              <a:rPr sz="3675" b="1">
                <a:solidFill>
                  <a:srgbClr val="FFFFFF"/>
                </a:solidFill>
                <a:latin typeface="Aptos"/>
                <a:ea typeface="Aptos"/>
                <a:cs typeface="Aptos"/>
              </a:rPr>
              <a:t>Preserve the evidence.</a:t>
            </a:r>
          </a:p>
          <a:p xmlns:a="http://schemas.openxmlformats.org/drawingml/2006/main">
            <a:pPr>
              <a:defRPr sz="3675" b="1">
                <a:solidFill>
                  <a:srgbClr val="FFFFFF"/>
                </a:solidFill>
                <a:latin typeface="Aptos"/>
                <a:ea typeface="Aptos"/>
                <a:cs typeface="Aptos"/>
              </a:defRPr>
            </a:pPr>
            <a:r>
              <a:rPr sz="3675" b="1">
                <a:solidFill>
                  <a:srgbClr val="FFFFFF"/>
                </a:solidFill>
                <a:latin typeface="Aptos"/>
                <a:ea typeface="Aptos"/>
                <a:cs typeface="Aptos"/>
              </a:rPr>
              <a:t>Keep NHA in control.</a:t>
            </a:r>
          </a:p>
        </p:txBody>
      </p:sp>
      <p:sp>
        <p:nvSpPr>
          <p:cNvPr id="9" name="">
            <a:extLst xmlns:a="http://schemas.openxmlformats.org/drawingml/2006/main">
              <a:ext uri="{FF2B5EF4-FFF2-40B4-BE49-F238E27FC236}">
                <a16:creationId xmlns:a16="http://schemas.microsoft.com/office/drawing/2014/main" id="{738C986E-E457-45C9-95FE-B8BE9390A2AA}"/>
              </a:ext>
            </a:extLst>
          </p:cNvPr>
          <p:cNvSpPr>
            <a:spLocks xmlns:a="http://schemas.openxmlformats.org/drawingml/2006/main" noGrp="1"/>
          </p:cNvSpPr>
          <p:nvPr/>
        </p:nvSpPr>
        <p:spPr>
          <a:xfrm xmlns:a="http://schemas.openxmlformats.org/drawingml/2006/main">
            <a:off x="7086600" y="2238375"/>
            <a:ext cx="628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9F2EB"/>
                </a:solidFill>
                <a:latin typeface="Aptos"/>
                <a:ea typeface="Aptos"/>
                <a:cs typeface="Aptos"/>
              </a:defRPr>
            </a:pPr>
            <a:r>
              <a:rPr sz="2325" b="1">
                <a:solidFill>
                  <a:srgbClr val="D9F2EB"/>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EE7B9939-5053-48B0-BD53-F43B21AB8332}"/>
              </a:ext>
            </a:extLst>
          </p:cNvPr>
          <p:cNvSpPr>
            <a:spLocks xmlns:a="http://schemas.openxmlformats.org/drawingml/2006/main" noGrp="1"/>
          </p:cNvSpPr>
          <p:nvPr/>
        </p:nvSpPr>
        <p:spPr>
          <a:xfrm xmlns:a="http://schemas.openxmlformats.org/drawingml/2006/main">
            <a:off x="7829550" y="2238375"/>
            <a:ext cx="3648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A representative, rights-cleared corpus</a:t>
            </a:r>
          </a:p>
        </p:txBody>
      </p:sp>
      <p:sp>
        <p:nvSpPr>
          <p:cNvPr id="11" name="">
            <a:extLst xmlns:a="http://schemas.openxmlformats.org/drawingml/2006/main">
              <a:ext uri="{FF2B5EF4-FFF2-40B4-BE49-F238E27FC236}">
                <a16:creationId xmlns:a16="http://schemas.microsoft.com/office/drawing/2014/main" id="{69505048-EF56-4E36-9A22-E4F1132D04E1}"/>
              </a:ext>
            </a:extLst>
          </p:cNvPr>
          <p:cNvSpPr>
            <a:spLocks xmlns:a="http://schemas.openxmlformats.org/drawingml/2006/main" noGrp="1"/>
          </p:cNvSpPr>
          <p:nvPr/>
        </p:nvSpPr>
        <p:spPr>
          <a:xfrm xmlns:a="http://schemas.openxmlformats.org/drawingml/2006/main">
            <a:off x="7086600" y="3305175"/>
            <a:ext cx="628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9F2EB"/>
                </a:solidFill>
                <a:latin typeface="Aptos"/>
                <a:ea typeface="Aptos"/>
                <a:cs typeface="Aptos"/>
              </a:defRPr>
            </a:pPr>
            <a:r>
              <a:rPr sz="2325" b="1">
                <a:solidFill>
                  <a:srgbClr val="D9F2EB"/>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B9E94251-2EAC-4892-B566-585D54EEA662}"/>
              </a:ext>
            </a:extLst>
          </p:cNvPr>
          <p:cNvSpPr>
            <a:spLocks xmlns:a="http://schemas.openxmlformats.org/drawingml/2006/main" noGrp="1"/>
          </p:cNvSpPr>
          <p:nvPr/>
        </p:nvSpPr>
        <p:spPr>
          <a:xfrm xmlns:a="http://schemas.openxmlformats.org/drawingml/2006/main">
            <a:off x="7829550" y="3305175"/>
            <a:ext cx="3648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Named business and service owners</a:t>
            </a:r>
          </a:p>
        </p:txBody>
      </p:sp>
      <p:sp>
        <p:nvSpPr>
          <p:cNvPr id="13" name="">
            <a:extLst xmlns:a="http://schemas.openxmlformats.org/drawingml/2006/main">
              <a:ext uri="{FF2B5EF4-FFF2-40B4-BE49-F238E27FC236}">
                <a16:creationId xmlns:a16="http://schemas.microsoft.com/office/drawing/2014/main" id="{1117C664-13FA-4554-8B5D-595F8BE91E21}"/>
              </a:ext>
            </a:extLst>
          </p:cNvPr>
          <p:cNvSpPr>
            <a:spLocks xmlns:a="http://schemas.openxmlformats.org/drawingml/2006/main" noGrp="1"/>
          </p:cNvSpPr>
          <p:nvPr/>
        </p:nvSpPr>
        <p:spPr>
          <a:xfrm xmlns:a="http://schemas.openxmlformats.org/drawingml/2006/main">
            <a:off x="7086600" y="4371975"/>
            <a:ext cx="628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9F2EB"/>
                </a:solidFill>
                <a:latin typeface="Aptos"/>
                <a:ea typeface="Aptos"/>
                <a:cs typeface="Aptos"/>
              </a:defRPr>
            </a:pPr>
            <a:r>
              <a:rPr sz="2325" b="1">
                <a:solidFill>
                  <a:srgbClr val="D9F2EB"/>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2D4865FA-E008-4AB0-BFE7-2EECABF10217}"/>
              </a:ext>
            </a:extLst>
          </p:cNvPr>
          <p:cNvSpPr>
            <a:spLocks xmlns:a="http://schemas.openxmlformats.org/drawingml/2006/main" noGrp="1"/>
          </p:cNvSpPr>
          <p:nvPr/>
        </p:nvSpPr>
        <p:spPr>
          <a:xfrm xmlns:a="http://schemas.openxmlformats.org/drawingml/2006/main">
            <a:off x="7829550" y="4371975"/>
            <a:ext cx="36480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ptos"/>
                <a:ea typeface="Aptos"/>
                <a:cs typeface="Aptos"/>
              </a:defRPr>
            </a:pPr>
            <a:r>
              <a:rPr sz="2025" b="1">
                <a:solidFill>
                  <a:srgbClr val="FFFFFF"/>
                </a:solidFill>
                <a:latin typeface="Aptos"/>
                <a:ea typeface="Aptos"/>
                <a:cs typeface="Aptos"/>
              </a:rPr>
              <a:t>Agreed quality, access and cost gates</a:t>
            </a:r>
          </a:p>
        </p:txBody>
      </p:sp>
      <p:sp>
        <p:nvSpPr>
          <p:cNvPr id="15" name="">
            <a:extLst xmlns:a="http://schemas.openxmlformats.org/drawingml/2006/main">
              <a:ext uri="{FF2B5EF4-FFF2-40B4-BE49-F238E27FC236}">
                <a16:creationId xmlns:a16="http://schemas.microsoft.com/office/drawing/2014/main" id="{187AEA83-BB9D-488A-8888-AB9C2D3657C0}"/>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20354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53B9E5-0FD6-40AE-8A0C-4D422DB20042}"/>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ptos"/>
                <a:ea typeface="Aptos"/>
                <a:cs typeface="Aptos"/>
              </a:defRPr>
            </a:pPr>
            <a:r>
              <a:rPr sz="1575" b="1">
                <a:solidFill>
                  <a:srgbClr val="FFFFFF"/>
                </a:solidFill>
                <a:latin typeface="Aptos"/>
                <a:ea typeface="Aptos"/>
                <a:cs typeface="Aptos"/>
              </a:rPr>
              <a:t>Next commitment: a controlled real-media pilot with an explicit acceptance decision.</a:t>
            </a:r>
          </a:p>
        </p:txBody>
      </p:sp>
    </p:spTree>
    <p:extLst>
      <p:ext uri="{BB962C8B-B14F-4D97-AF65-F5344CB8AC3E}">
        <p14:creationId xmlns:p14="http://schemas.microsoft.com/office/powerpoint/2010/main" val="17453638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649503-0B97-48E9-97EC-5125E857DB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A72602-820F-46DC-9428-F6995EA53ABA}"/>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APPENDIX A / DATA CONTRACT</a:t>
            </a:r>
          </a:p>
        </p:txBody>
      </p:sp>
      <p:sp>
        <p:nvSpPr>
          <p:cNvPr id="3" name="">
            <a:extLst xmlns:a="http://schemas.openxmlformats.org/drawingml/2006/main">
              <a:ext uri="{FF2B5EF4-FFF2-40B4-BE49-F238E27FC236}">
                <a16:creationId xmlns:a16="http://schemas.microsoft.com/office/drawing/2014/main" id="{0410BF28-CF63-4866-8766-EC4C6D77B8F3}"/>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Preserve identity, timing and processing lineage</a:t>
            </a:r>
          </a:p>
        </p:txBody>
      </p:sp>
      <p:sp>
        <p:nvSpPr>
          <p:cNvPr id="4" name="">
            <a:extLst xmlns:a="http://schemas.openxmlformats.org/drawingml/2006/main">
              <a:ext uri="{FF2B5EF4-FFF2-40B4-BE49-F238E27FC236}">
                <a16:creationId xmlns:a16="http://schemas.microsoft.com/office/drawing/2014/main" id="{BF854BCA-EEBE-4CE1-95F1-08F7210313D8}"/>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DA92FB-3E01-4EB0-8169-CEC7228A9A01}"/>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models.py; indexing.py; Technical_Decisions.md</a:t>
            </a:r>
          </a:p>
        </p:txBody>
      </p:sp>
      <p:sp>
        <p:nvSpPr>
          <p:cNvPr id="6" name="">
            <a:extLst xmlns:a="http://schemas.openxmlformats.org/drawingml/2006/main">
              <a:ext uri="{FF2B5EF4-FFF2-40B4-BE49-F238E27FC236}">
                <a16:creationId xmlns:a16="http://schemas.microsoft.com/office/drawing/2014/main" id="{4347F2C9-312B-44CB-98D7-48DF86746E57}"/>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9C9E0266-2845-436E-A576-A9AA501D4E1A}"/>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21</a:t>
            </a:r>
          </a:p>
        </p:txBody>
      </p:sp>
      <p:graphicFrame>
        <p:nvGraphicFramePr>
          <p:cNvPr id="18" name=""/>
          <p:cNvGraphicFramePr/>
          <p:nvPr/>
        </p:nvGraphicFramePr>
        <p:xfrm>
          <a:off xmlns:a="http://schemas.openxmlformats.org/drawingml/2006/main" x="514350" y="2047875"/>
          <a:ext xmlns:a="http://schemas.openxmlformats.org/drawingml/2006/main" cx="11144250" cy="3257550"/>
        </p:xfrm>
        <a:graphic xmlns:a="http://schemas.openxmlformats.org/drawingml/2006/main">
          <a:graphicData uri="http://schemas.openxmlformats.org/drawingml/2006/table">
            <a:tbl>
              <a:tblPr/>
              <a:tblGrid>
                <a:gridCol w="2714625"/>
                <a:gridCol w="4333875"/>
                <a:gridCol w="4095750"/>
              </a:tblGrid>
              <a:tr h="651510">
                <a:tc>
                  <a:txBody>
                    <a:bodyPr/>
                    <a:lstStyle/>
                    <a:p>
                      <a:r>
                        <a:rPr sz="1575" b="1">
                          <a:solidFill>
                            <a:srgbClr val="FFFFFF"/>
                          </a:solidFill>
                          <a:latin typeface="Aptos"/>
                          <a:ea typeface="Aptos"/>
                          <a:cs typeface="Aptos"/>
                        </a:rPr>
                        <a:t>Contract layer</a:t>
                      </a:r>
                    </a:p>
                  </a:txBody>
                  <a:tcPr marL="91440" marR="91440" marT="45720" marB="45720">
                    <a:solidFill>
                      <a:srgbClr val="142238"/>
                    </a:solidFill>
                  </a:tcPr>
                </a:tc>
                <a:tc>
                  <a:txBody>
                    <a:bodyPr/>
                    <a:lstStyle/>
                    <a:p>
                      <a:r>
                        <a:rPr sz="1575" b="1">
                          <a:solidFill>
                            <a:srgbClr val="FFFFFF"/>
                          </a:solidFill>
                          <a:latin typeface="Aptos"/>
                          <a:ea typeface="Aptos"/>
                          <a:cs typeface="Aptos"/>
                        </a:rPr>
                        <a:t>Minimum evidence</a:t>
                      </a:r>
                    </a:p>
                  </a:txBody>
                  <a:tcPr marL="91440" marR="91440" marT="45720" marB="45720">
                    <a:solidFill>
                      <a:srgbClr val="142238"/>
                    </a:solidFill>
                  </a:tcPr>
                </a:tc>
                <a:tc>
                  <a:txBody>
                    <a:bodyPr/>
                    <a:lstStyle/>
                    <a:p>
                      <a:r>
                        <a:rPr sz="1575" b="1">
                          <a:solidFill>
                            <a:srgbClr val="FFFFFF"/>
                          </a:solidFill>
                          <a:latin typeface="Aptos"/>
                          <a:ea typeface="Aptos"/>
                          <a:cs typeface="Aptos"/>
                        </a:rPr>
                        <a:t>Why it matters</a:t>
                      </a:r>
                    </a:p>
                  </a:txBody>
                  <a:tcPr marL="91440" marR="91440" marT="45720" marB="45720">
                    <a:solidFill>
                      <a:srgbClr val="142238"/>
                    </a:solidFill>
                  </a:tcPr>
                </a:tc>
              </a:tr>
              <a:tr h="651510">
                <a:tc>
                  <a:txBody>
                    <a:bodyPr/>
                    <a:lstStyle/>
                    <a:p>
                      <a:r>
                        <a:rPr sz="1575" b="1">
                          <a:solidFill>
                            <a:srgbClr val="142238"/>
                          </a:solidFill>
                          <a:latin typeface="Aptos"/>
                          <a:ea typeface="Aptos"/>
                          <a:cs typeface="Aptos"/>
                        </a:rPr>
                        <a:t>Archive identity</a:t>
                      </a:r>
                    </a:p>
                  </a:txBody>
                  <a:tcPr marL="91440" marR="91440" marT="45720" marB="45720">
                    <a:solidFill>
                      <a:srgbClr val="F3F7F9"/>
                    </a:solidFill>
                  </a:tcPr>
                </a:tc>
                <a:tc>
                  <a:txBody>
                    <a:bodyPr/>
                    <a:lstStyle/>
                    <a:p>
                      <a:r>
                        <a:rPr sz="1575" b="0">
                          <a:solidFill>
                            <a:srgbClr val="142238"/>
                          </a:solidFill>
                          <a:latin typeface="Aptos"/>
                          <a:ea typeface="Aptos"/>
                          <a:cs typeface="Aptos"/>
                        </a:rPr>
                        <a:t>Event → asset → recording version</a:t>
                      </a:r>
                    </a:p>
                  </a:txBody>
                  <a:tcPr marL="91440" marR="91440" marT="45720" marB="45720">
                    <a:solidFill>
                      <a:srgbClr val="F3F7F9"/>
                    </a:solidFill>
                  </a:tcPr>
                </a:tc>
                <a:tc>
                  <a:txBody>
                    <a:bodyPr/>
                    <a:lstStyle/>
                    <a:p>
                      <a:r>
                        <a:rPr sz="1575" b="0">
                          <a:solidFill>
                            <a:srgbClr val="142238"/>
                          </a:solidFill>
                          <a:latin typeface="Aptos"/>
                          <a:ea typeface="Aptos"/>
                          <a:cs typeface="Aptos"/>
                        </a:rPr>
                        <a:t>Groups related content without merging clocks</a:t>
                      </a:r>
                    </a:p>
                  </a:txBody>
                  <a:tcPr marL="91440" marR="91440" marT="45720" marB="45720">
                    <a:solidFill>
                      <a:srgbClr val="F3F7F9"/>
                    </a:solidFill>
                  </a:tcPr>
                </a:tc>
              </a:tr>
              <a:tr h="651510">
                <a:tc>
                  <a:txBody>
                    <a:bodyPr/>
                    <a:lstStyle/>
                    <a:p>
                      <a:r>
                        <a:rPr sz="1575" b="1">
                          <a:solidFill>
                            <a:srgbClr val="142238"/>
                          </a:solidFill>
                          <a:latin typeface="Aptos"/>
                          <a:ea typeface="Aptos"/>
                          <a:cs typeface="Aptos"/>
                        </a:rPr>
                        <a:t>Transcript evidence</a:t>
                      </a:r>
                    </a:p>
                  </a:txBody>
                  <a:tcPr marL="91440" marR="91440" marT="45720" marB="45720">
                    <a:solidFill>
                      <a:srgbClr val="FFFFFF"/>
                    </a:solidFill>
                  </a:tcPr>
                </a:tc>
                <a:tc>
                  <a:txBody>
                    <a:bodyPr/>
                    <a:lstStyle/>
                    <a:p>
                      <a:r>
                        <a:rPr sz="1575" b="0">
                          <a:solidFill>
                            <a:srgbClr val="142238"/>
                          </a:solidFill>
                          <a:latin typeface="Aptos"/>
                          <a:ea typeface="Aptos"/>
                          <a:cs typeface="Aptos"/>
                        </a:rPr>
                        <a:t>Revision, word IDs, start/end milliseconds</a:t>
                      </a:r>
                    </a:p>
                  </a:txBody>
                  <a:tcPr marL="91440" marR="91440" marT="45720" marB="45720">
                    <a:solidFill>
                      <a:srgbClr val="FFFFFF"/>
                    </a:solidFill>
                  </a:tcPr>
                </a:tc>
                <a:tc>
                  <a:txBody>
                    <a:bodyPr/>
                    <a:lstStyle/>
                    <a:p>
                      <a:r>
                        <a:rPr sz="1575" b="0">
                          <a:solidFill>
                            <a:srgbClr val="142238"/>
                          </a:solidFill>
                          <a:latin typeface="Aptos"/>
                          <a:ea typeface="Aptos"/>
                          <a:cs typeface="Aptos"/>
                        </a:rPr>
                        <a:t>Makes each interval traceable to source words</a:t>
                      </a:r>
                    </a:p>
                  </a:txBody>
                  <a:tcPr marL="91440" marR="91440" marT="45720" marB="45720">
                    <a:solidFill>
                      <a:srgbClr val="FFFFFF"/>
                    </a:solidFill>
                  </a:tcPr>
                </a:tc>
              </a:tr>
              <a:tr h="651510">
                <a:tc>
                  <a:txBody>
                    <a:bodyPr/>
                    <a:lstStyle/>
                    <a:p>
                      <a:r>
                        <a:rPr sz="1575" b="1">
                          <a:solidFill>
                            <a:srgbClr val="142238"/>
                          </a:solidFill>
                          <a:latin typeface="Aptos"/>
                          <a:ea typeface="Aptos"/>
                          <a:cs typeface="Aptos"/>
                        </a:rPr>
                        <a:t>Processing lineage</a:t>
                      </a:r>
                    </a:p>
                  </a:txBody>
                  <a:tcPr marL="91440" marR="91440" marT="45720" marB="45720">
                    <a:solidFill>
                      <a:srgbClr val="F3F7F9"/>
                    </a:solidFill>
                  </a:tcPr>
                </a:tc>
                <a:tc>
                  <a:txBody>
                    <a:bodyPr/>
                    <a:lstStyle/>
                    <a:p>
                      <a:r>
                        <a:rPr sz="1575" b="0">
                          <a:solidFill>
                            <a:srgbClr val="142238"/>
                          </a:solidFill>
                          <a:latin typeface="Aptos"/>
                          <a:ea typeface="Aptos"/>
                          <a:cs typeface="Aptos"/>
                        </a:rPr>
                        <a:t>Source hash, encoder revision, index generation</a:t>
                      </a:r>
                    </a:p>
                  </a:txBody>
                  <a:tcPr marL="91440" marR="91440" marT="45720" marB="45720">
                    <a:solidFill>
                      <a:srgbClr val="F3F7F9"/>
                    </a:solidFill>
                  </a:tcPr>
                </a:tc>
                <a:tc>
                  <a:txBody>
                    <a:bodyPr/>
                    <a:lstStyle/>
                    <a:p>
                      <a:r>
                        <a:rPr sz="1575" b="0">
                          <a:solidFill>
                            <a:srgbClr val="142238"/>
                          </a:solidFill>
                          <a:latin typeface="Aptos"/>
                          <a:ea typeface="Aptos"/>
                          <a:cs typeface="Aptos"/>
                        </a:rPr>
                        <a:t>Enables reproducibility and safe replacement</a:t>
                      </a:r>
                    </a:p>
                  </a:txBody>
                  <a:tcPr marL="91440" marR="91440" marT="45720" marB="45720">
                    <a:solidFill>
                      <a:srgbClr val="F3F7F9"/>
                    </a:solidFill>
                  </a:tcPr>
                </a:tc>
              </a:tr>
              <a:tr h="651510">
                <a:tc>
                  <a:txBody>
                    <a:bodyPr/>
                    <a:lstStyle/>
                    <a:p>
                      <a:r>
                        <a:rPr sz="1575" b="1">
                          <a:solidFill>
                            <a:srgbClr val="142238"/>
                          </a:solidFill>
                          <a:latin typeface="Aptos"/>
                          <a:ea typeface="Aptos"/>
                          <a:cs typeface="Aptos"/>
                        </a:rPr>
                        <a:t>Policy + delivery</a:t>
                      </a:r>
                    </a:p>
                  </a:txBody>
                  <a:tcPr marL="91440" marR="91440" marT="45720" marB="45720">
                    <a:solidFill>
                      <a:srgbClr val="FFFFFF"/>
                    </a:solidFill>
                  </a:tcPr>
                </a:tc>
                <a:tc>
                  <a:txBody>
                    <a:bodyPr/>
                    <a:lstStyle/>
                    <a:p>
                      <a:r>
                        <a:rPr sz="1575" b="0">
                          <a:solidFill>
                            <a:srgbClr val="142238"/>
                          </a:solidFill>
                          <a:latin typeface="Aptos"/>
                          <a:ea typeface="Aptos"/>
                          <a:cs typeface="Aptos"/>
                        </a:rPr>
                        <a:t>Entitlements, evidence status, availability</a:t>
                      </a:r>
                    </a:p>
                  </a:txBody>
                  <a:tcPr marL="91440" marR="91440" marT="45720" marB="45720">
                    <a:solidFill>
                      <a:srgbClr val="FFFFFF"/>
                    </a:solidFill>
                  </a:tcPr>
                </a:tc>
                <a:tc>
                  <a:txBody>
                    <a:bodyPr/>
                    <a:lstStyle/>
                    <a:p>
                      <a:r>
                        <a:rPr sz="1575" b="0">
                          <a:solidFill>
                            <a:srgbClr val="142238"/>
                          </a:solidFill>
                          <a:latin typeface="Aptos"/>
                          <a:ea typeface="Aptos"/>
                          <a:cs typeface="Aptos"/>
                        </a:rPr>
                        <a:t>Controls disclosure and permitted next action</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EEAA82B1-F54E-4985-9A9B-98DF4B07C149}"/>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A1B25E5-551B-4D85-8A57-D33442C9422F}"/>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Rebuild indexes from preserved source evidence; never mix encoder vector spaces.</a:t>
            </a:r>
          </a:p>
        </p:txBody>
      </p:sp>
    </p:spTree>
    <p:extLst>
      <p:ext uri="{BB962C8B-B14F-4D97-AF65-F5344CB8AC3E}">
        <p14:creationId xmlns:p14="http://schemas.microsoft.com/office/powerpoint/2010/main" val="9413180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F9986B-93F1-489C-BBC3-39270EB11F6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235A4B-4D49-4589-AC4E-CE019CC2C6BF}"/>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APPENDIX B / EVALUATION</a:t>
            </a:r>
          </a:p>
        </p:txBody>
      </p:sp>
      <p:sp>
        <p:nvSpPr>
          <p:cNvPr id="3" name="">
            <a:extLst xmlns:a="http://schemas.openxmlformats.org/drawingml/2006/main">
              <a:ext uri="{FF2B5EF4-FFF2-40B4-BE49-F238E27FC236}">
                <a16:creationId xmlns:a16="http://schemas.microsoft.com/office/drawing/2014/main" id="{6FDE5098-7BBB-4815-8F91-AD52A1E4CC38}"/>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Read the measurements in their correct scope</a:t>
            </a:r>
          </a:p>
        </p:txBody>
      </p:sp>
      <p:sp>
        <p:nvSpPr>
          <p:cNvPr id="4" name="">
            <a:extLst xmlns:a="http://schemas.openxmlformats.org/drawingml/2006/main">
              <a:ext uri="{FF2B5EF4-FFF2-40B4-BE49-F238E27FC236}">
                <a16:creationId xmlns:a16="http://schemas.microsoft.com/office/drawing/2014/main" id="{214AF38E-F043-46CA-B785-A4832D0B0922}"/>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FB26F0-E4AF-4A01-9E4E-2B058C6A8F58}"/>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scripts/evaluate.py; judgements.json; Evaluation_Results.md</a:t>
            </a:r>
          </a:p>
        </p:txBody>
      </p:sp>
      <p:sp>
        <p:nvSpPr>
          <p:cNvPr id="6" name="">
            <a:extLst xmlns:a="http://schemas.openxmlformats.org/drawingml/2006/main">
              <a:ext uri="{FF2B5EF4-FFF2-40B4-BE49-F238E27FC236}">
                <a16:creationId xmlns:a16="http://schemas.microsoft.com/office/drawing/2014/main" id="{6C08B0E1-BBE2-4ED0-A70F-D73196243EA9}"/>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EFBA8FBE-F080-44F0-BFEC-7895D12F2768}"/>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22</a:t>
            </a:r>
          </a:p>
        </p:txBody>
      </p:sp>
      <p:graphicFrame>
        <p:nvGraphicFramePr>
          <p:cNvPr id="18" name=""/>
          <p:cNvGraphicFramePr/>
          <p:nvPr/>
        </p:nvGraphicFramePr>
        <p:xfrm>
          <a:off xmlns:a="http://schemas.openxmlformats.org/drawingml/2006/main" x="514350" y="2028825"/>
          <a:ext xmlns:a="http://schemas.openxmlformats.org/drawingml/2006/main" cx="11144250" cy="3476625"/>
        </p:xfrm>
        <a:graphic xmlns:a="http://schemas.openxmlformats.org/drawingml/2006/main">
          <a:graphicData uri="http://schemas.openxmlformats.org/drawingml/2006/table">
            <a:tbl>
              <a:tblPr/>
              <a:tblGrid>
                <a:gridCol w="3381375"/>
                <a:gridCol w="7762875"/>
              </a:tblGrid>
              <a:tr h="579438">
                <a:tc>
                  <a:txBody>
                    <a:bodyPr/>
                    <a:lstStyle/>
                    <a:p>
                      <a:r>
                        <a:rPr sz="1575" b="1">
                          <a:solidFill>
                            <a:srgbClr val="FFFFFF"/>
                          </a:solidFill>
                          <a:latin typeface="Aptos"/>
                          <a:ea typeface="Aptos"/>
                          <a:cs typeface="Aptos"/>
                        </a:rPr>
                        <a:t>Metric</a:t>
                      </a:r>
                    </a:p>
                  </a:txBody>
                  <a:tcPr marL="91440" marR="91440" marT="45720" marB="45720">
                    <a:solidFill>
                      <a:srgbClr val="142238"/>
                    </a:solidFill>
                  </a:tcPr>
                </a:tc>
                <a:tc>
                  <a:txBody>
                    <a:bodyPr/>
                    <a:lstStyle/>
                    <a:p>
                      <a:r>
                        <a:rPr sz="1575" b="1">
                          <a:solidFill>
                            <a:srgbClr val="FFFFFF"/>
                          </a:solidFill>
                          <a:latin typeface="Aptos"/>
                          <a:ea typeface="Aptos"/>
                          <a:cs typeface="Aptos"/>
                        </a:rPr>
                        <a:t>Definition / scope</a:t>
                      </a:r>
                    </a:p>
                  </a:txBody>
                  <a:tcPr marL="91440" marR="91440" marT="45720" marB="45720">
                    <a:solidFill>
                      <a:srgbClr val="142238"/>
                    </a:solidFill>
                  </a:tcPr>
                </a:tc>
              </a:tr>
              <a:tr h="579438">
                <a:tc>
                  <a:txBody>
                    <a:bodyPr/>
                    <a:lstStyle/>
                    <a:p>
                      <a:r>
                        <a:rPr sz="1575" b="1">
                          <a:solidFill>
                            <a:srgbClr val="142238"/>
                          </a:solidFill>
                          <a:latin typeface="Aptos"/>
                          <a:ea typeface="Aptos"/>
                          <a:cs typeface="Aptos"/>
                        </a:rPr>
                        <a:t>Recording and passage recall@5</a:t>
                      </a:r>
                    </a:p>
                  </a:txBody>
                  <a:tcPr marL="91440" marR="91440" marT="45720" marB="45720">
                    <a:solidFill>
                      <a:srgbClr val="F3F7F9"/>
                    </a:solidFill>
                  </a:tcPr>
                </a:tc>
                <a:tc>
                  <a:txBody>
                    <a:bodyPr/>
                    <a:lstStyle/>
                    <a:p>
                      <a:r>
                        <a:rPr sz="1575" b="0">
                          <a:solidFill>
                            <a:srgbClr val="142238"/>
                          </a:solidFill>
                          <a:latin typeface="Aptos"/>
                          <a:ea typeface="Aptos"/>
                          <a:cs typeface="Aptos"/>
                        </a:rPr>
                        <a:t>10 positive fixture queries; correct version, then interval containment</a:t>
                      </a:r>
                    </a:p>
                  </a:txBody>
                  <a:tcPr marL="91440" marR="91440" marT="45720" marB="45720">
                    <a:solidFill>
                      <a:srgbClr val="F3F7F9"/>
                    </a:solidFill>
                  </a:tcPr>
                </a:tc>
              </a:tr>
              <a:tr h="579438">
                <a:tc>
                  <a:txBody>
                    <a:bodyPr/>
                    <a:lstStyle/>
                    <a:p>
                      <a:r>
                        <a:rPr sz="1575" b="1">
                          <a:solidFill>
                            <a:srgbClr val="142238"/>
                          </a:solidFill>
                          <a:latin typeface="Aptos"/>
                          <a:ea typeface="Aptos"/>
                          <a:cs typeface="Aptos"/>
                        </a:rPr>
                        <a:t>MRR@5</a:t>
                      </a:r>
                    </a:p>
                  </a:txBody>
                  <a:tcPr marL="91440" marR="91440" marT="45720" marB="45720">
                    <a:solidFill>
                      <a:srgbClr val="FFFFFF"/>
                    </a:solidFill>
                  </a:tcPr>
                </a:tc>
                <a:tc>
                  <a:txBody>
                    <a:bodyPr/>
                    <a:lstStyle/>
                    <a:p>
                      <a:r>
                        <a:rPr sz="1575" b="0">
                          <a:solidFill>
                            <a:srgbClr val="142238"/>
                          </a:solidFill>
                          <a:latin typeface="Aptos"/>
                          <a:ea typeface="Aptos"/>
                          <a:cs typeface="Aptos"/>
                        </a:rPr>
                        <a:t>Reciprocal rank of the first relevant result among the top five</a:t>
                      </a:r>
                    </a:p>
                  </a:txBody>
                  <a:tcPr marL="91440" marR="91440" marT="45720" marB="45720">
                    <a:solidFill>
                      <a:srgbClr val="FFFFFF"/>
                    </a:solidFill>
                  </a:tcPr>
                </a:tc>
              </a:tr>
              <a:tr h="579438">
                <a:tc>
                  <a:txBody>
                    <a:bodyPr/>
                    <a:lstStyle/>
                    <a:p>
                      <a:r>
                        <a:rPr sz="1575" b="1">
                          <a:solidFill>
                            <a:srgbClr val="142238"/>
                          </a:solidFill>
                          <a:latin typeface="Aptos"/>
                          <a:ea typeface="Aptos"/>
                          <a:cs typeface="Aptos"/>
                        </a:rPr>
                        <a:t>Negative accuracy</a:t>
                      </a:r>
                    </a:p>
                  </a:txBody>
                  <a:tcPr marL="91440" marR="91440" marT="45720" marB="45720">
                    <a:solidFill>
                      <a:srgbClr val="F3F7F9"/>
                    </a:solidFill>
                  </a:tcPr>
                </a:tc>
                <a:tc>
                  <a:txBody>
                    <a:bodyPr/>
                    <a:lstStyle/>
                    <a:p>
                      <a:r>
                        <a:rPr sz="1575" b="0">
                          <a:solidFill>
                            <a:srgbClr val="142238"/>
                          </a:solidFill>
                          <a:latin typeface="Aptos"/>
                          <a:ea typeface="Aptos"/>
                          <a:cs typeface="Aptos"/>
                        </a:rPr>
                        <a:t>4 judged no-match / access cases; all correct in the captured run</a:t>
                      </a:r>
                    </a:p>
                  </a:txBody>
                  <a:tcPr marL="91440" marR="91440" marT="45720" marB="45720">
                    <a:solidFill>
                      <a:srgbClr val="F3F7F9"/>
                    </a:solidFill>
                  </a:tcPr>
                </a:tc>
              </a:tr>
              <a:tr h="579438">
                <a:tc>
                  <a:txBody>
                    <a:bodyPr/>
                    <a:lstStyle/>
                    <a:p>
                      <a:r>
                        <a:rPr sz="1575" b="1">
                          <a:solidFill>
                            <a:srgbClr val="142238"/>
                          </a:solidFill>
                          <a:latin typeface="Aptos"/>
                          <a:ea typeface="Aptos"/>
                          <a:cs typeface="Aptos"/>
                        </a:rPr>
                        <a:t>Boundary measure</a:t>
                      </a:r>
                    </a:p>
                  </a:txBody>
                  <a:tcPr marL="91440" marR="91440" marT="45720" marB="45720">
                    <a:solidFill>
                      <a:srgbClr val="FFFFFF"/>
                    </a:solidFill>
                  </a:tcPr>
                </a:tc>
                <a:tc>
                  <a:txBody>
                    <a:bodyPr/>
                    <a:lstStyle/>
                    <a:p>
                      <a:r>
                        <a:rPr sz="1575" b="0">
                          <a:solidFill>
                            <a:srgbClr val="142238"/>
                          </a:solidFill>
                          <a:latin typeface="Aptos"/>
                          <a:ea typeface="Aptos"/>
                          <a:cs typeface="Aptos"/>
                        </a:rPr>
                        <a:t>All returned intervals in timing-judged versions; ±2-second tolerance</a:t>
                      </a:r>
                    </a:p>
                  </a:txBody>
                  <a:tcPr marL="91440" marR="91440" marT="45720" marB="45720">
                    <a:solidFill>
                      <a:srgbClr val="FFFFFF"/>
                    </a:solidFill>
                  </a:tcPr>
                </a:tc>
              </a:tr>
              <a:tr h="579438">
                <a:tc>
                  <a:txBody>
                    <a:bodyPr/>
                    <a:lstStyle/>
                    <a:p>
                      <a:r>
                        <a:rPr sz="1575" b="1">
                          <a:solidFill>
                            <a:srgbClr val="142238"/>
                          </a:solidFill>
                          <a:latin typeface="Aptos"/>
                          <a:ea typeface="Aptos"/>
                          <a:cs typeface="Aptos"/>
                        </a:rPr>
                        <a:t>Latency</a:t>
                      </a:r>
                    </a:p>
                  </a:txBody>
                  <a:tcPr marL="91440" marR="91440" marT="45720" marB="45720">
                    <a:solidFill>
                      <a:srgbClr val="F3F7F9"/>
                    </a:solidFill>
                  </a:tcPr>
                </a:tc>
                <a:tc>
                  <a:txBody>
                    <a:bodyPr/>
                    <a:lstStyle/>
                    <a:p>
                      <a:r>
                        <a:rPr sz="1575" b="0">
                          <a:solidFill>
                            <a:srgbClr val="142238"/>
                          </a:solidFill>
                          <a:latin typeface="Aptos"/>
                          <a:ea typeface="Aptos"/>
                          <a:cs typeface="Aptos"/>
                        </a:rPr>
                        <a:t>14 warmed sequential queries per mode; startup measured separately</a:t>
                      </a:r>
                    </a:p>
                  </a:txBody>
                  <a:tcPr marL="91440" marR="91440" marT="45720" marB="45720">
                    <a:solidFill>
                      <a:srgbClr val="F3F7F9"/>
                    </a:solidFill>
                  </a:tcPr>
                </a:tc>
              </a:tr>
            </a:tbl>
          </a:graphicData>
        </a:graphic>
      </p:graphicFrame>
      <p:sp>
        <p:nvSpPr>
          <p:cNvPr id="9" name="">
            <a:extLst xmlns:a="http://schemas.openxmlformats.org/drawingml/2006/main">
              <a:ext uri="{FF2B5EF4-FFF2-40B4-BE49-F238E27FC236}">
                <a16:creationId xmlns:a16="http://schemas.microsoft.com/office/drawing/2014/main" id="{972E9348-315C-4C8E-82E7-76B3BE6315FE}"/>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8BB8632-BE16-4EF4-AB2E-C4A7B85C3F34}"/>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Development fixtures and tuned thresholds: no independent holdout or acoustic validation.</a:t>
            </a:r>
          </a:p>
        </p:txBody>
      </p:sp>
    </p:spTree>
    <p:extLst>
      <p:ext uri="{BB962C8B-B14F-4D97-AF65-F5344CB8AC3E}">
        <p14:creationId xmlns:p14="http://schemas.microsoft.com/office/powerpoint/2010/main" val="10603181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1868F94-F732-44EB-AF31-CCC933E352B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FBFAC1-9D4A-49A9-9F35-96A0E64F94F4}"/>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APPENDIX C / PRODUCTION GAPS</a:t>
            </a:r>
          </a:p>
        </p:txBody>
      </p:sp>
      <p:sp>
        <p:nvSpPr>
          <p:cNvPr id="3" name="">
            <a:extLst xmlns:a="http://schemas.openxmlformats.org/drawingml/2006/main">
              <a:ext uri="{FF2B5EF4-FFF2-40B4-BE49-F238E27FC236}">
                <a16:creationId xmlns:a16="http://schemas.microsoft.com/office/drawing/2014/main" id="{9E7BBABA-BE26-4CA6-8491-EA45C95F8FCB}"/>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Use the pilot to close the highest-impact gaps</a:t>
            </a:r>
          </a:p>
        </p:txBody>
      </p:sp>
      <p:sp>
        <p:nvSpPr>
          <p:cNvPr id="4" name="">
            <a:extLst xmlns:a="http://schemas.openxmlformats.org/drawingml/2006/main">
              <a:ext uri="{FF2B5EF4-FFF2-40B4-BE49-F238E27FC236}">
                <a16:creationId xmlns:a16="http://schemas.microsoft.com/office/drawing/2014/main" id="{CFA366C5-A382-47F8-A277-CC1BE037BDDE}"/>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5EC8D5-F03E-4A71-BDC9-A60D47105ADC}"/>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NHA case study; solution architecture</a:t>
            </a:r>
          </a:p>
        </p:txBody>
      </p:sp>
      <p:sp>
        <p:nvSpPr>
          <p:cNvPr id="6" name="">
            <a:extLst xmlns:a="http://schemas.openxmlformats.org/drawingml/2006/main">
              <a:ext uri="{FF2B5EF4-FFF2-40B4-BE49-F238E27FC236}">
                <a16:creationId xmlns:a16="http://schemas.microsoft.com/office/drawing/2014/main" id="{B2B60E4E-01A9-4DC2-9499-BE4A8C5E36BF}"/>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326066B5-FFBD-4C67-9E21-2F96E7BBF0A1}"/>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23</a:t>
            </a:r>
          </a:p>
        </p:txBody>
      </p:sp>
      <p:sp>
        <p:nvSpPr>
          <p:cNvPr id="8" name="">
            <a:extLst xmlns:a="http://schemas.openxmlformats.org/drawingml/2006/main">
              <a:ext uri="{FF2B5EF4-FFF2-40B4-BE49-F238E27FC236}">
                <a16:creationId xmlns:a16="http://schemas.microsoft.com/office/drawing/2014/main" id="{2DE8BFBD-8717-4213-9463-11A6A234144A}"/>
              </a:ext>
            </a:extLst>
          </p:cNvPr>
          <p:cNvSpPr>
            <a:spLocks xmlns:a="http://schemas.openxmlformats.org/drawingml/2006/main" noGrp="1"/>
          </p:cNvSpPr>
          <p:nvPr/>
        </p:nvSpPr>
        <p:spPr>
          <a:xfrm xmlns:a="http://schemas.openxmlformats.org/drawingml/2006/main">
            <a:off x="514350" y="2047875"/>
            <a:ext cx="5334000" cy="33528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CF7764-0513-42E7-B254-AD1C2A9277D1}"/>
              </a:ext>
            </a:extLst>
          </p:cNvPr>
          <p:cNvSpPr>
            <a:spLocks xmlns:a="http://schemas.openxmlformats.org/drawingml/2006/main" noGrp="1"/>
          </p:cNvSpPr>
          <p:nvPr/>
        </p:nvSpPr>
        <p:spPr>
          <a:xfrm xmlns:a="http://schemas.openxmlformats.org/drawingml/2006/main">
            <a:off x="514350" y="2047875"/>
            <a:ext cx="38100" cy="33528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D841123-725F-484E-89D6-DE97B3931FCB}"/>
              </a:ext>
            </a:extLst>
          </p:cNvPr>
          <p:cNvSpPr>
            <a:spLocks xmlns:a="http://schemas.openxmlformats.org/drawingml/2006/main" noGrp="1"/>
          </p:cNvSpPr>
          <p:nvPr/>
        </p:nvSpPr>
        <p:spPr>
          <a:xfrm xmlns:a="http://schemas.openxmlformats.org/drawingml/2006/main">
            <a:off x="704850" y="221932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RELEASE-CRITICAL VALIDATION</a:t>
            </a:r>
          </a:p>
        </p:txBody>
      </p:sp>
      <p:sp>
        <p:nvSpPr>
          <p:cNvPr id="11" name="">
            <a:extLst xmlns:a="http://schemas.openxmlformats.org/drawingml/2006/main">
              <a:ext uri="{FF2B5EF4-FFF2-40B4-BE49-F238E27FC236}">
                <a16:creationId xmlns:a16="http://schemas.microsoft.com/office/drawing/2014/main" id="{7BA19418-165E-47DC-B78A-B6C7728C0336}"/>
              </a:ext>
            </a:extLst>
          </p:cNvPr>
          <p:cNvSpPr>
            <a:spLocks xmlns:a="http://schemas.openxmlformats.org/drawingml/2006/main" noGrp="1"/>
          </p:cNvSpPr>
          <p:nvPr/>
        </p:nvSpPr>
        <p:spPr>
          <a:xfrm xmlns:a="http://schemas.openxmlformats.org/drawingml/2006/main">
            <a:off x="704850" y="2676525"/>
            <a:ext cx="49720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Real audio and independent timing</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Identity, rights and revocation</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Atlas visibility and workload tests</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Playback / archive workflow integration</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Restore, rollback and support drills</a:t>
            </a:r>
          </a:p>
        </p:txBody>
      </p:sp>
      <p:sp>
        <p:nvSpPr>
          <p:cNvPr id="12" name="">
            <a:extLst xmlns:a="http://schemas.openxmlformats.org/drawingml/2006/main">
              <a:ext uri="{FF2B5EF4-FFF2-40B4-BE49-F238E27FC236}">
                <a16:creationId xmlns:a16="http://schemas.microsoft.com/office/drawing/2014/main" id="{0BCC9177-55AF-4674-AA74-7F61DC6484D6}"/>
              </a:ext>
            </a:extLst>
          </p:cNvPr>
          <p:cNvSpPr>
            <a:spLocks xmlns:a="http://schemas.openxmlformats.org/drawingml/2006/main" noGrp="1"/>
          </p:cNvSpPr>
          <p:nvPr/>
        </p:nvSpPr>
        <p:spPr>
          <a:xfrm xmlns:a="http://schemas.openxmlformats.org/drawingml/2006/main">
            <a:off x="6324600" y="2047875"/>
            <a:ext cx="5334000" cy="33528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4BCC6A-AB48-40B3-AF62-DC198CDD94ED}"/>
              </a:ext>
            </a:extLst>
          </p:cNvPr>
          <p:cNvSpPr>
            <a:spLocks xmlns:a="http://schemas.openxmlformats.org/drawingml/2006/main" noGrp="1"/>
          </p:cNvSpPr>
          <p:nvPr/>
        </p:nvSpPr>
        <p:spPr>
          <a:xfrm xmlns:a="http://schemas.openxmlformats.org/drawingml/2006/main">
            <a:off x="6324600" y="2047875"/>
            <a:ext cx="38100" cy="33528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D42FBC-E788-4BA3-B5A7-A2F8921784C2}"/>
              </a:ext>
            </a:extLst>
          </p:cNvPr>
          <p:cNvSpPr>
            <a:spLocks xmlns:a="http://schemas.openxmlformats.org/drawingml/2006/main" noGrp="1"/>
          </p:cNvSpPr>
          <p:nvPr/>
        </p:nvSpPr>
        <p:spPr>
          <a:xfrm xmlns:a="http://schemas.openxmlformats.org/drawingml/2006/main">
            <a:off x="6515100" y="2219325"/>
            <a:ext cx="497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238"/>
                </a:solidFill>
                <a:latin typeface="Aptos"/>
                <a:ea typeface="Aptos"/>
                <a:cs typeface="Aptos"/>
              </a:defRPr>
            </a:pPr>
            <a:r>
              <a:rPr sz="1875" b="1">
                <a:solidFill>
                  <a:srgbClr val="142238"/>
                </a:solidFill>
                <a:latin typeface="Aptos"/>
                <a:ea typeface="Aptos"/>
                <a:cs typeface="Aptos"/>
              </a:rPr>
              <a:t>DEFER UNTIL JUSTIFIED</a:t>
            </a:r>
          </a:p>
        </p:txBody>
      </p:sp>
      <p:sp>
        <p:nvSpPr>
          <p:cNvPr id="15" name="">
            <a:extLst xmlns:a="http://schemas.openxmlformats.org/drawingml/2006/main">
              <a:ext uri="{FF2B5EF4-FFF2-40B4-BE49-F238E27FC236}">
                <a16:creationId xmlns:a16="http://schemas.microsoft.com/office/drawing/2014/main" id="{F07F7758-E079-41C9-B3D4-2DD5C8D2B98D}"/>
              </a:ext>
            </a:extLst>
          </p:cNvPr>
          <p:cNvSpPr>
            <a:spLocks xmlns:a="http://schemas.openxmlformats.org/drawingml/2006/main" noGrp="1"/>
          </p:cNvSpPr>
          <p:nvPr/>
        </p:nvSpPr>
        <p:spPr>
          <a:xfrm xmlns:a="http://schemas.openxmlformats.org/drawingml/2006/main">
            <a:off x="6515100" y="2676525"/>
            <a:ext cx="49720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Archive-wide historical backfill</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Universal multilingual coverage</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Visual-only scene retrieval</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Specialist model fine-tuning</a:t>
            </a:r>
          </a:p>
          <a:p xmlns:a="http://schemas.openxmlformats.org/drawingml/2006/main">
            <a:pPr>
              <a:defRPr sz="1650" b="0">
                <a:solidFill>
                  <a:srgbClr val="597083"/>
                </a:solidFill>
                <a:latin typeface="Aptos"/>
                <a:ea typeface="Aptos"/>
                <a:cs typeface="Aptos"/>
              </a:defRPr>
            </a:pPr>
            <a:r>
              <a:rPr sz="1650" b="0">
                <a:solidFill>
                  <a:srgbClr val="597083"/>
                </a:solidFill>
                <a:latin typeface="Aptos"/>
                <a:ea typeface="Aptos"/>
                <a:cs typeface="Aptos"/>
              </a:rPr>
              <a:t>RDF knowledge graph expansion</a:t>
            </a:r>
          </a:p>
        </p:txBody>
      </p:sp>
      <p:sp>
        <p:nvSpPr>
          <p:cNvPr id="16" name="">
            <a:extLst xmlns:a="http://schemas.openxmlformats.org/drawingml/2006/main">
              <a:ext uri="{FF2B5EF4-FFF2-40B4-BE49-F238E27FC236}">
                <a16:creationId xmlns:a16="http://schemas.microsoft.com/office/drawing/2014/main" id="{CE076C5F-B0F5-4B8B-A71D-39E6F7CFA144}"/>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0304E4-D630-4C86-9217-AA2184E73260}"/>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No automatic rights decisions or AI claims of recording authenticity.</a:t>
            </a:r>
          </a:p>
        </p:txBody>
      </p:sp>
    </p:spTree>
    <p:extLst>
      <p:ext uri="{BB962C8B-B14F-4D97-AF65-F5344CB8AC3E}">
        <p14:creationId xmlns:p14="http://schemas.microsoft.com/office/powerpoint/2010/main" val="2866109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2B87B1C-0C4B-4970-8708-8F7DC7C153E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A887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C4B268-122D-418F-9E23-A4751D1EDFC5}"/>
              </a:ext>
            </a:extLst>
          </p:cNvPr>
          <p:cNvSpPr>
            <a:spLocks xmlns:a="http://schemas.openxmlformats.org/drawingml/2006/main" noGrp="1"/>
          </p:cNvSpPr>
          <p:nvPr/>
        </p:nvSpPr>
        <p:spPr>
          <a:xfrm xmlns:a="http://schemas.openxmlformats.org/drawingml/2006/main">
            <a:off x="514350" y="2762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0A887E"/>
                </a:solidFill>
                <a:latin typeface="Aptos"/>
                <a:ea typeface="Aptos"/>
                <a:cs typeface="Aptos"/>
              </a:defRPr>
            </a:pPr>
            <a:r>
              <a:rPr sz="1050" b="1">
                <a:solidFill>
                  <a:srgbClr val="0A887E"/>
                </a:solidFill>
                <a:latin typeface="Aptos"/>
                <a:ea typeface="Aptos"/>
                <a:cs typeface="Aptos"/>
              </a:rPr>
              <a:t>APPENDIX D / SOURCE BASIS</a:t>
            </a:r>
          </a:p>
        </p:txBody>
      </p:sp>
      <p:sp>
        <p:nvSpPr>
          <p:cNvPr id="3" name="">
            <a:extLst xmlns:a="http://schemas.openxmlformats.org/drawingml/2006/main">
              <a:ext uri="{FF2B5EF4-FFF2-40B4-BE49-F238E27FC236}">
                <a16:creationId xmlns:a16="http://schemas.microsoft.com/office/drawing/2014/main" id="{7A6C2ABE-A9D9-4B10-B274-D528860A3DBB}"/>
              </a:ext>
            </a:extLst>
          </p:cNvPr>
          <p:cNvSpPr>
            <a:spLocks xmlns:a="http://schemas.openxmlformats.org/drawingml/2006/main" noGrp="1"/>
          </p:cNvSpPr>
          <p:nvPr/>
        </p:nvSpPr>
        <p:spPr>
          <a:xfrm xmlns:a="http://schemas.openxmlformats.org/drawingml/2006/main">
            <a:off x="514350" y="723900"/>
            <a:ext cx="11125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238"/>
                </a:solidFill>
                <a:latin typeface="Aptos"/>
                <a:ea typeface="Aptos"/>
                <a:cs typeface="Aptos"/>
              </a:defRPr>
            </a:pPr>
            <a:r>
              <a:rPr sz="2850" b="1">
                <a:solidFill>
                  <a:srgbClr val="142238"/>
                </a:solidFill>
                <a:latin typeface="Aptos"/>
                <a:ea typeface="Aptos"/>
                <a:cs typeface="Aptos"/>
              </a:rPr>
              <a:t>The recommendation is grounded in supplied evidence</a:t>
            </a:r>
          </a:p>
        </p:txBody>
      </p:sp>
      <p:sp>
        <p:nvSpPr>
          <p:cNvPr id="4" name="">
            <a:extLst xmlns:a="http://schemas.openxmlformats.org/drawingml/2006/main">
              <a:ext uri="{FF2B5EF4-FFF2-40B4-BE49-F238E27FC236}">
                <a16:creationId xmlns:a16="http://schemas.microsoft.com/office/drawing/2014/main" id="{561566EF-5201-451F-B3D4-7A50D81C8B6C}"/>
              </a:ext>
            </a:extLst>
          </p:cNvPr>
          <p:cNvSpPr>
            <a:spLocks xmlns:a="http://schemas.openxmlformats.org/drawingml/2006/main" noGrp="1"/>
          </p:cNvSpPr>
          <p:nvPr/>
        </p:nvSpPr>
        <p:spPr>
          <a:xfrm xmlns:a="http://schemas.openxmlformats.org/drawingml/2006/main">
            <a:off x="514350" y="16573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76D84F-E99A-4A1F-81FA-AF3EF5FB2EE2}"/>
              </a:ext>
            </a:extLst>
          </p:cNvPr>
          <p:cNvSpPr>
            <a:spLocks xmlns:a="http://schemas.openxmlformats.org/drawingml/2006/main" noGrp="1"/>
          </p:cNvSpPr>
          <p:nvPr/>
        </p:nvSpPr>
        <p:spPr>
          <a:xfrm xmlns:a="http://schemas.openxmlformats.org/drawingml/2006/main">
            <a:off x="514350" y="6172200"/>
            <a:ext cx="1033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7083"/>
                </a:solidFill>
                <a:latin typeface="Aptos"/>
                <a:ea typeface="Aptos"/>
                <a:cs typeface="Aptos"/>
              </a:defRPr>
            </a:pPr>
            <a:r>
              <a:rPr sz="900" b="0">
                <a:solidFill>
                  <a:srgbClr val="597083"/>
                </a:solidFill>
                <a:latin typeface="Aptos"/>
                <a:ea typeface="Aptos"/>
                <a:cs typeface="Aptos"/>
              </a:rPr>
              <a:t>Source register · supplied materials and local project artifacts</a:t>
            </a:r>
          </a:p>
        </p:txBody>
      </p:sp>
      <p:sp>
        <p:nvSpPr>
          <p:cNvPr id="6" name="">
            <a:extLst xmlns:a="http://schemas.openxmlformats.org/drawingml/2006/main">
              <a:ext uri="{FF2B5EF4-FFF2-40B4-BE49-F238E27FC236}">
                <a16:creationId xmlns:a16="http://schemas.microsoft.com/office/drawing/2014/main" id="{7A1B25AA-6062-464A-993D-DE1F2DADB7A9}"/>
              </a:ext>
            </a:extLst>
          </p:cNvPr>
          <p:cNvSpPr>
            <a:spLocks xmlns:a="http://schemas.openxmlformats.org/drawingml/2006/main" noGrp="1"/>
          </p:cNvSpPr>
          <p:nvPr/>
        </p:nvSpPr>
        <p:spPr>
          <a:xfrm xmlns:a="http://schemas.openxmlformats.org/drawingml/2006/main">
            <a:off x="514350" y="65341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97083"/>
                </a:solidFill>
                <a:latin typeface="Aptos"/>
                <a:ea typeface="Aptos"/>
                <a:cs typeface="Aptos"/>
              </a:defRPr>
            </a:pPr>
            <a:r>
              <a:rPr sz="750" b="0">
                <a:solidFill>
                  <a:srgbClr val="597083"/>
                </a:solidFill>
                <a:latin typeface="Aptos"/>
                <a:ea typeface="Aptos"/>
                <a:cs typeface="Aptos"/>
              </a:rPr>
              <a:t>FIND THE MOMENT  /  NHA</a:t>
            </a:r>
          </a:p>
        </p:txBody>
      </p:sp>
      <p:sp>
        <p:nvSpPr>
          <p:cNvPr id="7" name="">
            <a:extLst xmlns:a="http://schemas.openxmlformats.org/drawingml/2006/main">
              <a:ext uri="{FF2B5EF4-FFF2-40B4-BE49-F238E27FC236}">
                <a16:creationId xmlns:a16="http://schemas.microsoft.com/office/drawing/2014/main" id="{C0DF83F4-F238-4499-9B75-F28756746383}"/>
              </a:ext>
            </a:extLst>
          </p:cNvPr>
          <p:cNvSpPr>
            <a:spLocks xmlns:a="http://schemas.openxmlformats.org/drawingml/2006/main" noGrp="1"/>
          </p:cNvSpPr>
          <p:nvPr/>
        </p:nvSpPr>
        <p:spPr>
          <a:xfrm xmlns:a="http://schemas.openxmlformats.org/drawingml/2006/main">
            <a:off x="11287125"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7083"/>
                </a:solidFill>
                <a:latin typeface="Aptos"/>
                <a:ea typeface="Aptos"/>
                <a:cs typeface="Aptos"/>
              </a:defRPr>
            </a:pPr>
            <a:r>
              <a:rPr sz="1125" b="0">
                <a:solidFill>
                  <a:srgbClr val="597083"/>
                </a:solidFill>
                <a:latin typeface="Aptos"/>
                <a:ea typeface="Aptos"/>
                <a:cs typeface="Aptos"/>
              </a:rPr>
              <a:t>24</a:t>
            </a:r>
          </a:p>
        </p:txBody>
      </p:sp>
      <p:sp>
        <p:nvSpPr>
          <p:cNvPr id="8" name="">
            <a:extLst xmlns:a="http://schemas.openxmlformats.org/drawingml/2006/main">
              <a:ext uri="{FF2B5EF4-FFF2-40B4-BE49-F238E27FC236}">
                <a16:creationId xmlns:a16="http://schemas.microsoft.com/office/drawing/2014/main" id="{30FF100E-7DEF-44D5-8FB4-E070920C43EB}"/>
              </a:ext>
            </a:extLst>
          </p:cNvPr>
          <p:cNvSpPr>
            <a:spLocks xmlns:a="http://schemas.openxmlformats.org/drawingml/2006/main" noGrp="1"/>
          </p:cNvSpPr>
          <p:nvPr/>
        </p:nvSpPr>
        <p:spPr>
          <a:xfrm xmlns:a="http://schemas.openxmlformats.org/drawingml/2006/main">
            <a:off x="514350" y="208597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887E"/>
                </a:solidFill>
                <a:latin typeface="Aptos"/>
                <a:ea typeface="Aptos"/>
                <a:cs typeface="Aptos"/>
              </a:defRPr>
            </a:pPr>
            <a:r>
              <a:rPr sz="1725" b="1">
                <a:solidFill>
                  <a:srgbClr val="0A887E"/>
                </a:solidFill>
                <a:latin typeface="Aptos"/>
                <a:ea typeface="Aptos"/>
                <a:cs typeface="Aptos"/>
              </a:rPr>
              <a:t>Customer requirements</a:t>
            </a:r>
          </a:p>
        </p:txBody>
      </p:sp>
      <p:sp>
        <p:nvSpPr>
          <p:cNvPr id="9" name="">
            <a:extLst xmlns:a="http://schemas.openxmlformats.org/drawingml/2006/main">
              <a:ext uri="{FF2B5EF4-FFF2-40B4-BE49-F238E27FC236}">
                <a16:creationId xmlns:a16="http://schemas.microsoft.com/office/drawing/2014/main" id="{073097E0-D035-45B2-B3C8-E6D51A5C03D4}"/>
              </a:ext>
            </a:extLst>
          </p:cNvPr>
          <p:cNvSpPr>
            <a:spLocks xmlns:a="http://schemas.openxmlformats.org/drawingml/2006/main" noGrp="1"/>
          </p:cNvSpPr>
          <p:nvPr/>
        </p:nvSpPr>
        <p:spPr>
          <a:xfrm xmlns:a="http://schemas.openxmlformats.org/drawingml/2006/main">
            <a:off x="4076700" y="2085975"/>
            <a:ext cx="7543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238"/>
                </a:solidFill>
                <a:latin typeface="Aptos"/>
                <a:ea typeface="Aptos"/>
                <a:cs typeface="Aptos"/>
              </a:defRPr>
            </a:pPr>
            <a:r>
              <a:rPr sz="1725" b="0">
                <a:solidFill>
                  <a:srgbClr val="142238"/>
                </a:solidFill>
                <a:latin typeface="Aptos"/>
                <a:ea typeface="Aptos"/>
                <a:cs typeface="Aptos"/>
              </a:rPr>
              <a:t>HR assignment instructions; NHA customer case study</a:t>
            </a:r>
          </a:p>
        </p:txBody>
      </p:sp>
      <p:sp>
        <p:nvSpPr>
          <p:cNvPr id="10" name="">
            <a:extLst xmlns:a="http://schemas.openxmlformats.org/drawingml/2006/main">
              <a:ext uri="{FF2B5EF4-FFF2-40B4-BE49-F238E27FC236}">
                <a16:creationId xmlns:a16="http://schemas.microsoft.com/office/drawing/2014/main" id="{5093C749-44D0-4E8E-AC69-FC2579B5C4B9}"/>
              </a:ext>
            </a:extLst>
          </p:cNvPr>
          <p:cNvSpPr>
            <a:spLocks xmlns:a="http://schemas.openxmlformats.org/drawingml/2006/main" noGrp="1"/>
          </p:cNvSpPr>
          <p:nvPr/>
        </p:nvSpPr>
        <p:spPr>
          <a:xfrm xmlns:a="http://schemas.openxmlformats.org/drawingml/2006/main">
            <a:off x="514350" y="2638425"/>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9A3DC3-1CD1-4B6D-A23F-C502685C89D4}"/>
              </a:ext>
            </a:extLst>
          </p:cNvPr>
          <p:cNvSpPr>
            <a:spLocks xmlns:a="http://schemas.openxmlformats.org/drawingml/2006/main" noGrp="1"/>
          </p:cNvSpPr>
          <p:nvPr/>
        </p:nvSpPr>
        <p:spPr>
          <a:xfrm xmlns:a="http://schemas.openxmlformats.org/drawingml/2006/main">
            <a:off x="514350" y="276225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887E"/>
                </a:solidFill>
                <a:latin typeface="Aptos"/>
                <a:ea typeface="Aptos"/>
                <a:cs typeface="Aptos"/>
              </a:defRPr>
            </a:pPr>
            <a:r>
              <a:rPr sz="1725" b="1">
                <a:solidFill>
                  <a:srgbClr val="0A887E"/>
                </a:solidFill>
                <a:latin typeface="Aptos"/>
                <a:ea typeface="Aptos"/>
                <a:cs typeface="Aptos"/>
              </a:rPr>
              <a:t>Solution proposal</a:t>
            </a:r>
          </a:p>
        </p:txBody>
      </p:sp>
      <p:sp>
        <p:nvSpPr>
          <p:cNvPr id="12" name="">
            <a:extLst xmlns:a="http://schemas.openxmlformats.org/drawingml/2006/main">
              <a:ext uri="{FF2B5EF4-FFF2-40B4-BE49-F238E27FC236}">
                <a16:creationId xmlns:a16="http://schemas.microsoft.com/office/drawing/2014/main" id="{F58DEBEF-D18D-4D71-9393-B09D65B5F37E}"/>
              </a:ext>
            </a:extLst>
          </p:cNvPr>
          <p:cNvSpPr>
            <a:spLocks xmlns:a="http://schemas.openxmlformats.org/drawingml/2006/main" noGrp="1"/>
          </p:cNvSpPr>
          <p:nvPr/>
        </p:nvSpPr>
        <p:spPr>
          <a:xfrm xmlns:a="http://schemas.openxmlformats.org/drawingml/2006/main">
            <a:off x="4076700" y="2762250"/>
            <a:ext cx="7543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238"/>
                </a:solidFill>
                <a:latin typeface="Aptos"/>
                <a:ea typeface="Aptos"/>
                <a:cs typeface="Aptos"/>
              </a:defRPr>
            </a:pPr>
            <a:r>
              <a:rPr sz="1725" b="0">
                <a:solidFill>
                  <a:srgbClr val="142238"/>
                </a:solidFill>
                <a:latin typeface="Aptos"/>
                <a:ea typeface="Aptos"/>
                <a:cs typeface="Aptos"/>
              </a:rPr>
              <a:t>Find the Moment solution blueprint; architecture documents</a:t>
            </a:r>
          </a:p>
        </p:txBody>
      </p:sp>
      <p:sp>
        <p:nvSpPr>
          <p:cNvPr id="13" name="">
            <a:extLst xmlns:a="http://schemas.openxmlformats.org/drawingml/2006/main">
              <a:ext uri="{FF2B5EF4-FFF2-40B4-BE49-F238E27FC236}">
                <a16:creationId xmlns:a16="http://schemas.microsoft.com/office/drawing/2014/main" id="{5EE1D407-A5AA-4DF1-BF42-A98D5A46937F}"/>
              </a:ext>
            </a:extLst>
          </p:cNvPr>
          <p:cNvSpPr>
            <a:spLocks xmlns:a="http://schemas.openxmlformats.org/drawingml/2006/main" noGrp="1"/>
          </p:cNvSpPr>
          <p:nvPr/>
        </p:nvSpPr>
        <p:spPr>
          <a:xfrm xmlns:a="http://schemas.openxmlformats.org/drawingml/2006/main">
            <a:off x="514350" y="331470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2C44831-8140-48DE-BB1B-A8AEC61D5993}"/>
              </a:ext>
            </a:extLst>
          </p:cNvPr>
          <p:cNvSpPr>
            <a:spLocks xmlns:a="http://schemas.openxmlformats.org/drawingml/2006/main" noGrp="1"/>
          </p:cNvSpPr>
          <p:nvPr/>
        </p:nvSpPr>
        <p:spPr>
          <a:xfrm xmlns:a="http://schemas.openxmlformats.org/drawingml/2006/main">
            <a:off x="514350" y="34385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887E"/>
                </a:solidFill>
                <a:latin typeface="Aptos"/>
                <a:ea typeface="Aptos"/>
                <a:cs typeface="Aptos"/>
              </a:defRPr>
            </a:pPr>
            <a:r>
              <a:rPr sz="1725" b="1">
                <a:solidFill>
                  <a:srgbClr val="0A887E"/>
                </a:solidFill>
                <a:latin typeface="Aptos"/>
                <a:ea typeface="Aptos"/>
                <a:cs typeface="Aptos"/>
              </a:rPr>
              <a:t>Implementation evidence</a:t>
            </a:r>
          </a:p>
        </p:txBody>
      </p:sp>
      <p:sp>
        <p:nvSpPr>
          <p:cNvPr id="15" name="">
            <a:extLst xmlns:a="http://schemas.openxmlformats.org/drawingml/2006/main">
              <a:ext uri="{FF2B5EF4-FFF2-40B4-BE49-F238E27FC236}">
                <a16:creationId xmlns:a16="http://schemas.microsoft.com/office/drawing/2014/main" id="{CABAE352-5B48-4048-B4F6-9E4BA9DF3926}"/>
              </a:ext>
            </a:extLst>
          </p:cNvPr>
          <p:cNvSpPr>
            <a:spLocks xmlns:a="http://schemas.openxmlformats.org/drawingml/2006/main" noGrp="1"/>
          </p:cNvSpPr>
          <p:nvPr/>
        </p:nvSpPr>
        <p:spPr>
          <a:xfrm xmlns:a="http://schemas.openxmlformats.org/drawingml/2006/main">
            <a:off x="4076700" y="3438525"/>
            <a:ext cx="7543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238"/>
                </a:solidFill>
                <a:latin typeface="Aptos"/>
                <a:ea typeface="Aptos"/>
                <a:cs typeface="Aptos"/>
              </a:defRPr>
            </a:pPr>
            <a:r>
              <a:rPr sz="1725" b="0">
                <a:solidFill>
                  <a:srgbClr val="142238"/>
                </a:solidFill>
                <a:latin typeface="Aptos"/>
                <a:ea typeface="Aptos"/>
                <a:cs typeface="Aptos"/>
              </a:rPr>
              <a:t>Repository modules; 46 passing tests; captured query outputs</a:t>
            </a:r>
          </a:p>
        </p:txBody>
      </p:sp>
      <p:sp>
        <p:nvSpPr>
          <p:cNvPr id="16" name="">
            <a:extLst xmlns:a="http://schemas.openxmlformats.org/drawingml/2006/main">
              <a:ext uri="{FF2B5EF4-FFF2-40B4-BE49-F238E27FC236}">
                <a16:creationId xmlns:a16="http://schemas.microsoft.com/office/drawing/2014/main" id="{47DB6F1A-9E47-4D9C-AD54-C130B9D67C85}"/>
              </a:ext>
            </a:extLst>
          </p:cNvPr>
          <p:cNvSpPr>
            <a:spLocks xmlns:a="http://schemas.openxmlformats.org/drawingml/2006/main" noGrp="1"/>
          </p:cNvSpPr>
          <p:nvPr/>
        </p:nvSpPr>
        <p:spPr>
          <a:xfrm xmlns:a="http://schemas.openxmlformats.org/drawingml/2006/main">
            <a:off x="514350" y="3990975"/>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D8DB465-5882-4738-90E5-97C3EB7C69F9}"/>
              </a:ext>
            </a:extLst>
          </p:cNvPr>
          <p:cNvSpPr>
            <a:spLocks xmlns:a="http://schemas.openxmlformats.org/drawingml/2006/main" noGrp="1"/>
          </p:cNvSpPr>
          <p:nvPr/>
        </p:nvSpPr>
        <p:spPr>
          <a:xfrm xmlns:a="http://schemas.openxmlformats.org/drawingml/2006/main">
            <a:off x="514350" y="411480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887E"/>
                </a:solidFill>
                <a:latin typeface="Aptos"/>
                <a:ea typeface="Aptos"/>
                <a:cs typeface="Aptos"/>
              </a:defRPr>
            </a:pPr>
            <a:r>
              <a:rPr sz="1725" b="1">
                <a:solidFill>
                  <a:srgbClr val="0A887E"/>
                </a:solidFill>
                <a:latin typeface="Aptos"/>
                <a:ea typeface="Aptos"/>
                <a:cs typeface="Aptos"/>
              </a:rPr>
              <a:t>Measurement evidence</a:t>
            </a:r>
          </a:p>
        </p:txBody>
      </p:sp>
      <p:sp>
        <p:nvSpPr>
          <p:cNvPr id="18" name="">
            <a:extLst xmlns:a="http://schemas.openxmlformats.org/drawingml/2006/main">
              <a:ext uri="{FF2B5EF4-FFF2-40B4-BE49-F238E27FC236}">
                <a16:creationId xmlns:a16="http://schemas.microsoft.com/office/drawing/2014/main" id="{F7C3467B-A930-42D9-B84E-ACF0F7550748}"/>
              </a:ext>
            </a:extLst>
          </p:cNvPr>
          <p:cNvSpPr>
            <a:spLocks xmlns:a="http://schemas.openxmlformats.org/drawingml/2006/main" noGrp="1"/>
          </p:cNvSpPr>
          <p:nvPr/>
        </p:nvSpPr>
        <p:spPr>
          <a:xfrm xmlns:a="http://schemas.openxmlformats.org/drawingml/2006/main">
            <a:off x="4076700" y="4114800"/>
            <a:ext cx="7543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238"/>
                </a:solidFill>
                <a:latin typeface="Aptos"/>
                <a:ea typeface="Aptos"/>
                <a:cs typeface="Aptos"/>
              </a:defRPr>
            </a:pPr>
            <a:r>
              <a:rPr sz="1725" b="0">
                <a:solidFill>
                  <a:srgbClr val="142238"/>
                </a:solidFill>
                <a:latin typeface="Aptos"/>
                <a:ea typeface="Aptos"/>
                <a:cs typeface="Aptos"/>
              </a:rPr>
              <a:t>results.json; Evaluation_Results.md; judgement fixtures</a:t>
            </a:r>
          </a:p>
        </p:txBody>
      </p:sp>
      <p:sp>
        <p:nvSpPr>
          <p:cNvPr id="19" name="">
            <a:extLst xmlns:a="http://schemas.openxmlformats.org/drawingml/2006/main">
              <a:ext uri="{FF2B5EF4-FFF2-40B4-BE49-F238E27FC236}">
                <a16:creationId xmlns:a16="http://schemas.microsoft.com/office/drawing/2014/main" id="{35A85BE0-F115-4C4E-8DD3-8F6A87383073}"/>
              </a:ext>
            </a:extLst>
          </p:cNvPr>
          <p:cNvSpPr>
            <a:spLocks xmlns:a="http://schemas.openxmlformats.org/drawingml/2006/main" noGrp="1"/>
          </p:cNvSpPr>
          <p:nvPr/>
        </p:nvSpPr>
        <p:spPr>
          <a:xfrm xmlns:a="http://schemas.openxmlformats.org/drawingml/2006/main">
            <a:off x="514350" y="4667250"/>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037F164-B4CD-4856-8C87-80892292D2ED}"/>
              </a:ext>
            </a:extLst>
          </p:cNvPr>
          <p:cNvSpPr>
            <a:spLocks xmlns:a="http://schemas.openxmlformats.org/drawingml/2006/main" noGrp="1"/>
          </p:cNvSpPr>
          <p:nvPr/>
        </p:nvSpPr>
        <p:spPr>
          <a:xfrm xmlns:a="http://schemas.openxmlformats.org/drawingml/2006/main">
            <a:off x="514350" y="479107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A887E"/>
                </a:solidFill>
                <a:latin typeface="Aptos"/>
                <a:ea typeface="Aptos"/>
                <a:cs typeface="Aptos"/>
              </a:defRPr>
            </a:pPr>
            <a:r>
              <a:rPr sz="1725" b="1">
                <a:solidFill>
                  <a:srgbClr val="0A887E"/>
                </a:solidFill>
                <a:latin typeface="Aptos"/>
                <a:ea typeface="Aptos"/>
                <a:cs typeface="Aptos"/>
              </a:rPr>
              <a:t>Visual reference</a:t>
            </a:r>
          </a:p>
        </p:txBody>
      </p:sp>
      <p:sp>
        <p:nvSpPr>
          <p:cNvPr id="21" name="">
            <a:extLst xmlns:a="http://schemas.openxmlformats.org/drawingml/2006/main">
              <a:ext uri="{FF2B5EF4-FFF2-40B4-BE49-F238E27FC236}">
                <a16:creationId xmlns:a16="http://schemas.microsoft.com/office/drawing/2014/main" id="{4CC1D7A4-5109-4243-AEF5-0A78421DDFCC}"/>
              </a:ext>
            </a:extLst>
          </p:cNvPr>
          <p:cNvSpPr>
            <a:spLocks xmlns:a="http://schemas.openxmlformats.org/drawingml/2006/main" noGrp="1"/>
          </p:cNvSpPr>
          <p:nvPr/>
        </p:nvSpPr>
        <p:spPr>
          <a:xfrm xmlns:a="http://schemas.openxmlformats.org/drawingml/2006/main">
            <a:off x="4076700" y="4791075"/>
            <a:ext cx="7543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238"/>
                </a:solidFill>
                <a:latin typeface="Aptos"/>
                <a:ea typeface="Aptos"/>
                <a:cs typeface="Aptos"/>
              </a:defRPr>
            </a:pPr>
            <a:r>
              <a:rPr sz="1725" b="0">
                <a:solidFill>
                  <a:srgbClr val="142238"/>
                </a:solidFill>
                <a:latin typeface="Aptos"/>
                <a:ea typeface="Aptos"/>
                <a:cs typeface="Aptos"/>
              </a:rPr>
              <a:t>Find_the_Moment_NHA_FDE_PresentationHV.pptx</a:t>
            </a:r>
          </a:p>
        </p:txBody>
      </p:sp>
      <p:sp>
        <p:nvSpPr>
          <p:cNvPr id="22" name="">
            <a:extLst xmlns:a="http://schemas.openxmlformats.org/drawingml/2006/main">
              <a:ext uri="{FF2B5EF4-FFF2-40B4-BE49-F238E27FC236}">
                <a16:creationId xmlns:a16="http://schemas.microsoft.com/office/drawing/2014/main" id="{4102B857-70CA-41F3-8FE6-78E7ADB59565}"/>
              </a:ext>
            </a:extLst>
          </p:cNvPr>
          <p:cNvSpPr>
            <a:spLocks xmlns:a="http://schemas.openxmlformats.org/drawingml/2006/main" noGrp="1"/>
          </p:cNvSpPr>
          <p:nvPr/>
        </p:nvSpPr>
        <p:spPr>
          <a:xfrm xmlns:a="http://schemas.openxmlformats.org/drawingml/2006/main">
            <a:off x="514350" y="5343525"/>
            <a:ext cx="11144250" cy="14288"/>
          </a:xfrm>
          <a:prstGeom xmlns:a="http://schemas.openxmlformats.org/drawingml/2006/main" prst="rect">
            <a:avLst/>
          </a:prstGeom>
          <a:solidFill xmlns:a="http://schemas.openxmlformats.org/drawingml/2006/main">
            <a:srgbClr val="DDE5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A184D3-60DB-448E-9795-481B626A2EB2}"/>
              </a:ext>
            </a:extLst>
          </p:cNvPr>
          <p:cNvSpPr>
            <a:spLocks xmlns:a="http://schemas.openxmlformats.org/drawingml/2006/main" noGrp="1"/>
          </p:cNvSpPr>
          <p:nvPr/>
        </p:nvSpPr>
        <p:spPr>
          <a:xfrm xmlns:a="http://schemas.openxmlformats.org/drawingml/2006/main">
            <a:off x="514350" y="5619750"/>
            <a:ext cx="11144250" cy="419100"/>
          </a:xfrm>
          <a:prstGeom xmlns:a="http://schemas.openxmlformats.org/drawingml/2006/main" prst="rect">
            <a:avLst/>
          </a:prstGeom>
          <a:solidFill xmlns:a="http://schemas.openxmlformats.org/drawingml/2006/main">
            <a:srgbClr val="D9F2E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58F25C9-FCC9-4C83-A2C6-F2257F7713F1}"/>
              </a:ext>
            </a:extLst>
          </p:cNvPr>
          <p:cNvSpPr>
            <a:spLocks xmlns:a="http://schemas.openxmlformats.org/drawingml/2006/main" noGrp="1"/>
          </p:cNvSpPr>
          <p:nvPr/>
        </p:nvSpPr>
        <p:spPr>
          <a:xfrm xmlns:a="http://schemas.openxmlformats.org/drawingml/2006/main">
            <a:off x="685800" y="5705475"/>
            <a:ext cx="10782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A887E"/>
                </a:solidFill>
                <a:latin typeface="Aptos"/>
                <a:ea typeface="Aptos"/>
                <a:cs typeface="Aptos"/>
              </a:defRPr>
            </a:pPr>
            <a:r>
              <a:rPr sz="1575" b="1">
                <a:solidFill>
                  <a:srgbClr val="0A887E"/>
                </a:solidFill>
                <a:latin typeface="Aptos"/>
                <a:ea typeface="Aptos"/>
                <a:cs typeface="Aptos"/>
              </a:rPr>
              <a:t>Synthetic timings and proposed services are labelled throughout the presentation.</a:t>
            </a:r>
          </a:p>
        </p:txBody>
      </p:sp>
    </p:spTree>
    <p:extLst>
      <p:ext uri="{BB962C8B-B14F-4D97-AF65-F5344CB8AC3E}">
        <p14:creationId xmlns:p14="http://schemas.microsoft.com/office/powerpoint/2010/main" val="25790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2026-10-11T07:19:34.1110000Z</dcterms:created>
  <dcterms:modified xsi:type="dcterms:W3CDTF">2026-10-11T07:19:34.1110000Z</dcterms:modified>
</coreProperties>
</file>